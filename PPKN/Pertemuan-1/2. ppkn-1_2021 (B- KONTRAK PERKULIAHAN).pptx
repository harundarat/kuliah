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79" r:id="rId2"/>
    <p:sldId id="528" r:id="rId3"/>
    <p:sldId id="517" r:id="rId4"/>
    <p:sldId id="509" r:id="rId5"/>
    <p:sldId id="527" r:id="rId6"/>
  </p:sldIdLst>
  <p:sldSz cx="9144000" cy="6858000" type="screen4x3"/>
  <p:notesSz cx="6858000" cy="93138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21C5E"/>
    <a:srgbClr val="8B8BFF"/>
    <a:srgbClr val="ED9513"/>
    <a:srgbClr val="005024"/>
    <a:srgbClr val="005C2A"/>
    <a:srgbClr val="210E30"/>
    <a:srgbClr val="C0BC00"/>
    <a:srgbClr val="B3B3FF"/>
    <a:srgbClr val="4B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03" autoAdjust="0"/>
    <p:restoredTop sz="48403" autoAdjust="0"/>
  </p:normalViewPr>
  <p:slideViewPr>
    <p:cSldViewPr>
      <p:cViewPr>
        <p:scale>
          <a:sx n="90" d="100"/>
          <a:sy n="90" d="100"/>
        </p:scale>
        <p:origin x="-121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698500"/>
            <a:ext cx="4657725" cy="3494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271"/>
            <a:ext cx="5486400" cy="419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2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3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4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1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5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35164" y="980728"/>
            <a:ext cx="6943248" cy="5740148"/>
          </a:xfrm>
          <a:prstGeom prst="roundRect">
            <a:avLst>
              <a:gd name="adj" fmla="val 4448"/>
            </a:avLst>
          </a:prstGeom>
          <a:solidFill>
            <a:schemeClr val="bg2">
              <a:lumMod val="1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41325">
              <a:spcBef>
                <a:spcPts val="1200"/>
              </a:spcBef>
            </a:pPr>
            <a:endParaRPr lang="id-ID" sz="14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 flipH="1">
            <a:off x="902514" y="2521419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03649" y="2480069"/>
            <a:ext cx="151216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MAHASISWA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87825" y="2376162"/>
            <a:ext cx="1152128" cy="461665"/>
          </a:xfrm>
          <a:prstGeom prst="roundRect">
            <a:avLst>
              <a:gd name="adj" fmla="val 12579"/>
            </a:avLst>
          </a:prstGeom>
          <a:solidFill>
            <a:srgbClr val="ED9513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TUGAS</a:t>
            </a:r>
            <a:endParaRPr lang="id-ID" sz="16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87825" y="2973492"/>
            <a:ext cx="1152128" cy="780366"/>
          </a:xfrm>
          <a:prstGeom prst="roundRect">
            <a:avLst>
              <a:gd name="adj" fmla="val 11217"/>
            </a:avLst>
          </a:prstGeom>
          <a:solidFill>
            <a:srgbClr val="ED9513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KEWAJIBAN</a:t>
            </a:r>
            <a:endParaRPr lang="id-ID" sz="16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 flipH="1">
            <a:off x="835496" y="5043948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4491" y="208503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87624" y="188640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KONTRAK </a:t>
            </a:r>
            <a:r>
              <a:rPr lang="en-US" sz="32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PERKULIAHAN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93147" y="1124744"/>
            <a:ext cx="5445338" cy="987497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1" spc="50" dirty="0" smtClean="0">
                <a:ln w="19050">
                  <a:solidFill>
                    <a:srgbClr val="C00000"/>
                  </a:solidFill>
                </a:ln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TUGAS  KEWAJIBAN</a:t>
            </a:r>
            <a:endParaRPr lang="en-US" sz="5400" b="1" i="1" spc="50" dirty="0">
              <a:ln w="19050">
                <a:solidFill>
                  <a:srgbClr val="C00000"/>
                </a:solidFill>
              </a:ln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14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83968" y="233605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1. MENGERJAKAN TUGAS KELOMPOK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2. MENGERJAKAN TUGAS MANDIRI (PERSEORANGAN)</a:t>
            </a:r>
            <a:endParaRPr lang="en-US" sz="1200" dirty="0">
              <a:solidFill>
                <a:schemeClr val="bg1"/>
              </a:solidFill>
              <a:latin typeface="Franklin Gothic Medium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7945" y="2859273"/>
            <a:ext cx="49351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MASUK KULIAH SESUAI JADWAL DAN WAKTUNYA, TOLERANSI KETERLAMBATAN 15 MENIT.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HADIR MENGIKUTI KULIAH SEKURANG-KURANGNYA 70% DARI TOTAL PERTEMUAN.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BERPAKAIAN SESUAI DG ADAT TIMUR DAN NORMA KESOPANAN, DAN TIDAK DIPERKENANKAN MENGENAKAN KAOS OBLONG SELAMA MENGIKUTI PROSES PERKULIAHAN.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TIDAK MENGGUNAKAN SANDAL.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TIDAK MEROKOK DALAM AREA RUANG PERKULIAHAN.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MEMBERIKAN SUMBANG SARAN DAN AKTIF DALAM MELAKUKAN TUGAS-TUGAS DISKUSI.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MEMBUAT DAN MENGUMPULKAN SEMUA TUGAS TERSTRUKTUR YANG DIBERIKAN DOSEN.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MENGIKUTI SEMUA KUIS YANG DISELENGGARAKAN.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Medium" pitchFamily="34" charset="0"/>
              </a:rPr>
              <a:t>MENGIKUTI UJIAN TENGAH SEMESTER DAN UJIAN AKHIR SEMESTER.</a:t>
            </a:r>
            <a:endParaRPr lang="en-US" sz="1200" dirty="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04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26" grpId="0" animBg="1"/>
      <p:bldP spid="28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35164" y="1152016"/>
            <a:ext cx="6943248" cy="5568860"/>
          </a:xfrm>
          <a:prstGeom prst="roundRect">
            <a:avLst>
              <a:gd name="adj" fmla="val 4448"/>
            </a:avLst>
          </a:prstGeom>
          <a:solidFill>
            <a:schemeClr val="bg2">
              <a:lumMod val="1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41325">
              <a:spcBef>
                <a:spcPts val="1200"/>
              </a:spcBef>
            </a:pPr>
            <a:endParaRPr lang="id-ID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 flipH="1">
            <a:off x="1622062" y="1327780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 flipH="1">
            <a:off x="1618088" y="2216586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 flipH="1">
            <a:off x="1618088" y="3112325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 flipH="1">
            <a:off x="1618088" y="4025841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1085" y="1307754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PAKAIAN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1085" y="2220979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HP</a:t>
            </a:r>
            <a:endParaRPr lang="id-ID" sz="36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61085" y="3105727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TUGAS</a:t>
            </a:r>
            <a:endParaRPr lang="id-ID" sz="36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261085" y="3994801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dirty="0" smtClean="0">
                <a:solidFill>
                  <a:srgbClr val="FFC000"/>
                </a:solidFill>
                <a:latin typeface="Franklin Gothic Demi Cond" pitchFamily="34" charset="0"/>
              </a:rPr>
              <a:t>DISKUSI</a:t>
            </a:r>
            <a:endParaRPr lang="id-ID" sz="36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61085" y="4893190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dirty="0" smtClean="0">
                <a:solidFill>
                  <a:srgbClr val="FFC000"/>
                </a:solidFill>
                <a:latin typeface="Franklin Gothic Demi Cond" pitchFamily="34" charset="0"/>
              </a:rPr>
              <a:t>TOLERANSI WAKTU</a:t>
            </a:r>
            <a:endParaRPr lang="id-ID" sz="24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61085" y="5816986"/>
            <a:ext cx="1986737" cy="780366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dirty="0" smtClean="0">
                <a:solidFill>
                  <a:srgbClr val="FFC000"/>
                </a:solidFill>
                <a:latin typeface="Franklin Gothic Demi Cond" pitchFamily="34" charset="0"/>
              </a:rPr>
              <a:t>SAKIT</a:t>
            </a:r>
            <a:endParaRPr lang="id-ID" sz="36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47823" y="2184533"/>
            <a:ext cx="47886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GETARKAN</a:t>
            </a:r>
          </a:p>
          <a:p>
            <a:pPr marL="266700" indent="-266700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TERIMA TELP/BALAS </a:t>
            </a:r>
            <a:r>
              <a:rPr lang="id-ID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CHAT 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DI LUAR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7823" y="1392445"/>
            <a:ext cx="47886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lvl="0" indent="-2667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KETENTUAN 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UNIVERSITAS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Amikom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47823" y="3098923"/>
            <a:ext cx="47886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id-ID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ERJAKAN DI RUMAH</a:t>
            </a:r>
          </a:p>
          <a:p>
            <a:pPr marL="266700" indent="-266700">
              <a:buFont typeface="Wingdings" pitchFamily="2" charset="2"/>
              <a:buChar char="§"/>
            </a:pPr>
            <a:r>
              <a:rPr lang="id-ID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HASIL KUMPULKAN</a:t>
            </a:r>
            <a:endParaRPr lang="en-US" sz="2400" dirty="0" smtClean="0">
              <a:solidFill>
                <a:schemeClr val="bg1">
                  <a:lumMod val="95000"/>
                </a:schemeClr>
              </a:solidFill>
              <a:latin typeface="Franklin Gothic Demi Cond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47823" y="3977877"/>
            <a:ext cx="47886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id-ID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ERJAKAN DI KELAS</a:t>
            </a:r>
          </a:p>
          <a:p>
            <a:pPr marL="266700" indent="-266700">
              <a:buFont typeface="Wingdings" pitchFamily="2" charset="2"/>
              <a:buChar char="§"/>
            </a:pPr>
            <a:r>
              <a:rPr lang="id-ID" sz="24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  <a:ea typeface="Arial Unicode MS" pitchFamily="34" charset="-128"/>
                <a:cs typeface="Arial Unicode MS" pitchFamily="34" charset="-128"/>
              </a:rPr>
              <a:t>HASIL KUMPULKAN</a:t>
            </a:r>
            <a:endParaRPr lang="en-US" sz="2400" dirty="0" smtClean="0">
              <a:solidFill>
                <a:schemeClr val="bg1">
                  <a:lumMod val="95000"/>
                </a:schemeClr>
              </a:solidFill>
              <a:latin typeface="Franklin Gothic Demi Cond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83968" y="4840704"/>
            <a:ext cx="47886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id-ID" sz="3200" b="1" dirty="0" smtClean="0">
                <a:solidFill>
                  <a:schemeClr val="bg1">
                    <a:lumMod val="95000"/>
                  </a:schemeClr>
                </a:solidFill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15</a:t>
            </a:r>
            <a:r>
              <a:rPr lang="id-ID" sz="3200" b="1" dirty="0" smtClean="0">
                <a:solidFill>
                  <a:schemeClr val="bg1">
                    <a:lumMod val="95000"/>
                  </a:schemeClr>
                </a:solidFill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’</a:t>
            </a:r>
            <a:endParaRPr lang="en-US" sz="3200" b="1" dirty="0" smtClean="0">
              <a:solidFill>
                <a:schemeClr val="bg1">
                  <a:lumMod val="95000"/>
                </a:schemeClr>
              </a:solidFill>
              <a:latin typeface="Arial Black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83968" y="5677965"/>
            <a:ext cx="47886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id-ID" sz="4400" b="1" dirty="0" smtClean="0">
                <a:solidFill>
                  <a:schemeClr val="bg1">
                    <a:lumMod val="95000"/>
                  </a:schemeClr>
                </a:solidFill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4400" b="1" dirty="0" smtClean="0">
                <a:solidFill>
                  <a:schemeClr val="bg1">
                    <a:lumMod val="95000"/>
                  </a:schemeClr>
                </a:solidFill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 flipH="1">
            <a:off x="1619140" y="4891042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 flipH="1">
            <a:off x="1619140" y="5804558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4491" y="208503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87624" y="188640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KONTRAK </a:t>
            </a:r>
            <a:r>
              <a:rPr lang="en-US" sz="32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PERKULIAHAN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 rot="16200000">
            <a:off x="-1466365" y="3431175"/>
            <a:ext cx="5040560" cy="987497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i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TATA TERTIB</a:t>
            </a:r>
            <a:endParaRPr lang="en-US" sz="8000" b="1" i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15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285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  <p:bldP spid="32" grpId="0" animBg="1"/>
      <p:bldP spid="33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6" grpId="0" animBg="1"/>
      <p:bldP spid="27" grpId="0" animBg="1"/>
      <p:bldP spid="28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1655084" y="188640"/>
            <a:ext cx="7133728" cy="6532236"/>
          </a:xfrm>
          <a:prstGeom prst="roundRect">
            <a:avLst>
              <a:gd name="adj" fmla="val 3626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00"/>
              </a:solidFill>
              <a:cs typeface="Arial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16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123728" y="260648"/>
            <a:ext cx="5381249" cy="648072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i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 E N I L A I A N</a:t>
            </a:r>
            <a:endParaRPr lang="en-US" sz="6000" b="1" i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42040" y="168320"/>
            <a:ext cx="1409680" cy="648072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KONTRAK</a:t>
            </a:r>
            <a:endParaRPr lang="en-US" sz="24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22222"/>
              </p:ext>
            </p:extLst>
          </p:nvPr>
        </p:nvGraphicFramePr>
        <p:xfrm>
          <a:off x="2123728" y="1052736"/>
          <a:ext cx="5256584" cy="3240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240"/>
                <a:gridCol w="1296144"/>
                <a:gridCol w="1800200"/>
              </a:tblGrid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FFC000"/>
                          </a:solidFill>
                          <a:effectLst/>
                        </a:rPr>
                        <a:t>RENTANG NILAI ANGKA</a:t>
                      </a:r>
                      <a:endParaRPr lang="id-ID" sz="14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  <a:solidFill>
                      <a:srgbClr val="1F0E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FFC000"/>
                          </a:solidFill>
                          <a:effectLst/>
                        </a:rPr>
                        <a:t>NILAI HURUF</a:t>
                      </a:r>
                      <a:endParaRPr lang="id-ID" sz="14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  <a:solidFill>
                      <a:srgbClr val="1F0E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FFC000"/>
                          </a:solidFill>
                          <a:effectLst/>
                        </a:rPr>
                        <a:t>BOBOT NILAI HURUF</a:t>
                      </a:r>
                      <a:endParaRPr lang="id-ID" sz="14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  <a:solidFill>
                      <a:srgbClr val="1F0E2C"/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8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1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– 100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A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4,00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7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6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</a:t>
                      </a:r>
                      <a:r>
                        <a:rPr lang="id-ID" sz="1800" b="0" baseline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-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80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B+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3,50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7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1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– 75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B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3,00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6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6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– 70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C+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2,30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5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6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–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65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C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2,00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4</a:t>
                      </a:r>
                      <a:r>
                        <a:rPr lang="id-ID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1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 – 55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D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1,00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00 </a:t>
                      </a:r>
                      <a:r>
                        <a:rPr lang="en-US" sz="1800" b="0" dirty="0" smtClean="0">
                          <a:solidFill>
                            <a:srgbClr val="C00000"/>
                          </a:solidFill>
                          <a:effectLst/>
                          <a:latin typeface="Franklin Gothic Demi Cond" pitchFamily="34" charset="0"/>
                        </a:rPr>
                        <a:t>– 40</a:t>
                      </a:r>
                      <a:endParaRPr lang="id-ID" sz="1800" b="0" dirty="0">
                        <a:solidFill>
                          <a:srgbClr val="C00000"/>
                        </a:solidFill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Franklin Gothic Demi Cond" pitchFamily="34" charset="0"/>
                        </a:rPr>
                        <a:t>E</a:t>
                      </a:r>
                      <a:endParaRPr lang="id-ID" sz="1800" b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Demi Cond" pitchFamily="34" charset="0"/>
                        </a:rPr>
                        <a:t>0</a:t>
                      </a:r>
                      <a:endParaRPr lang="id-ID" sz="1800" b="0" dirty="0">
                        <a:effectLst/>
                        <a:latin typeface="Franklin Gothic Demi Cond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1886438" y="4499828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 smtClean="0">
                <a:solidFill>
                  <a:srgbClr val="FFC000"/>
                </a:solidFill>
                <a:latin typeface="Franklin Gothic Demi Cond" pitchFamily="34" charset="0"/>
              </a:rPr>
              <a:t>nilai akhir berdasarkan perhitungan persentase kehadiran, tugas, uts, dan uas</a:t>
            </a:r>
            <a:endParaRPr lang="id-ID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33" name="Pentagon 32"/>
          <p:cNvSpPr/>
          <p:nvPr/>
        </p:nvSpPr>
        <p:spPr>
          <a:xfrm>
            <a:off x="1976115" y="4817472"/>
            <a:ext cx="1281287" cy="564342"/>
          </a:xfrm>
          <a:prstGeom prst="homePlate">
            <a:avLst/>
          </a:prstGeom>
          <a:solidFill>
            <a:srgbClr val="1F0E2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RUMUS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2259" y="4817472"/>
            <a:ext cx="4572000" cy="783193"/>
          </a:xfrm>
          <a:prstGeom prst="roundRect">
            <a:avLst/>
          </a:prstGeom>
          <a:solidFill>
            <a:srgbClr val="1F0E2C"/>
          </a:solidFill>
          <a:ln>
            <a:solidFill>
              <a:srgbClr val="FFC000"/>
            </a:solidFill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2000" b="0" u="sng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P*1</a:t>
            </a:r>
            <a:r>
              <a:rPr lang="id-ID" sz="2000" b="0" u="sng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5</a:t>
            </a:r>
            <a:r>
              <a:rPr lang="en-US" sz="2000" b="0" u="sng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+T*</a:t>
            </a:r>
            <a:r>
              <a:rPr lang="id-ID" sz="2000" b="0" u="sng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15</a:t>
            </a:r>
            <a:r>
              <a:rPr lang="en-US" sz="2000" b="0" u="sng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+U*70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2000" b="0" u="none" dirty="0" smtClean="0">
                <a:ln>
                  <a:noFill/>
                </a:ln>
                <a:solidFill>
                  <a:srgbClr val="FFFF00"/>
                </a:solidFill>
                <a:latin typeface="Bernard MT Condensed" pitchFamily="18" charset="0"/>
                <a:ea typeface="Calibri"/>
                <a:cs typeface="Times New Roman"/>
              </a:rPr>
              <a:t>100</a:t>
            </a:r>
            <a:endParaRPr lang="en-US" sz="2000" b="0" u="none" dirty="0">
              <a:ln>
                <a:noFill/>
              </a:ln>
              <a:solidFill>
                <a:srgbClr val="FFFF00"/>
              </a:solidFill>
              <a:latin typeface="Bernard MT Condensed" pitchFamily="18" charset="0"/>
              <a:ea typeface="Calibri"/>
              <a:cs typeface="Times New Roman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86438" y="5949280"/>
            <a:ext cx="65019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2000" dirty="0" smtClean="0">
                <a:solidFill>
                  <a:srgbClr val="FFC000"/>
                </a:solidFill>
                <a:latin typeface="Franklin Gothic Demi Cond" pitchFamily="34" charset="0"/>
              </a:rPr>
              <a:t>SYARAT DAN KETENTUAN UNIVERSITAS BERLAKU</a:t>
            </a:r>
            <a:endParaRPr lang="id-ID" sz="20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 flipH="1">
            <a:off x="1429255" y="1484784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 flipH="1">
            <a:off x="1425281" y="4574417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 flipH="1">
            <a:off x="1425281" y="5886327"/>
            <a:ext cx="459606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297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2" grpId="0"/>
      <p:bldP spid="33" grpId="0" animBg="1"/>
      <p:bldP spid="34" grpId="0" animBg="1"/>
      <p:bldP spid="35" grpId="0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35164" y="980728"/>
            <a:ext cx="6943248" cy="5740148"/>
          </a:xfrm>
          <a:prstGeom prst="roundRect">
            <a:avLst>
              <a:gd name="adj" fmla="val 4448"/>
            </a:avLst>
          </a:prstGeom>
          <a:solidFill>
            <a:schemeClr val="bg2">
              <a:lumMod val="1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41325">
              <a:spcBef>
                <a:spcPts val="1200"/>
              </a:spcBef>
            </a:pPr>
            <a:endParaRPr lang="id-ID" sz="14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34651" y="3151337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C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627784" y="3131474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DISKUSI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236868" y="1155287"/>
            <a:ext cx="5445338" cy="987497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1" spc="50" dirty="0" smtClean="0">
                <a:ln w="19050">
                  <a:solidFill>
                    <a:srgbClr val="C00000"/>
                  </a:solidFill>
                </a:ln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SELANJUTNYA</a:t>
            </a:r>
            <a:endParaRPr lang="en-US" sz="5400" b="1" i="1" spc="50" dirty="0">
              <a:ln w="19050">
                <a:solidFill>
                  <a:srgbClr val="C00000"/>
                </a:solidFill>
              </a:ln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14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3707904" y="2276872"/>
            <a:ext cx="2448272" cy="489204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907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8519</TotalTime>
  <Words>258</Words>
  <Application>Microsoft Office PowerPoint</Application>
  <PresentationFormat>On-screen Show (4:3)</PresentationFormat>
  <Paragraphs>81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781</cp:revision>
  <cp:lastPrinted>2021-09-15T14:36:00Z</cp:lastPrinted>
  <dcterms:created xsi:type="dcterms:W3CDTF">2017-12-16T16:52:32Z</dcterms:created>
  <dcterms:modified xsi:type="dcterms:W3CDTF">2021-09-26T16:08:48Z</dcterms:modified>
</cp:coreProperties>
</file>