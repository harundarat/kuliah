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1" r:id="rId4"/>
    <p:sldId id="280" r:id="rId5"/>
    <p:sldId id="260" r:id="rId6"/>
    <p:sldId id="271" r:id="rId7"/>
    <p:sldId id="273" r:id="rId8"/>
    <p:sldId id="262" r:id="rId9"/>
    <p:sldId id="265" r:id="rId10"/>
    <p:sldId id="267" r:id="rId11"/>
    <p:sldId id="263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5A7A"/>
    <a:srgbClr val="730D4A"/>
    <a:srgbClr val="1EB4BC"/>
    <a:srgbClr val="79791F"/>
    <a:srgbClr val="94E8E8"/>
    <a:srgbClr val="D9B933"/>
    <a:srgbClr val="F3F67A"/>
    <a:srgbClr val="EEB500"/>
    <a:srgbClr val="B846AA"/>
    <a:srgbClr val="EE7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8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7" indent="0" algn="ctr">
              <a:buNone/>
              <a:defRPr sz="2000"/>
            </a:lvl2pPr>
            <a:lvl3pPr marL="914415" indent="0" algn="ctr">
              <a:buNone/>
              <a:defRPr sz="1801"/>
            </a:lvl3pPr>
            <a:lvl4pPr marL="1371622" indent="0" algn="ctr">
              <a:buNone/>
              <a:defRPr sz="1600"/>
            </a:lvl4pPr>
            <a:lvl5pPr marL="1828830" indent="0" algn="ctr">
              <a:buNone/>
              <a:defRPr sz="1600"/>
            </a:lvl5pPr>
            <a:lvl6pPr marL="2286037" indent="0" algn="ctr">
              <a:buNone/>
              <a:defRPr sz="1600"/>
            </a:lvl6pPr>
            <a:lvl7pPr marL="2743245" indent="0" algn="ctr">
              <a:buNone/>
              <a:defRPr sz="1600"/>
            </a:lvl7pPr>
            <a:lvl8pPr marL="3200452" indent="0" algn="ctr">
              <a:buNone/>
              <a:defRPr sz="1600"/>
            </a:lvl8pPr>
            <a:lvl9pPr marL="365766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5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4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0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6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3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6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3" y="2505076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6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9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3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8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0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7" indent="0">
              <a:buNone/>
              <a:defRPr sz="1401"/>
            </a:lvl2pPr>
            <a:lvl3pPr marL="914415" indent="0">
              <a:buNone/>
              <a:defRPr sz="1200"/>
            </a:lvl3pPr>
            <a:lvl4pPr marL="1371622" indent="0">
              <a:buNone/>
              <a:defRPr sz="1001"/>
            </a:lvl4pPr>
            <a:lvl5pPr marL="1828830" indent="0">
              <a:buNone/>
              <a:defRPr sz="1001"/>
            </a:lvl5pPr>
            <a:lvl6pPr marL="2286037" indent="0">
              <a:buNone/>
              <a:defRPr sz="1001"/>
            </a:lvl6pPr>
            <a:lvl7pPr marL="2743245" indent="0">
              <a:buNone/>
              <a:defRPr sz="1001"/>
            </a:lvl7pPr>
            <a:lvl8pPr marL="3200452" indent="0">
              <a:buNone/>
              <a:defRPr sz="1001"/>
            </a:lvl8pPr>
            <a:lvl9pPr marL="3657660" indent="0">
              <a:buNone/>
              <a:defRPr sz="100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20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90" y="987428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6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7" indent="0">
              <a:buNone/>
              <a:defRPr sz="1401"/>
            </a:lvl2pPr>
            <a:lvl3pPr marL="914415" indent="0">
              <a:buNone/>
              <a:defRPr sz="1200"/>
            </a:lvl3pPr>
            <a:lvl4pPr marL="1371622" indent="0">
              <a:buNone/>
              <a:defRPr sz="1001"/>
            </a:lvl4pPr>
            <a:lvl5pPr marL="1828830" indent="0">
              <a:buNone/>
              <a:defRPr sz="1001"/>
            </a:lvl5pPr>
            <a:lvl6pPr marL="2286037" indent="0">
              <a:buNone/>
              <a:defRPr sz="1001"/>
            </a:lvl6pPr>
            <a:lvl7pPr marL="2743245" indent="0">
              <a:buNone/>
              <a:defRPr sz="1001"/>
            </a:lvl7pPr>
            <a:lvl8pPr marL="3200452" indent="0">
              <a:buNone/>
              <a:defRPr sz="1001"/>
            </a:lvl8pPr>
            <a:lvl9pPr marL="3657660" indent="0">
              <a:buNone/>
              <a:defRPr sz="100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7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7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4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67F98-0C5D-4501-8387-FE9F0856E1DB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95AF7-0347-4BB4-A051-372683F7D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9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5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1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6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2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2" indent="-228604" algn="l" defTabSz="91441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0" algn="l" defTabSz="91441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59"/>
          <a:stretch/>
        </p:blipFill>
        <p:spPr>
          <a:xfrm>
            <a:off x="12901" y="4"/>
            <a:ext cx="12179102" cy="6618510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356" y="121026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8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64233" y="469246"/>
            <a:ext cx="3475755" cy="613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71885" y="469246"/>
            <a:ext cx="3166398" cy="608357"/>
          </a:xfrm>
        </p:spPr>
        <p:txBody>
          <a:bodyPr>
            <a:noAutofit/>
          </a:bodyPr>
          <a:lstStyle/>
          <a:p>
            <a:r>
              <a:rPr lang="en-US" sz="4000" spc="601" dirty="0" smtClean="0">
                <a:solidFill>
                  <a:schemeClr val="bg1"/>
                </a:solidFill>
                <a:latin typeface="+mn-lt"/>
                <a:ea typeface="KaiTi" panose="02010609060101010101" pitchFamily="49" charset="-122"/>
              </a:rPr>
              <a:t>CAPAIAN</a:t>
            </a:r>
            <a:endParaRPr lang="en-US" sz="4000" spc="601" dirty="0">
              <a:solidFill>
                <a:schemeClr val="bg1"/>
              </a:solidFill>
              <a:latin typeface="+mn-lt"/>
              <a:ea typeface="KaiTi" panose="02010609060101010101" pitchFamily="49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3651" y="1152955"/>
            <a:ext cx="5012406" cy="613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71885" y="1113601"/>
            <a:ext cx="4904172" cy="760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pc="601" dirty="0">
                <a:solidFill>
                  <a:schemeClr val="bg1"/>
                </a:solidFill>
                <a:ea typeface="KaiTi" panose="02010609060101010101" pitchFamily="49" charset="-122"/>
              </a:rPr>
              <a:t>PEMBELAJARAN</a:t>
            </a:r>
            <a:endParaRPr lang="en-US" sz="4000" spc="601" dirty="0">
              <a:solidFill>
                <a:schemeClr val="bg1"/>
              </a:solidFill>
              <a:latin typeface="+mn-lt"/>
              <a:ea typeface="KaiTi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67223" y="4201027"/>
            <a:ext cx="104679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Mahasiswa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mampu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mendefinisikan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contoh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pemanfaatan</a:t>
            </a:r>
            <a:endParaRPr lang="en-US" sz="3200" dirty="0" smtClean="0">
              <a:solidFill>
                <a:schemeClr val="accent1">
                  <a:lumMod val="50000"/>
                </a:schemeClr>
              </a:solidFill>
              <a:latin typeface="Bahnschrift Light" panose="020B0502040204020203" pitchFamily="34" charset="0"/>
              <a:ea typeface="Adobe Heiti Std R" panose="020B0400000000000000" pitchFamily="34" charset="-128"/>
            </a:endParaRPr>
          </a:p>
          <a:p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sistem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basis data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dalam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kehidupan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nyata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Bahnschrift Light" panose="020B0502040204020203" pitchFamily="34" charset="0"/>
              <a:ea typeface="Adobe Heiti Std R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72080" y="2608110"/>
            <a:ext cx="89831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Mahasiswa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mampu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menjabarkan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definisi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data, basis data, DBMS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dan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</a:t>
            </a:r>
            <a:r>
              <a:rPr lang="en-US" sz="3200" dirty="0" err="1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sistem</a:t>
            </a:r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Bahnschrift Light" panose="020B0502040204020203" pitchFamily="34" charset="0"/>
                <a:ea typeface="Adobe Heiti Std R" panose="020B0400000000000000" pitchFamily="34" charset="-128"/>
              </a:rPr>
              <a:t> basis data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Bahnschrift Light" panose="020B0502040204020203" pitchFamily="34" charset="0"/>
              <a:ea typeface="Adobe Heiti Std R" panose="020B0400000000000000" pitchFamily="34" charset="-128"/>
            </a:endParaRPr>
          </a:p>
        </p:txBody>
      </p:sp>
      <p:sp>
        <p:nvSpPr>
          <p:cNvPr id="2" name="Chevron 1"/>
          <p:cNvSpPr/>
          <p:nvPr/>
        </p:nvSpPr>
        <p:spPr>
          <a:xfrm>
            <a:off x="1680883" y="2662207"/>
            <a:ext cx="477854" cy="476579"/>
          </a:xfrm>
          <a:prstGeom prst="chevr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749073" y="4309223"/>
            <a:ext cx="477854" cy="476579"/>
          </a:xfrm>
          <a:prstGeom prst="chevr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356" y="121026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8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/>
      <p:bldP spid="11" grpId="0"/>
      <p:bldP spid="2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Kontrak</a:t>
            </a:r>
            <a:r>
              <a:rPr lang="en-US" dirty="0"/>
              <a:t> </a:t>
            </a:r>
            <a:r>
              <a:rPr lang="en-US" dirty="0" err="1"/>
              <a:t>kuliah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Presensi</a:t>
            </a:r>
            <a:r>
              <a:rPr lang="en-US" dirty="0" smtClean="0"/>
              <a:t>  </a:t>
            </a:r>
            <a:r>
              <a:rPr lang="en-US" dirty="0"/>
              <a:t>:</a:t>
            </a:r>
            <a:r>
              <a:rPr lang="en-US" dirty="0" smtClean="0"/>
              <a:t>15%</a:t>
            </a:r>
            <a:endParaRPr lang="en-US" dirty="0"/>
          </a:p>
          <a:p>
            <a:r>
              <a:rPr lang="en-US" dirty="0" err="1"/>
              <a:t>Tugas</a:t>
            </a:r>
            <a:r>
              <a:rPr lang="en-US" dirty="0"/>
              <a:t>     : 10%		</a:t>
            </a:r>
          </a:p>
          <a:p>
            <a:r>
              <a:rPr lang="en-US" dirty="0"/>
              <a:t>UTS       : 25%</a:t>
            </a:r>
          </a:p>
          <a:p>
            <a:r>
              <a:rPr lang="en-US" dirty="0"/>
              <a:t>UAS	  : 25%</a:t>
            </a:r>
          </a:p>
          <a:p>
            <a:r>
              <a:rPr lang="en-US" dirty="0"/>
              <a:t>Final project: 25% -&gt; </a:t>
            </a:r>
            <a:r>
              <a:rPr lang="en-US" dirty="0" err="1"/>
              <a:t>rancangan</a:t>
            </a:r>
            <a:r>
              <a:rPr lang="en-US" dirty="0"/>
              <a:t> basis data</a:t>
            </a:r>
          </a:p>
        </p:txBody>
      </p:sp>
    </p:spTree>
    <p:extLst>
      <p:ext uri="{BB962C8B-B14F-4D97-AF65-F5344CB8AC3E}">
        <p14:creationId xmlns:p14="http://schemas.microsoft.com/office/powerpoint/2010/main" val="97666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nip Single Corner Rectangle 93"/>
          <p:cNvSpPr/>
          <p:nvPr/>
        </p:nvSpPr>
        <p:spPr>
          <a:xfrm>
            <a:off x="4824247" y="155639"/>
            <a:ext cx="1324663" cy="2148260"/>
          </a:xfrm>
          <a:prstGeom prst="snip1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824413" y="390819"/>
            <a:ext cx="1198179" cy="4729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V="1">
            <a:off x="8022592" y="627301"/>
            <a:ext cx="620111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82743" y="390819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fakta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7" name="TextBox 19"/>
          <p:cNvSpPr txBox="1"/>
          <p:nvPr/>
        </p:nvSpPr>
        <p:spPr>
          <a:xfrm>
            <a:off x="9933190" y="381691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rgbClr val="EE7A82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Dicatat</a:t>
            </a:r>
            <a:r>
              <a:rPr lang="en-US" dirty="0" smtClean="0">
                <a:solidFill>
                  <a:srgbClr val="EE7A82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&amp; </a:t>
            </a:r>
            <a:r>
              <a:rPr lang="en-US" dirty="0" err="1" smtClean="0">
                <a:solidFill>
                  <a:srgbClr val="EE7A82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disimpan</a:t>
            </a:r>
            <a:endParaRPr lang="en-US" dirty="0">
              <a:solidFill>
                <a:srgbClr val="EE7A82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9313079" y="619912"/>
            <a:ext cx="620111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8642703" y="843356"/>
            <a:ext cx="210208" cy="64053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852911" y="863784"/>
            <a:ext cx="740282" cy="61585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7"/>
          <p:cNvSpPr txBox="1"/>
          <p:nvPr/>
        </p:nvSpPr>
        <p:spPr>
          <a:xfrm>
            <a:off x="8182533" y="142213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rgbClr val="B846AA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objek</a:t>
            </a:r>
            <a:endParaRPr lang="en-US" dirty="0">
              <a:solidFill>
                <a:srgbClr val="B846AA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22" name="TextBox 28"/>
          <p:cNvSpPr txBox="1"/>
          <p:nvPr/>
        </p:nvSpPr>
        <p:spPr>
          <a:xfrm>
            <a:off x="9313079" y="144327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rgbClr val="B846AA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kejadian</a:t>
            </a:r>
            <a:endParaRPr lang="en-US" dirty="0">
              <a:solidFill>
                <a:srgbClr val="B846AA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7828238" y="1926710"/>
            <a:ext cx="699904" cy="5515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528142" y="1942240"/>
            <a:ext cx="515007" cy="53602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8528141" y="1926709"/>
            <a:ext cx="1" cy="91444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2"/>
          </p:cNvCxnSpPr>
          <p:nvPr/>
        </p:nvCxnSpPr>
        <p:spPr>
          <a:xfrm>
            <a:off x="9796545" y="1812606"/>
            <a:ext cx="999882" cy="42992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2"/>
            <a:endCxn id="41" idx="0"/>
          </p:cNvCxnSpPr>
          <p:nvPr/>
        </p:nvCxnSpPr>
        <p:spPr>
          <a:xfrm>
            <a:off x="9796545" y="1812606"/>
            <a:ext cx="420297" cy="8447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2" idx="2"/>
          </p:cNvCxnSpPr>
          <p:nvPr/>
        </p:nvCxnSpPr>
        <p:spPr>
          <a:xfrm>
            <a:off x="9796545" y="1812606"/>
            <a:ext cx="738269" cy="13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27"/>
          <p:cNvSpPr txBox="1"/>
          <p:nvPr/>
        </p:nvSpPr>
        <p:spPr>
          <a:xfrm>
            <a:off x="7448166" y="237948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dosen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4" name="TextBox 27"/>
          <p:cNvSpPr txBox="1"/>
          <p:nvPr/>
        </p:nvSpPr>
        <p:spPr>
          <a:xfrm>
            <a:off x="8208310" y="279460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mhs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5" name="TextBox 27"/>
          <p:cNvSpPr txBox="1"/>
          <p:nvPr/>
        </p:nvSpPr>
        <p:spPr>
          <a:xfrm>
            <a:off x="8633740" y="237948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makul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1" name="TextBox 27"/>
          <p:cNvSpPr txBox="1"/>
          <p:nvPr/>
        </p:nvSpPr>
        <p:spPr>
          <a:xfrm>
            <a:off x="9579488" y="265733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perkuliahan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4" name="TextBox 27"/>
          <p:cNvSpPr txBox="1"/>
          <p:nvPr/>
        </p:nvSpPr>
        <p:spPr>
          <a:xfrm>
            <a:off x="10865418" y="236447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presensi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7" name="TextBox 27"/>
          <p:cNvSpPr txBox="1"/>
          <p:nvPr/>
        </p:nvSpPr>
        <p:spPr>
          <a:xfrm>
            <a:off x="10825120" y="205030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KRS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9798784" y="1931728"/>
            <a:ext cx="1092282" cy="67859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27"/>
          <p:cNvSpPr txBox="1"/>
          <p:nvPr/>
        </p:nvSpPr>
        <p:spPr>
          <a:xfrm>
            <a:off x="10477646" y="161207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KHS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8136740" y="3230667"/>
            <a:ext cx="434683" cy="42262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27"/>
          <p:cNvSpPr txBox="1"/>
          <p:nvPr/>
        </p:nvSpPr>
        <p:spPr>
          <a:xfrm>
            <a:off x="7621577" y="347309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n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pm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8494839" y="3230667"/>
            <a:ext cx="76584" cy="4823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TextBox 27"/>
          <p:cNvSpPr txBox="1"/>
          <p:nvPr/>
        </p:nvSpPr>
        <p:spPr>
          <a:xfrm>
            <a:off x="8774132" y="395100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alamat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8571423" y="3230667"/>
            <a:ext cx="474468" cy="7919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TextBox 27"/>
          <p:cNvSpPr txBox="1"/>
          <p:nvPr/>
        </p:nvSpPr>
        <p:spPr>
          <a:xfrm>
            <a:off x="8131106" y="359301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nama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1" name="TextBox 27"/>
          <p:cNvSpPr txBox="1"/>
          <p:nvPr/>
        </p:nvSpPr>
        <p:spPr>
          <a:xfrm>
            <a:off x="9268254" y="3475813"/>
            <a:ext cx="67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foto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8571423" y="3230667"/>
            <a:ext cx="678197" cy="3942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10140050" y="3111889"/>
            <a:ext cx="434683" cy="42262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TextBox 27"/>
          <p:cNvSpPr txBox="1"/>
          <p:nvPr/>
        </p:nvSpPr>
        <p:spPr>
          <a:xfrm>
            <a:off x="9890142" y="350207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C00000"/>
                </a:solidFill>
                <a:latin typeface="Buxton Sketch" panose="03080500000500000004" pitchFamily="66" charset="0"/>
                <a:ea typeface="Adobe Heiti Std R" panose="020B0400000000000000" pitchFamily="34" charset="-128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tgl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Arrow Connector 78"/>
          <p:cNvCxnSpPr/>
          <p:nvPr/>
        </p:nvCxnSpPr>
        <p:spPr>
          <a:xfrm flipH="1">
            <a:off x="10498149" y="3111889"/>
            <a:ext cx="76584" cy="4823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TextBox 27"/>
          <p:cNvSpPr txBox="1"/>
          <p:nvPr/>
        </p:nvSpPr>
        <p:spPr>
          <a:xfrm>
            <a:off x="10777442" y="383222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npm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10574733" y="3111889"/>
            <a:ext cx="474468" cy="7919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TextBox 27"/>
          <p:cNvSpPr txBox="1"/>
          <p:nvPr/>
        </p:nvSpPr>
        <p:spPr>
          <a:xfrm>
            <a:off x="10348705" y="351490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jam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3" name="TextBox 27"/>
          <p:cNvSpPr txBox="1"/>
          <p:nvPr/>
        </p:nvSpPr>
        <p:spPr>
          <a:xfrm>
            <a:off x="11164579" y="3408344"/>
            <a:ext cx="67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nidn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10574733" y="3111889"/>
            <a:ext cx="678197" cy="3942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TextBox 27"/>
          <p:cNvSpPr txBox="1"/>
          <p:nvPr/>
        </p:nvSpPr>
        <p:spPr>
          <a:xfrm>
            <a:off x="11328875" y="3071602"/>
            <a:ext cx="1005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kdmakul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86" name="Straight Arrow Connector 85"/>
          <p:cNvCxnSpPr>
            <a:endCxn id="85" idx="1"/>
          </p:cNvCxnSpPr>
          <p:nvPr/>
        </p:nvCxnSpPr>
        <p:spPr>
          <a:xfrm>
            <a:off x="10589531" y="3119003"/>
            <a:ext cx="739344" cy="12187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14" idx="1"/>
          </p:cNvCxnSpPr>
          <p:nvPr/>
        </p:nvCxnSpPr>
        <p:spPr>
          <a:xfrm flipH="1" flipV="1">
            <a:off x="6139521" y="612523"/>
            <a:ext cx="684892" cy="147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3" name="TextBox 27"/>
          <p:cNvSpPr txBox="1"/>
          <p:nvPr/>
        </p:nvSpPr>
        <p:spPr>
          <a:xfrm>
            <a:off x="4928893" y="271415"/>
            <a:ext cx="11674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Teks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  <a:p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Angka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  <a:p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Gambar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  <a:p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Suara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Video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Peta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lokasi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97" name="Straight Arrow Connector 96"/>
          <p:cNvCxnSpPr>
            <a:endCxn id="99" idx="0"/>
          </p:cNvCxnSpPr>
          <p:nvPr/>
        </p:nvCxnSpPr>
        <p:spPr>
          <a:xfrm flipH="1">
            <a:off x="6783813" y="863784"/>
            <a:ext cx="624652" cy="30572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6052158" y="3921063"/>
            <a:ext cx="1463310" cy="4729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Straight Arrow Connector 100"/>
          <p:cNvCxnSpPr>
            <a:stCxn id="99" idx="2"/>
            <a:endCxn id="104" idx="0"/>
          </p:cNvCxnSpPr>
          <p:nvPr/>
        </p:nvCxnSpPr>
        <p:spPr>
          <a:xfrm>
            <a:off x="6783813" y="4394028"/>
            <a:ext cx="796432" cy="8004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6848590" y="5194510"/>
            <a:ext cx="1463310" cy="4729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" name="Straight Arrow Connector 104"/>
          <p:cNvCxnSpPr>
            <a:stCxn id="104" idx="3"/>
          </p:cNvCxnSpPr>
          <p:nvPr/>
        </p:nvCxnSpPr>
        <p:spPr>
          <a:xfrm>
            <a:off x="8311900" y="5430993"/>
            <a:ext cx="89657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6" name="TextBox 27"/>
          <p:cNvSpPr txBox="1"/>
          <p:nvPr/>
        </p:nvSpPr>
        <p:spPr>
          <a:xfrm>
            <a:off x="9096174" y="487551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Sql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Server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07" name="Straight Arrow Connector 106"/>
          <p:cNvCxnSpPr>
            <a:stCxn id="104" idx="3"/>
          </p:cNvCxnSpPr>
          <p:nvPr/>
        </p:nvCxnSpPr>
        <p:spPr>
          <a:xfrm>
            <a:off x="8311900" y="5430993"/>
            <a:ext cx="1217439" cy="37076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8334907" y="5455833"/>
            <a:ext cx="679217" cy="7696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04" idx="3"/>
          </p:cNvCxnSpPr>
          <p:nvPr/>
        </p:nvCxnSpPr>
        <p:spPr>
          <a:xfrm flipV="1">
            <a:off x="8311900" y="5132404"/>
            <a:ext cx="810823" cy="29858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TextBox 27"/>
          <p:cNvSpPr txBox="1"/>
          <p:nvPr/>
        </p:nvSpPr>
        <p:spPr>
          <a:xfrm>
            <a:off x="9544765" y="558913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oracle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2" name="TextBox 27"/>
          <p:cNvSpPr txBox="1"/>
          <p:nvPr/>
        </p:nvSpPr>
        <p:spPr>
          <a:xfrm>
            <a:off x="9158787" y="523114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Ms. access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3" name="TextBox 27"/>
          <p:cNvSpPr txBox="1"/>
          <p:nvPr/>
        </p:nvSpPr>
        <p:spPr>
          <a:xfrm>
            <a:off x="8988708" y="601029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MySQL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5" name="Left Brace 134"/>
          <p:cNvSpPr/>
          <p:nvPr/>
        </p:nvSpPr>
        <p:spPr>
          <a:xfrm>
            <a:off x="4256690" y="390819"/>
            <a:ext cx="672203" cy="452537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Buxton Sketch" panose="03080500000500000004" pitchFamily="66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826272" y="381691"/>
            <a:ext cx="142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Traditional DB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7" name="Left Brace 136"/>
          <p:cNvSpPr/>
          <p:nvPr/>
        </p:nvSpPr>
        <p:spPr>
          <a:xfrm>
            <a:off x="4256690" y="1054971"/>
            <a:ext cx="672203" cy="66872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Buxton Sketch" panose="03080500000500000004" pitchFamily="66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601161" y="1171710"/>
            <a:ext cx="154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Multimedia DB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42" name="Straight Connector 141"/>
          <p:cNvCxnSpPr/>
          <p:nvPr/>
        </p:nvCxnSpPr>
        <p:spPr>
          <a:xfrm flipH="1">
            <a:off x="4256690" y="2050306"/>
            <a:ext cx="6277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2611751" y="1850251"/>
            <a:ext cx="154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GIS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46" name="Straight Connector 145"/>
          <p:cNvCxnSpPr>
            <a:stCxn id="99" idx="1"/>
            <a:endCxn id="147" idx="3"/>
          </p:cNvCxnSpPr>
          <p:nvPr/>
        </p:nvCxnSpPr>
        <p:spPr>
          <a:xfrm flipH="1" flipV="1">
            <a:off x="5557030" y="3705326"/>
            <a:ext cx="495128" cy="4522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3775207" y="3536049"/>
            <a:ext cx="1781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 smtClean="0">
                <a:solidFill>
                  <a:srgbClr val="79791F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Transactional DB</a:t>
            </a:r>
            <a:endParaRPr lang="en-US" sz="1600" dirty="0">
              <a:solidFill>
                <a:srgbClr val="79791F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48" name="Straight Connector 147"/>
          <p:cNvCxnSpPr>
            <a:stCxn id="99" idx="1"/>
          </p:cNvCxnSpPr>
          <p:nvPr/>
        </p:nvCxnSpPr>
        <p:spPr>
          <a:xfrm flipH="1">
            <a:off x="5558123" y="4157546"/>
            <a:ext cx="494035" cy="2364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3781282" y="4159479"/>
            <a:ext cx="1781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79791F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Data Warehouse</a:t>
            </a:r>
            <a:endParaRPr lang="en-US" sz="1600" dirty="0">
              <a:solidFill>
                <a:srgbClr val="79791F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3486133" y="5989247"/>
            <a:ext cx="2796665" cy="472965"/>
          </a:xfrm>
          <a:prstGeom prst="rect">
            <a:avLst/>
          </a:prstGeom>
          <a:solidFill>
            <a:srgbClr val="C25A7A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+ DBMS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8" name="Straight Arrow Connector 157"/>
          <p:cNvCxnSpPr>
            <a:stCxn id="151" idx="1"/>
          </p:cNvCxnSpPr>
          <p:nvPr/>
        </p:nvCxnSpPr>
        <p:spPr>
          <a:xfrm flipH="1" flipV="1">
            <a:off x="3025357" y="6225480"/>
            <a:ext cx="460776" cy="25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126124" y="5998154"/>
            <a:ext cx="2899233" cy="472965"/>
          </a:xfrm>
          <a:prstGeom prst="rect">
            <a:avLst/>
          </a:prstGeom>
          <a:solidFill>
            <a:srgbClr val="1EB4BC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System/SBD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325820" y="5072561"/>
            <a:ext cx="2499840" cy="472965"/>
          </a:xfrm>
          <a:prstGeom prst="rect">
            <a:avLst/>
          </a:prstGeom>
          <a:solidFill>
            <a:srgbClr val="730D4A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Komponen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SBD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4" name="Straight Arrow Connector 163"/>
          <p:cNvCxnSpPr>
            <a:stCxn id="161" idx="0"/>
          </p:cNvCxnSpPr>
          <p:nvPr/>
        </p:nvCxnSpPr>
        <p:spPr>
          <a:xfrm flipV="1">
            <a:off x="1575741" y="5589137"/>
            <a:ext cx="11321" cy="40901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3" name="Folded Corner 172"/>
          <p:cNvSpPr/>
          <p:nvPr/>
        </p:nvSpPr>
        <p:spPr>
          <a:xfrm>
            <a:off x="337830" y="2109502"/>
            <a:ext cx="2943342" cy="2092054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u="sng" dirty="0" smtClean="0">
                <a:solidFill>
                  <a:srgbClr val="C25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 algn="ctr"/>
            <a:endParaRPr lang="en-US" sz="2400" b="1" u="sng" dirty="0" smtClean="0">
              <a:solidFill>
                <a:srgbClr val="C25A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err="1" smtClean="0">
                <a:solidFill>
                  <a:srgbClr val="C25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US" sz="2400" dirty="0" smtClean="0">
                <a:solidFill>
                  <a:srgbClr val="C25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C25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keuntungan</a:t>
            </a:r>
            <a:r>
              <a:rPr lang="en-US" sz="2400" dirty="0" smtClean="0">
                <a:solidFill>
                  <a:srgbClr val="C25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C25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 smtClean="0">
                <a:solidFill>
                  <a:srgbClr val="C25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basis data</a:t>
            </a:r>
            <a:endParaRPr lang="en-US" sz="2400" dirty="0">
              <a:solidFill>
                <a:srgbClr val="C25A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649" y="5631255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8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14" grpId="0" animBg="1"/>
      <p:bldP spid="16" grpId="0"/>
      <p:bldP spid="17" grpId="0"/>
      <p:bldP spid="21" grpId="0"/>
      <p:bldP spid="22" grpId="0"/>
      <p:bldP spid="33" grpId="0"/>
      <p:bldP spid="34" grpId="0"/>
      <p:bldP spid="35" grpId="0"/>
      <p:bldP spid="41" grpId="0"/>
      <p:bldP spid="44" grpId="0"/>
      <p:bldP spid="47" grpId="0"/>
      <p:bldP spid="51" grpId="0"/>
      <p:bldP spid="58" grpId="0"/>
      <p:bldP spid="64" grpId="0"/>
      <p:bldP spid="69" grpId="0"/>
      <p:bldP spid="71" grpId="0"/>
      <p:bldP spid="78" grpId="0"/>
      <p:bldP spid="80" grpId="0"/>
      <p:bldP spid="82" grpId="0"/>
      <p:bldP spid="83" grpId="0"/>
      <p:bldP spid="85" grpId="0"/>
      <p:bldP spid="99" grpId="0" animBg="1"/>
      <p:bldP spid="104" grpId="0" animBg="1"/>
      <p:bldP spid="106" grpId="0"/>
      <p:bldP spid="131" grpId="0"/>
      <p:bldP spid="132" grpId="0"/>
      <p:bldP spid="133" grpId="0"/>
      <p:bldP spid="135" grpId="0" animBg="1"/>
      <p:bldP spid="136" grpId="0"/>
      <p:bldP spid="137" grpId="0" animBg="1"/>
      <p:bldP spid="138" grpId="0"/>
      <p:bldP spid="143" grpId="0"/>
      <p:bldP spid="147" grpId="0"/>
      <p:bldP spid="149" grpId="0"/>
      <p:bldP spid="151" grpId="0" animBg="1"/>
      <p:bldP spid="161" grpId="0" animBg="1"/>
      <p:bldP spid="162" grpId="0" animBg="1"/>
      <p:bldP spid="1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0" y="4"/>
            <a:ext cx="12192000" cy="6867614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90" y="1650932"/>
            <a:ext cx="4904172" cy="1226738"/>
          </a:xfrm>
        </p:spPr>
        <p:txBody>
          <a:bodyPr>
            <a:noAutofit/>
          </a:bodyPr>
          <a:lstStyle/>
          <a:p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DEFINISI</a:t>
            </a:r>
            <a:b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BASIS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4435" y="2380131"/>
            <a:ext cx="4571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1" dirty="0"/>
          </a:p>
        </p:txBody>
      </p:sp>
      <p:sp>
        <p:nvSpPr>
          <p:cNvPr id="22" name="Freeform 21"/>
          <p:cNvSpPr/>
          <p:nvPr/>
        </p:nvSpPr>
        <p:spPr>
          <a:xfrm>
            <a:off x="1557575" y="4867397"/>
            <a:ext cx="2107900" cy="1552380"/>
          </a:xfrm>
          <a:custGeom>
            <a:avLst/>
            <a:gdLst>
              <a:gd name="connsiteX0" fmla="*/ 0 w 3251200"/>
              <a:gd name="connsiteY0" fmla="*/ 429956 h 2579687"/>
              <a:gd name="connsiteX1" fmla="*/ 429956 w 3251200"/>
              <a:gd name="connsiteY1" fmla="*/ 0 h 2579687"/>
              <a:gd name="connsiteX2" fmla="*/ 2821244 w 3251200"/>
              <a:gd name="connsiteY2" fmla="*/ 0 h 2579687"/>
              <a:gd name="connsiteX3" fmla="*/ 3251200 w 3251200"/>
              <a:gd name="connsiteY3" fmla="*/ 429956 h 2579687"/>
              <a:gd name="connsiteX4" fmla="*/ 3251200 w 3251200"/>
              <a:gd name="connsiteY4" fmla="*/ 2149731 h 2579687"/>
              <a:gd name="connsiteX5" fmla="*/ 2821244 w 3251200"/>
              <a:gd name="connsiteY5" fmla="*/ 2579687 h 2579687"/>
              <a:gd name="connsiteX6" fmla="*/ 429956 w 3251200"/>
              <a:gd name="connsiteY6" fmla="*/ 2579687 h 2579687"/>
              <a:gd name="connsiteX7" fmla="*/ 0 w 3251200"/>
              <a:gd name="connsiteY7" fmla="*/ 2149731 h 2579687"/>
              <a:gd name="connsiteX8" fmla="*/ 0 w 3251200"/>
              <a:gd name="connsiteY8" fmla="*/ 429956 h 257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1200" h="2579687">
                <a:moveTo>
                  <a:pt x="0" y="429956"/>
                </a:moveTo>
                <a:cubicBezTo>
                  <a:pt x="0" y="192498"/>
                  <a:pt x="192498" y="0"/>
                  <a:pt x="429956" y="0"/>
                </a:cubicBezTo>
                <a:lnTo>
                  <a:pt x="2821244" y="0"/>
                </a:lnTo>
                <a:cubicBezTo>
                  <a:pt x="3058702" y="0"/>
                  <a:pt x="3251200" y="192498"/>
                  <a:pt x="3251200" y="429956"/>
                </a:cubicBezTo>
                <a:lnTo>
                  <a:pt x="3251200" y="2149731"/>
                </a:lnTo>
                <a:cubicBezTo>
                  <a:pt x="3251200" y="2387189"/>
                  <a:pt x="3058702" y="2579687"/>
                  <a:pt x="2821244" y="2579687"/>
                </a:cubicBezTo>
                <a:lnTo>
                  <a:pt x="429956" y="2579687"/>
                </a:lnTo>
                <a:cubicBezTo>
                  <a:pt x="192498" y="2579687"/>
                  <a:pt x="0" y="2387189"/>
                  <a:pt x="0" y="2149731"/>
                </a:cubicBezTo>
                <a:lnTo>
                  <a:pt x="0" y="429956"/>
                </a:lnTo>
                <a:close/>
              </a:path>
            </a:pathLst>
          </a:custGeom>
          <a:solidFill>
            <a:srgbClr val="F3F67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3580" tIns="249755" rIns="373580" bIns="249755" numCol="1" spcCol="1270" anchor="ctr" anchorCtr="0">
            <a:noAutofit/>
          </a:bodyPr>
          <a:lstStyle/>
          <a:p>
            <a:pPr algn="ctr" defTabSz="28890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solidFill>
                  <a:schemeClr val="bg2">
                    <a:lumMod val="25000"/>
                  </a:schemeClr>
                </a:solidFill>
                <a:latin typeface="Berlin Sans FB" panose="020E0602020502020306" pitchFamily="34" charset="0"/>
              </a:rPr>
              <a:t>DATA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665475" y="3159779"/>
            <a:ext cx="5300683" cy="1552380"/>
            <a:chOff x="4300517" y="3173225"/>
            <a:chExt cx="4614883" cy="1552380"/>
          </a:xfrm>
        </p:grpSpPr>
        <p:sp>
          <p:nvSpPr>
            <p:cNvPr id="18" name="Right Arrow 17"/>
            <p:cNvSpPr/>
            <p:nvPr/>
          </p:nvSpPr>
          <p:spPr>
            <a:xfrm>
              <a:off x="4300517" y="3173225"/>
              <a:ext cx="4453517" cy="1552380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F3F67A"/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801" dirty="0">
                <a:latin typeface="Maiandra GD" panose="020E0502030308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34518" y="3556092"/>
              <a:ext cx="43808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Markas</a:t>
              </a:r>
              <a:r>
                <a:rPr lang="en-US" sz="2400" dirty="0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400" dirty="0" err="1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atau</a:t>
              </a:r>
              <a:r>
                <a:rPr lang="en-US" sz="2400" dirty="0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400" dirty="0" err="1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gudang</a:t>
              </a:r>
              <a:r>
                <a:rPr lang="en-US" sz="2400" dirty="0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, </a:t>
              </a:r>
              <a:r>
                <a:rPr lang="en-US" sz="2400" dirty="0" err="1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tempat</a:t>
              </a:r>
              <a:r>
                <a:rPr lang="en-US" sz="2400" dirty="0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400" dirty="0" err="1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bersarang</a:t>
              </a:r>
              <a:r>
                <a:rPr lang="en-US" sz="2400" dirty="0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/</a:t>
              </a:r>
              <a:r>
                <a:rPr lang="en-US" sz="2400" dirty="0" err="1">
                  <a:solidFill>
                    <a:schemeClr val="bg2">
                      <a:lumMod val="25000"/>
                    </a:schemeClr>
                  </a:solidFill>
                  <a:latin typeface="Maiandra GD" panose="020E0502030308020204" pitchFamily="34" charset="0"/>
                </a:rPr>
                <a:t>berkumpul</a:t>
              </a:r>
              <a:endParaRPr lang="en-US" sz="2400" dirty="0">
                <a:solidFill>
                  <a:schemeClr val="bg2">
                    <a:lumMod val="25000"/>
                  </a:schemeClr>
                </a:solidFill>
                <a:latin typeface="Maiandra GD" panose="020E0502030308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557575" y="3159772"/>
            <a:ext cx="2107900" cy="1707619"/>
            <a:chOff x="2192617" y="3173225"/>
            <a:chExt cx="2107901" cy="1552380"/>
          </a:xfrm>
        </p:grpSpPr>
        <p:sp>
          <p:nvSpPr>
            <p:cNvPr id="20" name="Freeform 19"/>
            <p:cNvSpPr/>
            <p:nvPr/>
          </p:nvSpPr>
          <p:spPr>
            <a:xfrm>
              <a:off x="2192617" y="3173225"/>
              <a:ext cx="2107901" cy="1552380"/>
            </a:xfrm>
            <a:custGeom>
              <a:avLst/>
              <a:gdLst>
                <a:gd name="connsiteX0" fmla="*/ 0 w 3251200"/>
                <a:gd name="connsiteY0" fmla="*/ 429956 h 2579687"/>
                <a:gd name="connsiteX1" fmla="*/ 429956 w 3251200"/>
                <a:gd name="connsiteY1" fmla="*/ 0 h 2579687"/>
                <a:gd name="connsiteX2" fmla="*/ 2821244 w 3251200"/>
                <a:gd name="connsiteY2" fmla="*/ 0 h 2579687"/>
                <a:gd name="connsiteX3" fmla="*/ 3251200 w 3251200"/>
                <a:gd name="connsiteY3" fmla="*/ 429956 h 2579687"/>
                <a:gd name="connsiteX4" fmla="*/ 3251200 w 3251200"/>
                <a:gd name="connsiteY4" fmla="*/ 2149731 h 2579687"/>
                <a:gd name="connsiteX5" fmla="*/ 2821244 w 3251200"/>
                <a:gd name="connsiteY5" fmla="*/ 2579687 h 2579687"/>
                <a:gd name="connsiteX6" fmla="*/ 429956 w 3251200"/>
                <a:gd name="connsiteY6" fmla="*/ 2579687 h 2579687"/>
                <a:gd name="connsiteX7" fmla="*/ 0 w 3251200"/>
                <a:gd name="connsiteY7" fmla="*/ 2149731 h 2579687"/>
                <a:gd name="connsiteX8" fmla="*/ 0 w 3251200"/>
                <a:gd name="connsiteY8" fmla="*/ 429956 h 2579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1200" h="2579687">
                  <a:moveTo>
                    <a:pt x="0" y="429956"/>
                  </a:moveTo>
                  <a:cubicBezTo>
                    <a:pt x="0" y="192498"/>
                    <a:pt x="192498" y="0"/>
                    <a:pt x="429956" y="0"/>
                  </a:cubicBezTo>
                  <a:lnTo>
                    <a:pt x="2821244" y="0"/>
                  </a:lnTo>
                  <a:cubicBezTo>
                    <a:pt x="3058702" y="0"/>
                    <a:pt x="3251200" y="192498"/>
                    <a:pt x="3251200" y="429956"/>
                  </a:cubicBezTo>
                  <a:lnTo>
                    <a:pt x="3251200" y="2149731"/>
                  </a:lnTo>
                  <a:cubicBezTo>
                    <a:pt x="3251200" y="2387189"/>
                    <a:pt x="3058702" y="2579687"/>
                    <a:pt x="2821244" y="2579687"/>
                  </a:cubicBezTo>
                  <a:lnTo>
                    <a:pt x="429956" y="2579687"/>
                  </a:lnTo>
                  <a:cubicBezTo>
                    <a:pt x="192498" y="2579687"/>
                    <a:pt x="0" y="2387189"/>
                    <a:pt x="0" y="2149731"/>
                  </a:cubicBezTo>
                  <a:lnTo>
                    <a:pt x="0" y="429956"/>
                  </a:lnTo>
                  <a:close/>
                </a:path>
              </a:pathLst>
            </a:custGeom>
            <a:solidFill>
              <a:srgbClr val="1EB4B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3580" tIns="249755" rIns="373580" bIns="249755" numCol="1" spcCol="1270" anchor="ctr" anchorCtr="0">
              <a:noAutofit/>
            </a:bodyPr>
            <a:lstStyle/>
            <a:p>
              <a:pPr algn="ctr" defTabSz="288901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6500" dirty="0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2524445" y="3657027"/>
              <a:ext cx="1359531" cy="375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BASIS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665475" y="4867402"/>
            <a:ext cx="8058348" cy="1552381"/>
            <a:chOff x="4300517" y="4880844"/>
            <a:chExt cx="6833647" cy="1552380"/>
          </a:xfrm>
        </p:grpSpPr>
        <p:sp>
          <p:nvSpPr>
            <p:cNvPr id="21" name="Right Arrow 20"/>
            <p:cNvSpPr/>
            <p:nvPr/>
          </p:nvSpPr>
          <p:spPr>
            <a:xfrm>
              <a:off x="4300517" y="4880844"/>
              <a:ext cx="6833647" cy="1552380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1EB4BC"/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5"/>
            <p:cNvSpPr txBox="1"/>
            <p:nvPr/>
          </p:nvSpPr>
          <p:spPr>
            <a:xfrm>
              <a:off x="4534519" y="5108472"/>
              <a:ext cx="6433075" cy="1108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Representasi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fakta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dunia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nyata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yang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mewakili</a:t>
              </a:r>
              <a:endParaRPr lang="en-US" sz="2201" dirty="0">
                <a:solidFill>
                  <a:schemeClr val="bg1"/>
                </a:solidFill>
                <a:latin typeface="Maiandra GD" panose="020E0502030308020204" pitchFamily="34" charset="0"/>
              </a:endParaRPr>
            </a:p>
            <a:p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Suatu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 smtClean="0">
                  <a:solidFill>
                    <a:schemeClr val="bg1"/>
                  </a:solidFill>
                  <a:latin typeface="Maiandra GD" panose="020E0502030308020204" pitchFamily="34" charset="0"/>
                </a:rPr>
                <a:t>objek</a:t>
              </a:r>
              <a:r>
                <a:rPr lang="en-US" sz="2201" dirty="0" smtClean="0">
                  <a:solidFill>
                    <a:schemeClr val="bg1"/>
                  </a:solidFill>
                  <a:latin typeface="Maiandra GD" panose="020E0502030308020204" pitchFamily="34" charset="0"/>
                </a:rPr>
                <a:t>/</a:t>
              </a:r>
              <a:r>
                <a:rPr lang="en-US" sz="2201" dirty="0" err="1" smtClean="0">
                  <a:solidFill>
                    <a:schemeClr val="bg1"/>
                  </a:solidFill>
                  <a:latin typeface="Maiandra GD" panose="020E0502030308020204" pitchFamily="34" charset="0"/>
                </a:rPr>
                <a:t>kejadian</a:t>
              </a:r>
              <a:r>
                <a:rPr lang="en-US" sz="2201" dirty="0" smtClean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yang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diwujudkan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dalam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bentuk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angka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,</a:t>
              </a:r>
            </a:p>
            <a:p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huruf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,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simbol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,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teks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,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gambar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, </a:t>
              </a:r>
              <a:r>
                <a:rPr lang="en-US" sz="2201" dirty="0" err="1" smtClean="0">
                  <a:solidFill>
                    <a:schemeClr val="bg1"/>
                  </a:solidFill>
                  <a:latin typeface="Maiandra GD" panose="020E0502030308020204" pitchFamily="34" charset="0"/>
                </a:rPr>
                <a:t>suara</a:t>
              </a:r>
              <a:r>
                <a:rPr lang="en-US" sz="2201" dirty="0" smtClean="0">
                  <a:solidFill>
                    <a:schemeClr val="bg1"/>
                  </a:solidFill>
                  <a:latin typeface="Maiandra GD" panose="020E0502030308020204" pitchFamily="34" charset="0"/>
                </a:rPr>
                <a:t>,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atau</a:t>
              </a:r>
              <a:r>
                <a:rPr lang="en-US" sz="2201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kombinasinya</a:t>
              </a:r>
              <a:endParaRPr lang="en-US" sz="2201" dirty="0">
                <a:solidFill>
                  <a:schemeClr val="bg1"/>
                </a:solidFill>
                <a:latin typeface="Maiandra GD" panose="020E0502030308020204" pitchFamily="34" charset="0"/>
              </a:endParaRP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073" y="104514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6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-1" y="-11561"/>
            <a:ext cx="12192002" cy="6869563"/>
          </a:xfrm>
        </p:spPr>
      </p:pic>
      <p:grpSp>
        <p:nvGrpSpPr>
          <p:cNvPr id="15" name="Group 14"/>
          <p:cNvGrpSpPr/>
          <p:nvPr/>
        </p:nvGrpSpPr>
        <p:grpSpPr>
          <a:xfrm>
            <a:off x="3632201" y="969800"/>
            <a:ext cx="8128000" cy="1638361"/>
            <a:chOff x="2032000" y="750059"/>
            <a:chExt cx="8128000" cy="1638360"/>
          </a:xfrm>
        </p:grpSpPr>
        <p:sp>
          <p:nvSpPr>
            <p:cNvPr id="7" name="Rectangle 6"/>
            <p:cNvSpPr/>
            <p:nvPr/>
          </p:nvSpPr>
          <p:spPr>
            <a:xfrm>
              <a:off x="2032000" y="1355219"/>
              <a:ext cx="8128000" cy="1033200"/>
            </a:xfrm>
            <a:prstGeom prst="rect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Freeform 7"/>
            <p:cNvSpPr/>
            <p:nvPr/>
          </p:nvSpPr>
          <p:spPr>
            <a:xfrm>
              <a:off x="2438400" y="750059"/>
              <a:ext cx="6146816" cy="1210320"/>
            </a:xfrm>
            <a:custGeom>
              <a:avLst/>
              <a:gdLst>
                <a:gd name="connsiteX0" fmla="*/ 0 w 6146816"/>
                <a:gd name="connsiteY0" fmla="*/ 201724 h 1210320"/>
                <a:gd name="connsiteX1" fmla="*/ 201724 w 6146816"/>
                <a:gd name="connsiteY1" fmla="*/ 0 h 1210320"/>
                <a:gd name="connsiteX2" fmla="*/ 5945092 w 6146816"/>
                <a:gd name="connsiteY2" fmla="*/ 0 h 1210320"/>
                <a:gd name="connsiteX3" fmla="*/ 6146816 w 6146816"/>
                <a:gd name="connsiteY3" fmla="*/ 201724 h 1210320"/>
                <a:gd name="connsiteX4" fmla="*/ 6146816 w 6146816"/>
                <a:gd name="connsiteY4" fmla="*/ 1008596 h 1210320"/>
                <a:gd name="connsiteX5" fmla="*/ 5945092 w 6146816"/>
                <a:gd name="connsiteY5" fmla="*/ 1210320 h 1210320"/>
                <a:gd name="connsiteX6" fmla="*/ 201724 w 6146816"/>
                <a:gd name="connsiteY6" fmla="*/ 1210320 h 1210320"/>
                <a:gd name="connsiteX7" fmla="*/ 0 w 6146816"/>
                <a:gd name="connsiteY7" fmla="*/ 1008596 h 1210320"/>
                <a:gd name="connsiteX8" fmla="*/ 0 w 6146816"/>
                <a:gd name="connsiteY8" fmla="*/ 201724 h 121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46816" h="1210320">
                  <a:moveTo>
                    <a:pt x="0" y="201724"/>
                  </a:moveTo>
                  <a:cubicBezTo>
                    <a:pt x="0" y="90315"/>
                    <a:pt x="90315" y="0"/>
                    <a:pt x="201724" y="0"/>
                  </a:cubicBezTo>
                  <a:lnTo>
                    <a:pt x="5945092" y="0"/>
                  </a:lnTo>
                  <a:cubicBezTo>
                    <a:pt x="6056501" y="0"/>
                    <a:pt x="6146816" y="90315"/>
                    <a:pt x="6146816" y="201724"/>
                  </a:cubicBezTo>
                  <a:lnTo>
                    <a:pt x="6146816" y="1008596"/>
                  </a:lnTo>
                  <a:cubicBezTo>
                    <a:pt x="6146816" y="1120005"/>
                    <a:pt x="6056501" y="1210320"/>
                    <a:pt x="5945092" y="1210320"/>
                  </a:cubicBezTo>
                  <a:lnTo>
                    <a:pt x="201724" y="1210320"/>
                  </a:lnTo>
                  <a:cubicBezTo>
                    <a:pt x="90315" y="1210320"/>
                    <a:pt x="0" y="1120005"/>
                    <a:pt x="0" y="1008596"/>
                  </a:cubicBezTo>
                  <a:lnTo>
                    <a:pt x="0" y="201724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74137" tIns="59083" rIns="274137" bIns="59083" numCol="1" spcCol="1270" anchor="ctr" anchorCtr="0">
              <a:noAutofit/>
            </a:bodyPr>
            <a:lstStyle/>
            <a:p>
              <a:pPr defTabSz="106671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Himpunan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kelompok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data yang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saling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berhubungan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yang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diorganisasi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sedemikian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rupa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agar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dapat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dimanfaatkan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kembali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dengan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cepat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mudah</a:t>
              </a:r>
              <a:endParaRPr lang="en-US" sz="2000" dirty="0">
                <a:solidFill>
                  <a:schemeClr val="tx2">
                    <a:lumMod val="75000"/>
                  </a:schemeClr>
                </a:solidFill>
                <a:latin typeface="Maiandra GD" panose="020E0502030308020204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632201" y="2829560"/>
            <a:ext cx="8128000" cy="1638361"/>
            <a:chOff x="2032000" y="2609819"/>
            <a:chExt cx="8128000" cy="1638360"/>
          </a:xfrm>
        </p:grpSpPr>
        <p:sp>
          <p:nvSpPr>
            <p:cNvPr id="9" name="Rectangle 8"/>
            <p:cNvSpPr/>
            <p:nvPr/>
          </p:nvSpPr>
          <p:spPr>
            <a:xfrm>
              <a:off x="2032000" y="3214979"/>
              <a:ext cx="8128000" cy="1033200"/>
            </a:xfrm>
            <a:prstGeom prst="rect">
              <a:avLst/>
            </a:prstGeom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2438400" y="2609819"/>
              <a:ext cx="6092992" cy="1210320"/>
            </a:xfrm>
            <a:custGeom>
              <a:avLst/>
              <a:gdLst>
                <a:gd name="connsiteX0" fmla="*/ 0 w 6092992"/>
                <a:gd name="connsiteY0" fmla="*/ 201724 h 1210320"/>
                <a:gd name="connsiteX1" fmla="*/ 201724 w 6092992"/>
                <a:gd name="connsiteY1" fmla="*/ 0 h 1210320"/>
                <a:gd name="connsiteX2" fmla="*/ 5891268 w 6092992"/>
                <a:gd name="connsiteY2" fmla="*/ 0 h 1210320"/>
                <a:gd name="connsiteX3" fmla="*/ 6092992 w 6092992"/>
                <a:gd name="connsiteY3" fmla="*/ 201724 h 1210320"/>
                <a:gd name="connsiteX4" fmla="*/ 6092992 w 6092992"/>
                <a:gd name="connsiteY4" fmla="*/ 1008596 h 1210320"/>
                <a:gd name="connsiteX5" fmla="*/ 5891268 w 6092992"/>
                <a:gd name="connsiteY5" fmla="*/ 1210320 h 1210320"/>
                <a:gd name="connsiteX6" fmla="*/ 201724 w 6092992"/>
                <a:gd name="connsiteY6" fmla="*/ 1210320 h 1210320"/>
                <a:gd name="connsiteX7" fmla="*/ 0 w 6092992"/>
                <a:gd name="connsiteY7" fmla="*/ 1008596 h 1210320"/>
                <a:gd name="connsiteX8" fmla="*/ 0 w 6092992"/>
                <a:gd name="connsiteY8" fmla="*/ 201724 h 121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2992" h="1210320">
                  <a:moveTo>
                    <a:pt x="0" y="201724"/>
                  </a:moveTo>
                  <a:cubicBezTo>
                    <a:pt x="0" y="90315"/>
                    <a:pt x="90315" y="0"/>
                    <a:pt x="201724" y="0"/>
                  </a:cubicBezTo>
                  <a:lnTo>
                    <a:pt x="5891268" y="0"/>
                  </a:lnTo>
                  <a:cubicBezTo>
                    <a:pt x="6002677" y="0"/>
                    <a:pt x="6092992" y="90315"/>
                    <a:pt x="6092992" y="201724"/>
                  </a:cubicBezTo>
                  <a:lnTo>
                    <a:pt x="6092992" y="1008596"/>
                  </a:lnTo>
                  <a:cubicBezTo>
                    <a:pt x="6092992" y="1120005"/>
                    <a:pt x="6002677" y="1210320"/>
                    <a:pt x="5891268" y="1210320"/>
                  </a:cubicBezTo>
                  <a:lnTo>
                    <a:pt x="201724" y="1210320"/>
                  </a:lnTo>
                  <a:cubicBezTo>
                    <a:pt x="90315" y="1210320"/>
                    <a:pt x="0" y="1120005"/>
                    <a:pt x="0" y="1008596"/>
                  </a:cubicBezTo>
                  <a:lnTo>
                    <a:pt x="0" y="201724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74137" tIns="59083" rIns="274137" bIns="59083" numCol="1" spcCol="1270" anchor="ctr" anchorCtr="0">
              <a:noAutofit/>
            </a:bodyPr>
            <a:lstStyle/>
            <a:p>
              <a:pPr defTabSz="106671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Kumpulan data yang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saling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berhubungan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yang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disimpan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secara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bersama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tanpa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redundansi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(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pengulangan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)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untuk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memenuhi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berbagai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kebutuhan</a:t>
              </a:r>
              <a:endParaRPr lang="en-US" sz="2000" dirty="0">
                <a:solidFill>
                  <a:schemeClr val="tx2">
                    <a:lumMod val="75000"/>
                  </a:schemeClr>
                </a:solidFill>
                <a:latin typeface="Maiandra GD" panose="020E0502030308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632201" y="4689320"/>
            <a:ext cx="8128000" cy="1638361"/>
            <a:chOff x="2032000" y="4469579"/>
            <a:chExt cx="8128000" cy="1638360"/>
          </a:xfrm>
        </p:grpSpPr>
        <p:sp>
          <p:nvSpPr>
            <p:cNvPr id="13" name="Rectangle 12"/>
            <p:cNvSpPr/>
            <p:nvPr/>
          </p:nvSpPr>
          <p:spPr>
            <a:xfrm>
              <a:off x="2032000" y="5074739"/>
              <a:ext cx="8128000" cy="1033200"/>
            </a:xfrm>
            <a:prstGeom prst="rect">
              <a:avLst/>
            </a:prstGeom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2438400" y="4469579"/>
              <a:ext cx="6134868" cy="1210320"/>
            </a:xfrm>
            <a:custGeom>
              <a:avLst/>
              <a:gdLst>
                <a:gd name="connsiteX0" fmla="*/ 0 w 6134868"/>
                <a:gd name="connsiteY0" fmla="*/ 201724 h 1210320"/>
                <a:gd name="connsiteX1" fmla="*/ 201724 w 6134868"/>
                <a:gd name="connsiteY1" fmla="*/ 0 h 1210320"/>
                <a:gd name="connsiteX2" fmla="*/ 5933144 w 6134868"/>
                <a:gd name="connsiteY2" fmla="*/ 0 h 1210320"/>
                <a:gd name="connsiteX3" fmla="*/ 6134868 w 6134868"/>
                <a:gd name="connsiteY3" fmla="*/ 201724 h 1210320"/>
                <a:gd name="connsiteX4" fmla="*/ 6134868 w 6134868"/>
                <a:gd name="connsiteY4" fmla="*/ 1008596 h 1210320"/>
                <a:gd name="connsiteX5" fmla="*/ 5933144 w 6134868"/>
                <a:gd name="connsiteY5" fmla="*/ 1210320 h 1210320"/>
                <a:gd name="connsiteX6" fmla="*/ 201724 w 6134868"/>
                <a:gd name="connsiteY6" fmla="*/ 1210320 h 1210320"/>
                <a:gd name="connsiteX7" fmla="*/ 0 w 6134868"/>
                <a:gd name="connsiteY7" fmla="*/ 1008596 h 1210320"/>
                <a:gd name="connsiteX8" fmla="*/ 0 w 6134868"/>
                <a:gd name="connsiteY8" fmla="*/ 201724 h 121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34868" h="1210320">
                  <a:moveTo>
                    <a:pt x="0" y="201724"/>
                  </a:moveTo>
                  <a:cubicBezTo>
                    <a:pt x="0" y="90315"/>
                    <a:pt x="90315" y="0"/>
                    <a:pt x="201724" y="0"/>
                  </a:cubicBezTo>
                  <a:lnTo>
                    <a:pt x="5933144" y="0"/>
                  </a:lnTo>
                  <a:cubicBezTo>
                    <a:pt x="6044553" y="0"/>
                    <a:pt x="6134868" y="90315"/>
                    <a:pt x="6134868" y="201724"/>
                  </a:cubicBezTo>
                  <a:lnTo>
                    <a:pt x="6134868" y="1008596"/>
                  </a:lnTo>
                  <a:cubicBezTo>
                    <a:pt x="6134868" y="1120005"/>
                    <a:pt x="6044553" y="1210320"/>
                    <a:pt x="5933144" y="1210320"/>
                  </a:cubicBezTo>
                  <a:lnTo>
                    <a:pt x="201724" y="1210320"/>
                  </a:lnTo>
                  <a:cubicBezTo>
                    <a:pt x="90315" y="1210320"/>
                    <a:pt x="0" y="1120005"/>
                    <a:pt x="0" y="1008596"/>
                  </a:cubicBezTo>
                  <a:lnTo>
                    <a:pt x="0" y="201724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74137" tIns="59083" rIns="274137" bIns="59083" numCol="1" spcCol="1270" anchor="ctr" anchorCtr="0">
              <a:noAutofit/>
            </a:bodyPr>
            <a:lstStyle/>
            <a:p>
              <a:pPr defTabSz="106671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Kumpulan file/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tabel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yang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saling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berhubungan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yang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disimpan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dalam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media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penyimpanan</a:t>
              </a: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000" dirty="0" err="1">
                  <a:solidFill>
                    <a:schemeClr val="tx2">
                      <a:lumMod val="75000"/>
                    </a:schemeClr>
                  </a:solidFill>
                  <a:latin typeface="Maiandra GD" panose="020E0502030308020204" pitchFamily="34" charset="0"/>
                </a:rPr>
                <a:t>elektronis</a:t>
              </a:r>
              <a:endParaRPr lang="en-US" sz="2000" dirty="0">
                <a:solidFill>
                  <a:schemeClr val="tx2">
                    <a:lumMod val="75000"/>
                  </a:schemeClr>
                </a:solidFill>
                <a:latin typeface="Maiandra GD" panose="020E0502030308020204" pitchFamily="34" charset="0"/>
              </a:endParaRPr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58673" y="356433"/>
            <a:ext cx="4904172" cy="1226738"/>
          </a:xfrm>
        </p:spPr>
        <p:txBody>
          <a:bodyPr>
            <a:noAutofit/>
          </a:bodyPr>
          <a:lstStyle/>
          <a:p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DEFINISI</a:t>
            </a:r>
            <a:b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BASIS DATA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321" y="59025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2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94819" y="553791"/>
            <a:ext cx="4084002" cy="1751527"/>
          </a:xfrm>
        </p:spPr>
        <p:txBody>
          <a:bodyPr>
            <a:noAutofit/>
          </a:bodyPr>
          <a:lstStyle/>
          <a:p>
            <a:r>
              <a:rPr lang="en-US" sz="4000" spc="601" dirty="0">
                <a:solidFill>
                  <a:srgbClr val="730D4A"/>
                </a:solidFill>
                <a:latin typeface="+mn-lt"/>
                <a:ea typeface="KaiTi" panose="02010609060101010101" pitchFamily="49" charset="-122"/>
              </a:rPr>
              <a:t>DEFINISI</a:t>
            </a:r>
            <a:br>
              <a:rPr lang="en-US" sz="4000" spc="601" dirty="0">
                <a:solidFill>
                  <a:srgbClr val="730D4A"/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rgbClr val="730D4A"/>
                </a:solidFill>
                <a:latin typeface="+mn-lt"/>
                <a:ea typeface="KaiTi" panose="02010609060101010101" pitchFamily="49" charset="-122"/>
              </a:rPr>
              <a:t>SISTEM </a:t>
            </a:r>
            <a:br>
              <a:rPr lang="en-US" sz="4000" spc="601" dirty="0">
                <a:solidFill>
                  <a:srgbClr val="730D4A"/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rgbClr val="730D4A"/>
                </a:solidFill>
                <a:latin typeface="+mn-lt"/>
                <a:ea typeface="KaiTi" panose="02010609060101010101" pitchFamily="49" charset="-122"/>
              </a:rPr>
              <a:t>BASIS DATA</a:t>
            </a:r>
          </a:p>
        </p:txBody>
      </p:sp>
      <p:sp>
        <p:nvSpPr>
          <p:cNvPr id="9" name="Freeform 8"/>
          <p:cNvSpPr/>
          <p:nvPr/>
        </p:nvSpPr>
        <p:spPr>
          <a:xfrm>
            <a:off x="4378818" y="553795"/>
            <a:ext cx="7315200" cy="2189410"/>
          </a:xfrm>
          <a:custGeom>
            <a:avLst/>
            <a:gdLst>
              <a:gd name="connsiteX0" fmla="*/ 0 w 6380480"/>
              <a:gd name="connsiteY0" fmla="*/ 0 h 1693333"/>
              <a:gd name="connsiteX1" fmla="*/ 6380480 w 6380480"/>
              <a:gd name="connsiteY1" fmla="*/ 0 h 1693333"/>
              <a:gd name="connsiteX2" fmla="*/ 6380480 w 6380480"/>
              <a:gd name="connsiteY2" fmla="*/ 1693333 h 1693333"/>
              <a:gd name="connsiteX3" fmla="*/ 0 w 6380480"/>
              <a:gd name="connsiteY3" fmla="*/ 1693333 h 1693333"/>
              <a:gd name="connsiteX4" fmla="*/ 0 w 6380480"/>
              <a:gd name="connsiteY4" fmla="*/ 0 h 169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80480" h="1693333">
                <a:moveTo>
                  <a:pt x="0" y="0"/>
                </a:moveTo>
                <a:lnTo>
                  <a:pt x="6380480" y="0"/>
                </a:lnTo>
                <a:lnTo>
                  <a:pt x="6380480" y="1693333"/>
                </a:lnTo>
                <a:lnTo>
                  <a:pt x="0" y="16933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17170" tIns="217170" rIns="217170" bIns="217170" numCol="1" spcCol="1270" anchor="t" anchorCtr="0">
            <a:noAutofit/>
          </a:bodyPr>
          <a:lstStyle/>
          <a:p>
            <a:pPr defTabSz="253344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Sistem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yang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terdiri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atas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kumpulan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tabel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data yang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saling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berhubungan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(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dalam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sebuah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basis data di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sebuah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sistem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komputer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)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dan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sekumpulan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program (DBMS) yang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memungkinkan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user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untuk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mengakses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dan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memanipulasi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tabel-tabel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 data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tsb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027351" y="3080083"/>
            <a:ext cx="3227232" cy="3310726"/>
            <a:chOff x="4809186" y="3186984"/>
            <a:chExt cx="3227231" cy="322723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9186" y="3186984"/>
              <a:ext cx="3227231" cy="3227231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5954146" y="4200435"/>
              <a:ext cx="910442" cy="390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Tabel</a:t>
              </a:r>
              <a:r>
                <a:rPr lang="en-US" sz="2000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54146" y="5015679"/>
              <a:ext cx="939296" cy="390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Tabel</a:t>
              </a:r>
              <a:r>
                <a:rPr lang="en-US" sz="2000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54146" y="5830925"/>
              <a:ext cx="945708" cy="390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chemeClr val="bg1"/>
                  </a:solidFill>
                  <a:latin typeface="Maiandra GD" panose="020E0502030308020204" pitchFamily="34" charset="0"/>
                </a:rPr>
                <a:t>Tabel</a:t>
              </a:r>
              <a:r>
                <a:rPr lang="en-US" sz="2000" dirty="0">
                  <a:solidFill>
                    <a:schemeClr val="bg1"/>
                  </a:solidFill>
                  <a:latin typeface="Maiandra GD" panose="020E0502030308020204" pitchFamily="34" charset="0"/>
                </a:rPr>
                <a:t> 3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290" y="2544529"/>
            <a:ext cx="1532586" cy="1532587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V="1">
            <a:off x="5254583" y="3721994"/>
            <a:ext cx="3219717" cy="349653"/>
          </a:xfrm>
          <a:prstGeom prst="straightConnector1">
            <a:avLst/>
          </a:prstGeom>
          <a:ln w="762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295" y="5188470"/>
            <a:ext cx="1532586" cy="1532587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5254586" y="5563352"/>
            <a:ext cx="3317709" cy="538894"/>
          </a:xfrm>
          <a:prstGeom prst="straightConnector1">
            <a:avLst/>
          </a:prstGeom>
          <a:ln w="762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295" y="3855940"/>
            <a:ext cx="1532586" cy="1532587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 flipV="1">
            <a:off x="5254586" y="4735446"/>
            <a:ext cx="3317709" cy="49787"/>
          </a:xfrm>
          <a:prstGeom prst="straightConnector1">
            <a:avLst/>
          </a:prstGeom>
          <a:ln w="762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649" y="5631255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3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-1" y="-12126"/>
            <a:ext cx="12192002" cy="6869563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723826" y="2103502"/>
            <a:ext cx="3262519" cy="632859"/>
            <a:chOff x="4157215" y="574074"/>
            <a:chExt cx="3196605" cy="632859"/>
          </a:xfrm>
        </p:grpSpPr>
        <p:sp>
          <p:nvSpPr>
            <p:cNvPr id="9" name="Freeform 8"/>
            <p:cNvSpPr/>
            <p:nvPr/>
          </p:nvSpPr>
          <p:spPr>
            <a:xfrm>
              <a:off x="4399172" y="574074"/>
              <a:ext cx="2954648" cy="632859"/>
            </a:xfrm>
            <a:custGeom>
              <a:avLst/>
              <a:gdLst>
                <a:gd name="connsiteX0" fmla="*/ 0 w 5405120"/>
                <a:gd name="connsiteY0" fmla="*/ 0 h 1505029"/>
                <a:gd name="connsiteX1" fmla="*/ 4652606 w 5405120"/>
                <a:gd name="connsiteY1" fmla="*/ 0 h 1505029"/>
                <a:gd name="connsiteX2" fmla="*/ 5405120 w 5405120"/>
                <a:gd name="connsiteY2" fmla="*/ 752515 h 1505029"/>
                <a:gd name="connsiteX3" fmla="*/ 4652606 w 5405120"/>
                <a:gd name="connsiteY3" fmla="*/ 1505029 h 1505029"/>
                <a:gd name="connsiteX4" fmla="*/ 0 w 5405120"/>
                <a:gd name="connsiteY4" fmla="*/ 1505029 h 1505029"/>
                <a:gd name="connsiteX5" fmla="*/ 0 w 5405120"/>
                <a:gd name="connsiteY5" fmla="*/ 0 h 150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5120" h="1505029">
                  <a:moveTo>
                    <a:pt x="5405120" y="1505028"/>
                  </a:moveTo>
                  <a:lnTo>
                    <a:pt x="752514" y="1505028"/>
                  </a:lnTo>
                  <a:lnTo>
                    <a:pt x="0" y="752514"/>
                  </a:lnTo>
                  <a:lnTo>
                    <a:pt x="752514" y="1"/>
                  </a:lnTo>
                  <a:lnTo>
                    <a:pt x="5405120" y="1"/>
                  </a:lnTo>
                  <a:lnTo>
                    <a:pt x="5405120" y="1505028"/>
                  </a:lnTo>
                  <a:close/>
                </a:path>
              </a:pathLst>
            </a:custGeom>
            <a:solidFill>
              <a:srgbClr val="D9B93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9932" tIns="60962" rIns="113792" bIns="60962" numCol="1" spcCol="1270" anchor="ctr" anchorCtr="0">
              <a:noAutofit/>
            </a:bodyPr>
            <a:lstStyle/>
            <a:p>
              <a:pPr defTabSz="71114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solidFill>
                    <a:schemeClr val="tx1"/>
                  </a:solidFill>
                  <a:latin typeface="Maiandra GD" panose="020E0502030308020204" pitchFamily="34" charset="0"/>
                </a:rPr>
                <a:t>Hardware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157215" y="574074"/>
              <a:ext cx="632858" cy="632858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30" name="Group 29"/>
          <p:cNvGrpSpPr/>
          <p:nvPr/>
        </p:nvGrpSpPr>
        <p:grpSpPr>
          <a:xfrm>
            <a:off x="4680172" y="353446"/>
            <a:ext cx="3143444" cy="632859"/>
            <a:chOff x="4976703" y="2274597"/>
            <a:chExt cx="3143443" cy="632858"/>
          </a:xfrm>
        </p:grpSpPr>
        <p:sp>
          <p:nvSpPr>
            <p:cNvPr id="11" name="Freeform 10"/>
            <p:cNvSpPr/>
            <p:nvPr/>
          </p:nvSpPr>
          <p:spPr>
            <a:xfrm>
              <a:off x="5192146" y="2330418"/>
              <a:ext cx="2928000" cy="521216"/>
            </a:xfrm>
            <a:custGeom>
              <a:avLst/>
              <a:gdLst>
                <a:gd name="connsiteX0" fmla="*/ 0 w 5405120"/>
                <a:gd name="connsiteY0" fmla="*/ 0 h 1505029"/>
                <a:gd name="connsiteX1" fmla="*/ 4652606 w 5405120"/>
                <a:gd name="connsiteY1" fmla="*/ 0 h 1505029"/>
                <a:gd name="connsiteX2" fmla="*/ 5405120 w 5405120"/>
                <a:gd name="connsiteY2" fmla="*/ 752515 h 1505029"/>
                <a:gd name="connsiteX3" fmla="*/ 4652606 w 5405120"/>
                <a:gd name="connsiteY3" fmla="*/ 1505029 h 1505029"/>
                <a:gd name="connsiteX4" fmla="*/ 0 w 5405120"/>
                <a:gd name="connsiteY4" fmla="*/ 1505029 h 1505029"/>
                <a:gd name="connsiteX5" fmla="*/ 0 w 5405120"/>
                <a:gd name="connsiteY5" fmla="*/ 0 h 150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5120" h="1505029">
                  <a:moveTo>
                    <a:pt x="5405120" y="1505028"/>
                  </a:moveTo>
                  <a:lnTo>
                    <a:pt x="752514" y="1505028"/>
                  </a:lnTo>
                  <a:lnTo>
                    <a:pt x="0" y="752514"/>
                  </a:lnTo>
                  <a:lnTo>
                    <a:pt x="752514" y="1"/>
                  </a:lnTo>
                  <a:lnTo>
                    <a:pt x="5405120" y="1"/>
                  </a:lnTo>
                  <a:lnTo>
                    <a:pt x="5405120" y="1505028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9932" tIns="60962" rIns="113792" bIns="60960" numCol="1" spcCol="1270" anchor="ctr" anchorCtr="0">
              <a:noAutofit/>
            </a:bodyPr>
            <a:lstStyle/>
            <a:p>
              <a:pPr defTabSz="71114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latin typeface="Maiandra GD" panose="020E0502030308020204" pitchFamily="34" charset="0"/>
                </a:rPr>
                <a:t>Database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976703" y="2274597"/>
              <a:ext cx="632858" cy="632858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31" name="Group 30"/>
          <p:cNvGrpSpPr/>
          <p:nvPr/>
        </p:nvGrpSpPr>
        <p:grpSpPr>
          <a:xfrm>
            <a:off x="6046780" y="3071626"/>
            <a:ext cx="3511015" cy="633908"/>
            <a:chOff x="4476488" y="1446929"/>
            <a:chExt cx="3511015" cy="633907"/>
          </a:xfrm>
        </p:grpSpPr>
        <p:sp>
          <p:nvSpPr>
            <p:cNvPr id="13" name="Freeform 12"/>
            <p:cNvSpPr/>
            <p:nvPr/>
          </p:nvSpPr>
          <p:spPr>
            <a:xfrm>
              <a:off x="4639339" y="1522481"/>
              <a:ext cx="3348164" cy="558355"/>
            </a:xfrm>
            <a:custGeom>
              <a:avLst/>
              <a:gdLst>
                <a:gd name="connsiteX0" fmla="*/ 0 w 5405120"/>
                <a:gd name="connsiteY0" fmla="*/ 0 h 1505029"/>
                <a:gd name="connsiteX1" fmla="*/ 4652606 w 5405120"/>
                <a:gd name="connsiteY1" fmla="*/ 0 h 1505029"/>
                <a:gd name="connsiteX2" fmla="*/ 5405120 w 5405120"/>
                <a:gd name="connsiteY2" fmla="*/ 752515 h 1505029"/>
                <a:gd name="connsiteX3" fmla="*/ 4652606 w 5405120"/>
                <a:gd name="connsiteY3" fmla="*/ 1505029 h 1505029"/>
                <a:gd name="connsiteX4" fmla="*/ 0 w 5405120"/>
                <a:gd name="connsiteY4" fmla="*/ 1505029 h 1505029"/>
                <a:gd name="connsiteX5" fmla="*/ 0 w 5405120"/>
                <a:gd name="connsiteY5" fmla="*/ 0 h 150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5120" h="1505029">
                  <a:moveTo>
                    <a:pt x="5405120" y="1505028"/>
                  </a:moveTo>
                  <a:lnTo>
                    <a:pt x="752514" y="1505028"/>
                  </a:lnTo>
                  <a:lnTo>
                    <a:pt x="0" y="752514"/>
                  </a:lnTo>
                  <a:lnTo>
                    <a:pt x="752514" y="1"/>
                  </a:lnTo>
                  <a:lnTo>
                    <a:pt x="5405120" y="1"/>
                  </a:lnTo>
                  <a:lnTo>
                    <a:pt x="5405120" y="1505028"/>
                  </a:lnTo>
                  <a:close/>
                </a:path>
              </a:pathLst>
            </a:custGeom>
            <a:solidFill>
              <a:srgbClr val="00B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9932" tIns="60962" rIns="113794" bIns="60960" numCol="1" spcCol="1270" anchor="ctr" anchorCtr="0">
              <a:noAutofit/>
            </a:bodyPr>
            <a:lstStyle/>
            <a:p>
              <a:pPr defTabSz="71114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latin typeface="Maiandra GD" panose="020E0502030308020204" pitchFamily="34" charset="0"/>
                </a:rPr>
                <a:t>Operating System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476488" y="1446929"/>
              <a:ext cx="632858" cy="632858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29" name="Group 28"/>
          <p:cNvGrpSpPr/>
          <p:nvPr/>
        </p:nvGrpSpPr>
        <p:grpSpPr>
          <a:xfrm>
            <a:off x="5190897" y="1139183"/>
            <a:ext cx="3101788" cy="632859"/>
            <a:chOff x="5487430" y="3060331"/>
            <a:chExt cx="3101789" cy="632858"/>
          </a:xfrm>
        </p:grpSpPr>
        <p:sp>
          <p:nvSpPr>
            <p:cNvPr id="15" name="Freeform 14"/>
            <p:cNvSpPr/>
            <p:nvPr/>
          </p:nvSpPr>
          <p:spPr>
            <a:xfrm>
              <a:off x="5757979" y="3129197"/>
              <a:ext cx="2831240" cy="531247"/>
            </a:xfrm>
            <a:custGeom>
              <a:avLst/>
              <a:gdLst>
                <a:gd name="connsiteX0" fmla="*/ 0 w 5405120"/>
                <a:gd name="connsiteY0" fmla="*/ 0 h 1505029"/>
                <a:gd name="connsiteX1" fmla="*/ 4652606 w 5405120"/>
                <a:gd name="connsiteY1" fmla="*/ 0 h 1505029"/>
                <a:gd name="connsiteX2" fmla="*/ 5405120 w 5405120"/>
                <a:gd name="connsiteY2" fmla="*/ 752515 h 1505029"/>
                <a:gd name="connsiteX3" fmla="*/ 4652606 w 5405120"/>
                <a:gd name="connsiteY3" fmla="*/ 1505029 h 1505029"/>
                <a:gd name="connsiteX4" fmla="*/ 0 w 5405120"/>
                <a:gd name="connsiteY4" fmla="*/ 1505029 h 1505029"/>
                <a:gd name="connsiteX5" fmla="*/ 0 w 5405120"/>
                <a:gd name="connsiteY5" fmla="*/ 0 h 150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5120" h="1505029">
                  <a:moveTo>
                    <a:pt x="5405120" y="1505028"/>
                  </a:moveTo>
                  <a:lnTo>
                    <a:pt x="752514" y="1505028"/>
                  </a:lnTo>
                  <a:lnTo>
                    <a:pt x="0" y="752514"/>
                  </a:lnTo>
                  <a:lnTo>
                    <a:pt x="752514" y="1"/>
                  </a:lnTo>
                  <a:lnTo>
                    <a:pt x="5405120" y="1"/>
                  </a:lnTo>
                  <a:lnTo>
                    <a:pt x="5405120" y="1505028"/>
                  </a:lnTo>
                  <a:close/>
                </a:path>
              </a:pathLst>
            </a:custGeom>
            <a:solidFill>
              <a:srgbClr val="2B8B95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9932" tIns="60962" rIns="113792" bIns="60960" numCol="1" spcCol="1270" anchor="ctr" anchorCtr="0">
              <a:noAutofit/>
            </a:bodyPr>
            <a:lstStyle/>
            <a:p>
              <a:r>
                <a:rPr lang="en-US" sz="2000" dirty="0">
                  <a:latin typeface="Maiandra GD" panose="020E0502030308020204" pitchFamily="34" charset="0"/>
                </a:rPr>
                <a:t>DBMS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487430" y="3060331"/>
              <a:ext cx="632858" cy="632858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32912" y="320074"/>
            <a:ext cx="3691388" cy="1775012"/>
          </a:xfrm>
        </p:spPr>
        <p:txBody>
          <a:bodyPr>
            <a:noAutofit/>
          </a:bodyPr>
          <a:lstStyle/>
          <a:p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KOMPONEN</a:t>
            </a:r>
            <a:b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SISTEM</a:t>
            </a:r>
            <a:b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BASIS DATA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640618" y="4011443"/>
            <a:ext cx="3617480" cy="632859"/>
            <a:chOff x="5992912" y="3859040"/>
            <a:chExt cx="3089089" cy="632858"/>
          </a:xfrm>
        </p:grpSpPr>
        <p:sp>
          <p:nvSpPr>
            <p:cNvPr id="23" name="Freeform 22"/>
            <p:cNvSpPr/>
            <p:nvPr/>
          </p:nvSpPr>
          <p:spPr>
            <a:xfrm>
              <a:off x="6250761" y="3927906"/>
              <a:ext cx="2831240" cy="531247"/>
            </a:xfrm>
            <a:custGeom>
              <a:avLst/>
              <a:gdLst>
                <a:gd name="connsiteX0" fmla="*/ 0 w 5405120"/>
                <a:gd name="connsiteY0" fmla="*/ 0 h 1505029"/>
                <a:gd name="connsiteX1" fmla="*/ 4652606 w 5405120"/>
                <a:gd name="connsiteY1" fmla="*/ 0 h 1505029"/>
                <a:gd name="connsiteX2" fmla="*/ 5405120 w 5405120"/>
                <a:gd name="connsiteY2" fmla="*/ 752515 h 1505029"/>
                <a:gd name="connsiteX3" fmla="*/ 4652606 w 5405120"/>
                <a:gd name="connsiteY3" fmla="*/ 1505029 h 1505029"/>
                <a:gd name="connsiteX4" fmla="*/ 0 w 5405120"/>
                <a:gd name="connsiteY4" fmla="*/ 1505029 h 1505029"/>
                <a:gd name="connsiteX5" fmla="*/ 0 w 5405120"/>
                <a:gd name="connsiteY5" fmla="*/ 0 h 150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5120" h="1505029">
                  <a:moveTo>
                    <a:pt x="5405120" y="1505028"/>
                  </a:moveTo>
                  <a:lnTo>
                    <a:pt x="752514" y="1505028"/>
                  </a:lnTo>
                  <a:lnTo>
                    <a:pt x="0" y="752514"/>
                  </a:lnTo>
                  <a:lnTo>
                    <a:pt x="752514" y="1"/>
                  </a:lnTo>
                  <a:lnTo>
                    <a:pt x="5405120" y="1"/>
                  </a:lnTo>
                  <a:lnTo>
                    <a:pt x="5405120" y="1505028"/>
                  </a:lnTo>
                  <a:close/>
                </a:path>
              </a:pathLst>
            </a:custGeom>
            <a:solidFill>
              <a:srgbClr val="94E8E8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9932" tIns="60962" rIns="113792" bIns="60960" numCol="1" spcCol="1270" anchor="ctr" anchorCtr="0">
              <a:noAutofit/>
            </a:bodyPr>
            <a:lstStyle/>
            <a:p>
              <a:r>
                <a:rPr lang="en-US" sz="2000" dirty="0" smtClean="0">
                  <a:solidFill>
                    <a:schemeClr val="tx1"/>
                  </a:solidFill>
                  <a:latin typeface="Maiandra GD" panose="020E0502030308020204" pitchFamily="34" charset="0"/>
                </a:rPr>
                <a:t>User</a:t>
              </a:r>
              <a:endParaRPr lang="en-US" sz="2000" dirty="0">
                <a:solidFill>
                  <a:schemeClr val="tx1"/>
                </a:solidFill>
                <a:latin typeface="Maiandra GD" panose="020E0502030308020204" pitchFamily="34" charset="0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5992912" y="3859040"/>
              <a:ext cx="632858" cy="632858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27" name="Group 26"/>
          <p:cNvGrpSpPr/>
          <p:nvPr/>
        </p:nvGrpSpPr>
        <p:grpSpPr>
          <a:xfrm>
            <a:off x="7283986" y="4851989"/>
            <a:ext cx="3867489" cy="632859"/>
            <a:chOff x="6625770" y="4634328"/>
            <a:chExt cx="3867489" cy="632858"/>
          </a:xfrm>
        </p:grpSpPr>
        <p:sp>
          <p:nvSpPr>
            <p:cNvPr id="25" name="Freeform 24"/>
            <p:cNvSpPr/>
            <p:nvPr/>
          </p:nvSpPr>
          <p:spPr>
            <a:xfrm>
              <a:off x="6858218" y="4690494"/>
              <a:ext cx="3635041" cy="531247"/>
            </a:xfrm>
            <a:custGeom>
              <a:avLst/>
              <a:gdLst>
                <a:gd name="connsiteX0" fmla="*/ 0 w 5405120"/>
                <a:gd name="connsiteY0" fmla="*/ 0 h 1505029"/>
                <a:gd name="connsiteX1" fmla="*/ 4652606 w 5405120"/>
                <a:gd name="connsiteY1" fmla="*/ 0 h 1505029"/>
                <a:gd name="connsiteX2" fmla="*/ 5405120 w 5405120"/>
                <a:gd name="connsiteY2" fmla="*/ 752515 h 1505029"/>
                <a:gd name="connsiteX3" fmla="*/ 4652606 w 5405120"/>
                <a:gd name="connsiteY3" fmla="*/ 1505029 h 1505029"/>
                <a:gd name="connsiteX4" fmla="*/ 0 w 5405120"/>
                <a:gd name="connsiteY4" fmla="*/ 1505029 h 1505029"/>
                <a:gd name="connsiteX5" fmla="*/ 0 w 5405120"/>
                <a:gd name="connsiteY5" fmla="*/ 0 h 150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5120" h="1505029">
                  <a:moveTo>
                    <a:pt x="5405120" y="1505028"/>
                  </a:moveTo>
                  <a:lnTo>
                    <a:pt x="752514" y="1505028"/>
                  </a:lnTo>
                  <a:lnTo>
                    <a:pt x="0" y="752514"/>
                  </a:lnTo>
                  <a:lnTo>
                    <a:pt x="752514" y="1"/>
                  </a:lnTo>
                  <a:lnTo>
                    <a:pt x="5405120" y="1"/>
                  </a:lnTo>
                  <a:lnTo>
                    <a:pt x="5405120" y="1505028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9932" tIns="60962" rIns="113792" bIns="60960" numCol="1" spcCol="1270" anchor="ctr" anchorCtr="0">
              <a:noAutofit/>
            </a:bodyPr>
            <a:lstStyle/>
            <a:p>
              <a:r>
                <a:rPr lang="en-US" sz="2000" dirty="0" smtClean="0">
                  <a:latin typeface="Maiandra GD" panose="020E0502030308020204" pitchFamily="34" charset="0"/>
                </a:rPr>
                <a:t>Software/</a:t>
              </a:r>
              <a:r>
                <a:rPr lang="en-US" sz="2000" dirty="0" err="1" smtClean="0">
                  <a:latin typeface="Maiandra GD" panose="020E0502030308020204" pitchFamily="34" charset="0"/>
                </a:rPr>
                <a:t>Aplikasi</a:t>
              </a:r>
              <a:r>
                <a:rPr lang="en-US" sz="2000" dirty="0" smtClean="0">
                  <a:latin typeface="Maiandra GD" panose="020E0502030308020204" pitchFamily="34" charset="0"/>
                </a:rPr>
                <a:t> lain</a:t>
              </a:r>
              <a:endParaRPr lang="en-US" sz="2000" dirty="0">
                <a:latin typeface="Maiandra GD" panose="020E0502030308020204" pitchFamily="34" charset="0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6625770" y="4634328"/>
              <a:ext cx="632858" cy="632858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5953" y="36527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1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34634" y="2932326"/>
            <a:ext cx="4795712" cy="1197662"/>
          </a:xfrm>
        </p:spPr>
        <p:txBody>
          <a:bodyPr>
            <a:noAutofit/>
          </a:bodyPr>
          <a:lstStyle/>
          <a:p>
            <a:r>
              <a:rPr lang="en-US" sz="4000" spc="601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KEUNTUNGAN BASIS </a:t>
            </a:r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DATA</a:t>
            </a:r>
          </a:p>
        </p:txBody>
      </p:sp>
      <p:sp>
        <p:nvSpPr>
          <p:cNvPr id="6" name="Block Arc 5"/>
          <p:cNvSpPr/>
          <p:nvPr/>
        </p:nvSpPr>
        <p:spPr>
          <a:xfrm>
            <a:off x="-837605" y="-2"/>
            <a:ext cx="7293488" cy="7893426"/>
          </a:xfrm>
          <a:prstGeom prst="blockArc">
            <a:avLst>
              <a:gd name="adj1" fmla="val 18789252"/>
              <a:gd name="adj2" fmla="val 2641215"/>
              <a:gd name="adj3" fmla="val 0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" name="Group 3"/>
          <p:cNvGrpSpPr/>
          <p:nvPr/>
        </p:nvGrpSpPr>
        <p:grpSpPr>
          <a:xfrm>
            <a:off x="5175668" y="1034090"/>
            <a:ext cx="5381684" cy="627406"/>
            <a:chOff x="4315053" y="1034089"/>
            <a:chExt cx="5381684" cy="627407"/>
          </a:xfrm>
        </p:grpSpPr>
        <p:sp>
          <p:nvSpPr>
            <p:cNvPr id="7" name="Freeform 6"/>
            <p:cNvSpPr/>
            <p:nvPr/>
          </p:nvSpPr>
          <p:spPr>
            <a:xfrm>
              <a:off x="4315053" y="1034089"/>
              <a:ext cx="5381684" cy="627407"/>
            </a:xfrm>
            <a:custGeom>
              <a:avLst/>
              <a:gdLst>
                <a:gd name="connsiteX0" fmla="*/ 0 w 7301111"/>
                <a:gd name="connsiteY0" fmla="*/ 0 h 1083733"/>
                <a:gd name="connsiteX1" fmla="*/ 7301111 w 7301111"/>
                <a:gd name="connsiteY1" fmla="*/ 0 h 1083733"/>
                <a:gd name="connsiteX2" fmla="*/ 7301111 w 7301111"/>
                <a:gd name="connsiteY2" fmla="*/ 1083733 h 1083733"/>
                <a:gd name="connsiteX3" fmla="*/ 0 w 7301111"/>
                <a:gd name="connsiteY3" fmla="*/ 1083733 h 1083733"/>
                <a:gd name="connsiteX4" fmla="*/ 0 w 7301111"/>
                <a:gd name="connsiteY4" fmla="*/ 0 h 108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111" h="1083733">
                  <a:moveTo>
                    <a:pt x="0" y="0"/>
                  </a:moveTo>
                  <a:lnTo>
                    <a:pt x="7301111" y="0"/>
                  </a:lnTo>
                  <a:lnTo>
                    <a:pt x="7301111" y="1083733"/>
                  </a:lnTo>
                  <a:lnTo>
                    <a:pt x="0" y="10837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9380" rIns="119380" bIns="119380" numCol="1" spcCol="1270" anchor="ctr" anchorCtr="0">
              <a:noAutofit/>
            </a:bodyPr>
            <a:lstStyle/>
            <a:p>
              <a:pPr defTabSz="208897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1" dirty="0" err="1" smtClean="0">
                  <a:solidFill>
                    <a:srgbClr val="C00000"/>
                  </a:solidFill>
                  <a:latin typeface="Maiandra GD" panose="020E0502030308020204" pitchFamily="34" charset="0"/>
                </a:rPr>
                <a:t>Kecepatan</a:t>
              </a:r>
              <a:r>
                <a:rPr lang="en-US" sz="2201" dirty="0" smtClean="0">
                  <a:solidFill>
                    <a:srgbClr val="C00000"/>
                  </a:solidFill>
                  <a:latin typeface="Maiandra GD" panose="020E0502030308020204" pitchFamily="34" charset="0"/>
                </a:rPr>
                <a:t> &amp; </a:t>
              </a:r>
              <a:r>
                <a:rPr lang="en-US" sz="2201" dirty="0" err="1" smtClean="0">
                  <a:solidFill>
                    <a:srgbClr val="C00000"/>
                  </a:solidFill>
                  <a:latin typeface="Maiandra GD" panose="020E0502030308020204" pitchFamily="34" charset="0"/>
                </a:rPr>
                <a:t>Kemudahan</a:t>
              </a:r>
              <a:r>
                <a:rPr lang="en-US" sz="2201" dirty="0" smtClean="0">
                  <a:solidFill>
                    <a:srgbClr val="C00000"/>
                  </a:solidFill>
                  <a:latin typeface="Maiandra GD" panose="020E0502030308020204" pitchFamily="34" charset="0"/>
                </a:rPr>
                <a:t> (Speed)</a:t>
              </a:r>
              <a:endParaRPr lang="en-US" sz="2201" dirty="0">
                <a:solidFill>
                  <a:srgbClr val="C00000"/>
                </a:solidFill>
                <a:latin typeface="Maiandra GD" panose="020E0502030308020204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4377817" y="1075181"/>
              <a:ext cx="586315" cy="586315"/>
            </a:xfrm>
            <a:prstGeom prst="ellipse">
              <a:avLst/>
            </a:prstGeom>
            <a:solidFill>
              <a:srgbClr val="C25A7A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9" name="Group 8"/>
          <p:cNvGrpSpPr/>
          <p:nvPr/>
        </p:nvGrpSpPr>
        <p:grpSpPr>
          <a:xfrm>
            <a:off x="5567916" y="1749158"/>
            <a:ext cx="5585273" cy="627406"/>
            <a:chOff x="4853368" y="1803009"/>
            <a:chExt cx="5585272" cy="627407"/>
          </a:xfrm>
        </p:grpSpPr>
        <p:sp>
          <p:nvSpPr>
            <p:cNvPr id="22" name="Freeform 21"/>
            <p:cNvSpPr/>
            <p:nvPr/>
          </p:nvSpPr>
          <p:spPr>
            <a:xfrm>
              <a:off x="4853368" y="1803009"/>
              <a:ext cx="5585272" cy="627407"/>
            </a:xfrm>
            <a:custGeom>
              <a:avLst/>
              <a:gdLst>
                <a:gd name="connsiteX0" fmla="*/ 0 w 6907174"/>
                <a:gd name="connsiteY0" fmla="*/ 0 h 1083733"/>
                <a:gd name="connsiteX1" fmla="*/ 6907174 w 6907174"/>
                <a:gd name="connsiteY1" fmla="*/ 0 h 1083733"/>
                <a:gd name="connsiteX2" fmla="*/ 6907174 w 6907174"/>
                <a:gd name="connsiteY2" fmla="*/ 1083733 h 1083733"/>
                <a:gd name="connsiteX3" fmla="*/ 0 w 6907174"/>
                <a:gd name="connsiteY3" fmla="*/ 1083733 h 1083733"/>
                <a:gd name="connsiteX4" fmla="*/ 0 w 6907174"/>
                <a:gd name="connsiteY4" fmla="*/ 0 h 108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7174" h="1083733">
                  <a:moveTo>
                    <a:pt x="0" y="0"/>
                  </a:moveTo>
                  <a:lnTo>
                    <a:pt x="6907174" y="0"/>
                  </a:lnTo>
                  <a:lnTo>
                    <a:pt x="6907174" y="1083733"/>
                  </a:lnTo>
                  <a:lnTo>
                    <a:pt x="0" y="10837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9380" rIns="119380" bIns="119380" numCol="1" spcCol="1270" anchor="ctr" anchorCtr="0">
              <a:noAutofit/>
            </a:bodyPr>
            <a:lstStyle/>
            <a:p>
              <a:pPr defTabSz="208897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1" dirty="0" err="1">
                  <a:solidFill>
                    <a:schemeClr val="accent2">
                      <a:lumMod val="75000"/>
                    </a:schemeClr>
                  </a:solidFill>
                  <a:latin typeface="Maiandra GD" panose="020E0502030308020204" pitchFamily="34" charset="0"/>
                </a:rPr>
                <a:t>Efisiensi</a:t>
              </a:r>
              <a:r>
                <a:rPr lang="en-US" sz="2201" dirty="0">
                  <a:solidFill>
                    <a:schemeClr val="accent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accent2">
                      <a:lumMod val="75000"/>
                    </a:schemeClr>
                  </a:solidFill>
                  <a:latin typeface="Maiandra GD" panose="020E0502030308020204" pitchFamily="34" charset="0"/>
                </a:rPr>
                <a:t>ruang</a:t>
              </a:r>
              <a:r>
                <a:rPr lang="en-US" sz="2201" dirty="0">
                  <a:solidFill>
                    <a:schemeClr val="accent2">
                      <a:lumMod val="75000"/>
                    </a:schemeClr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chemeClr val="accent2">
                      <a:lumMod val="75000"/>
                    </a:schemeClr>
                  </a:solidFill>
                  <a:latin typeface="Maiandra GD" panose="020E0502030308020204" pitchFamily="34" charset="0"/>
                </a:rPr>
                <a:t>penyimpanan</a:t>
              </a:r>
              <a:r>
                <a:rPr lang="en-US" sz="2201" dirty="0">
                  <a:solidFill>
                    <a:schemeClr val="accent2">
                      <a:lumMod val="75000"/>
                    </a:schemeClr>
                  </a:solidFill>
                  <a:latin typeface="Maiandra GD" panose="020E0502030308020204" pitchFamily="34" charset="0"/>
                </a:rPr>
                <a:t> (Space)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4944430" y="1834338"/>
              <a:ext cx="586315" cy="586315"/>
            </a:xfrm>
            <a:prstGeom prst="ellipse">
              <a:avLst/>
            </a:prstGeom>
            <a:solidFill>
              <a:srgbClr val="F3F67A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37" name="Group 36"/>
          <p:cNvGrpSpPr/>
          <p:nvPr/>
        </p:nvGrpSpPr>
        <p:grpSpPr>
          <a:xfrm>
            <a:off x="5965957" y="2572399"/>
            <a:ext cx="4226841" cy="627406"/>
            <a:chOff x="4411401" y="3329272"/>
            <a:chExt cx="4226840" cy="627407"/>
          </a:xfrm>
        </p:grpSpPr>
        <p:sp>
          <p:nvSpPr>
            <p:cNvPr id="24" name="Freeform 23"/>
            <p:cNvSpPr/>
            <p:nvPr/>
          </p:nvSpPr>
          <p:spPr>
            <a:xfrm>
              <a:off x="4411401" y="3329272"/>
              <a:ext cx="4226840" cy="627407"/>
            </a:xfrm>
            <a:custGeom>
              <a:avLst/>
              <a:gdLst>
                <a:gd name="connsiteX0" fmla="*/ 0 w 7301111"/>
                <a:gd name="connsiteY0" fmla="*/ 0 h 1083733"/>
                <a:gd name="connsiteX1" fmla="*/ 7301111 w 7301111"/>
                <a:gd name="connsiteY1" fmla="*/ 0 h 1083733"/>
                <a:gd name="connsiteX2" fmla="*/ 7301111 w 7301111"/>
                <a:gd name="connsiteY2" fmla="*/ 1083733 h 1083733"/>
                <a:gd name="connsiteX3" fmla="*/ 0 w 7301111"/>
                <a:gd name="connsiteY3" fmla="*/ 1083733 h 1083733"/>
                <a:gd name="connsiteX4" fmla="*/ 0 w 7301111"/>
                <a:gd name="connsiteY4" fmla="*/ 0 h 108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111" h="1083733">
                  <a:moveTo>
                    <a:pt x="0" y="0"/>
                  </a:moveTo>
                  <a:lnTo>
                    <a:pt x="7301111" y="0"/>
                  </a:lnTo>
                  <a:lnTo>
                    <a:pt x="7301111" y="1083733"/>
                  </a:lnTo>
                  <a:lnTo>
                    <a:pt x="0" y="10837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9380" rIns="119380" bIns="119380" numCol="1" spcCol="1270" anchor="ctr" anchorCtr="0">
              <a:noAutofit/>
            </a:bodyPr>
            <a:lstStyle/>
            <a:p>
              <a:pPr defTabSz="208897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1" dirty="0" err="1">
                  <a:solidFill>
                    <a:srgbClr val="B846AA"/>
                  </a:solidFill>
                  <a:latin typeface="Maiandra GD" panose="020E0502030308020204" pitchFamily="34" charset="0"/>
                </a:rPr>
                <a:t>Keamanan</a:t>
              </a:r>
              <a:r>
                <a:rPr lang="en-US" sz="2201" dirty="0">
                  <a:solidFill>
                    <a:srgbClr val="B846AA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smtClean="0">
                  <a:solidFill>
                    <a:srgbClr val="B846AA"/>
                  </a:solidFill>
                  <a:latin typeface="Maiandra GD" panose="020E0502030308020204" pitchFamily="34" charset="0"/>
                </a:rPr>
                <a:t>data (Security</a:t>
              </a:r>
              <a:r>
                <a:rPr lang="en-US" sz="2201" dirty="0">
                  <a:solidFill>
                    <a:srgbClr val="B846AA"/>
                  </a:solidFill>
                  <a:latin typeface="Maiandra GD" panose="020E0502030308020204" pitchFamily="34" charset="0"/>
                </a:rPr>
                <a:t>)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4468396" y="3349337"/>
              <a:ext cx="586315" cy="586315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10" name="Group 9"/>
          <p:cNvGrpSpPr/>
          <p:nvPr/>
        </p:nvGrpSpPr>
        <p:grpSpPr>
          <a:xfrm>
            <a:off x="6142013" y="3483021"/>
            <a:ext cx="5745193" cy="627406"/>
            <a:chOff x="5148768" y="4425343"/>
            <a:chExt cx="6173655" cy="627407"/>
          </a:xfrm>
        </p:grpSpPr>
        <p:sp>
          <p:nvSpPr>
            <p:cNvPr id="26" name="Freeform 25"/>
            <p:cNvSpPr/>
            <p:nvPr/>
          </p:nvSpPr>
          <p:spPr>
            <a:xfrm>
              <a:off x="5148768" y="4425343"/>
              <a:ext cx="6173655" cy="627407"/>
            </a:xfrm>
            <a:custGeom>
              <a:avLst/>
              <a:gdLst>
                <a:gd name="connsiteX0" fmla="*/ 0 w 7301111"/>
                <a:gd name="connsiteY0" fmla="*/ 0 h 1083733"/>
                <a:gd name="connsiteX1" fmla="*/ 7301111 w 7301111"/>
                <a:gd name="connsiteY1" fmla="*/ 0 h 1083733"/>
                <a:gd name="connsiteX2" fmla="*/ 7301111 w 7301111"/>
                <a:gd name="connsiteY2" fmla="*/ 1083733 h 1083733"/>
                <a:gd name="connsiteX3" fmla="*/ 0 w 7301111"/>
                <a:gd name="connsiteY3" fmla="*/ 1083733 h 1083733"/>
                <a:gd name="connsiteX4" fmla="*/ 0 w 7301111"/>
                <a:gd name="connsiteY4" fmla="*/ 0 h 108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111" h="1083733">
                  <a:moveTo>
                    <a:pt x="0" y="0"/>
                  </a:moveTo>
                  <a:lnTo>
                    <a:pt x="7301111" y="0"/>
                  </a:lnTo>
                  <a:lnTo>
                    <a:pt x="7301111" y="1083733"/>
                  </a:lnTo>
                  <a:lnTo>
                    <a:pt x="0" y="10837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9380" rIns="119380" bIns="119380" numCol="1" spcCol="1270" anchor="ctr" anchorCtr="0">
              <a:noAutofit/>
            </a:bodyPr>
            <a:lstStyle/>
            <a:p>
              <a:pPr lvl="0"/>
              <a:r>
                <a:rPr lang="en-US" sz="2201" dirty="0" err="1">
                  <a:solidFill>
                    <a:srgbClr val="0070C0"/>
                  </a:solidFill>
                  <a:latin typeface="Maiandra GD" panose="020E0502030308020204" pitchFamily="34" charset="0"/>
                </a:rPr>
                <a:t>Kebersamaan</a:t>
              </a:r>
              <a:r>
                <a:rPr lang="en-US" sz="2201" dirty="0">
                  <a:solidFill>
                    <a:srgbClr val="0070C0"/>
                  </a:solidFill>
                  <a:latin typeface="Maiandra GD" panose="020E0502030308020204" pitchFamily="34" charset="0"/>
                </a:rPr>
                <a:t> </a:t>
              </a:r>
              <a:r>
                <a:rPr lang="en-US" sz="2201" dirty="0" err="1">
                  <a:solidFill>
                    <a:srgbClr val="0070C0"/>
                  </a:solidFill>
                  <a:latin typeface="Maiandra GD" panose="020E0502030308020204" pitchFamily="34" charset="0"/>
                </a:rPr>
                <a:t>Pemakaian</a:t>
              </a:r>
              <a:r>
                <a:rPr lang="en-US" sz="2201" dirty="0">
                  <a:solidFill>
                    <a:srgbClr val="0070C0"/>
                  </a:solidFill>
                  <a:latin typeface="Maiandra GD" panose="020E0502030308020204" pitchFamily="34" charset="0"/>
                </a:rPr>
                <a:t> (</a:t>
              </a:r>
              <a:r>
                <a:rPr lang="en-US" sz="2201" dirty="0" err="1">
                  <a:solidFill>
                    <a:srgbClr val="0070C0"/>
                  </a:solidFill>
                  <a:latin typeface="Maiandra GD" panose="020E0502030308020204" pitchFamily="34" charset="0"/>
                </a:rPr>
                <a:t>Sharebility</a:t>
              </a:r>
              <a:r>
                <a:rPr lang="en-US" sz="2201" dirty="0">
                  <a:solidFill>
                    <a:srgbClr val="0070C0"/>
                  </a:solidFill>
                  <a:latin typeface="Maiandra GD" panose="020E0502030308020204" pitchFamily="34" charset="0"/>
                </a:rPr>
                <a:t>)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5209600" y="4445890"/>
              <a:ext cx="586315" cy="58631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39" name="Group 38"/>
          <p:cNvGrpSpPr/>
          <p:nvPr/>
        </p:nvGrpSpPr>
        <p:grpSpPr>
          <a:xfrm>
            <a:off x="6092341" y="4396525"/>
            <a:ext cx="4617700" cy="627406"/>
            <a:chOff x="4061248" y="5386756"/>
            <a:chExt cx="4226840" cy="627407"/>
          </a:xfrm>
        </p:grpSpPr>
        <p:sp>
          <p:nvSpPr>
            <p:cNvPr id="28" name="Freeform 27"/>
            <p:cNvSpPr/>
            <p:nvPr/>
          </p:nvSpPr>
          <p:spPr>
            <a:xfrm>
              <a:off x="4061248" y="5386756"/>
              <a:ext cx="4226840" cy="627407"/>
            </a:xfrm>
            <a:custGeom>
              <a:avLst/>
              <a:gdLst>
                <a:gd name="connsiteX0" fmla="*/ 0 w 7301111"/>
                <a:gd name="connsiteY0" fmla="*/ 0 h 1083733"/>
                <a:gd name="connsiteX1" fmla="*/ 7301111 w 7301111"/>
                <a:gd name="connsiteY1" fmla="*/ 0 h 1083733"/>
                <a:gd name="connsiteX2" fmla="*/ 7301111 w 7301111"/>
                <a:gd name="connsiteY2" fmla="*/ 1083733 h 1083733"/>
                <a:gd name="connsiteX3" fmla="*/ 0 w 7301111"/>
                <a:gd name="connsiteY3" fmla="*/ 1083733 h 1083733"/>
                <a:gd name="connsiteX4" fmla="*/ 0 w 7301111"/>
                <a:gd name="connsiteY4" fmla="*/ 0 h 108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111" h="1083733">
                  <a:moveTo>
                    <a:pt x="0" y="0"/>
                  </a:moveTo>
                  <a:lnTo>
                    <a:pt x="7301111" y="0"/>
                  </a:lnTo>
                  <a:lnTo>
                    <a:pt x="7301111" y="1083733"/>
                  </a:lnTo>
                  <a:lnTo>
                    <a:pt x="0" y="10837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9380" rIns="119380" bIns="119380" numCol="1" spcCol="1270" anchor="ctr" anchorCtr="0">
              <a:noAutofit/>
            </a:bodyPr>
            <a:lstStyle/>
            <a:p>
              <a:pPr lvl="0"/>
              <a:r>
                <a:rPr lang="en-US" sz="2201" dirty="0" err="1" smtClean="0">
                  <a:solidFill>
                    <a:schemeClr val="accent6">
                      <a:lumMod val="50000"/>
                    </a:schemeClr>
                  </a:solidFill>
                  <a:latin typeface="Maiandra GD" panose="020E0502030308020204" pitchFamily="34" charset="0"/>
                </a:rPr>
                <a:t>Keakuratan</a:t>
              </a:r>
              <a:r>
                <a:rPr lang="en-US" sz="2201" dirty="0" smtClean="0">
                  <a:solidFill>
                    <a:schemeClr val="accent6">
                      <a:lumMod val="50000"/>
                    </a:schemeClr>
                  </a:solidFill>
                  <a:latin typeface="Maiandra GD" panose="020E0502030308020204" pitchFamily="34" charset="0"/>
                </a:rPr>
                <a:t> data </a:t>
              </a:r>
              <a:r>
                <a:rPr lang="en-US" sz="2201" dirty="0">
                  <a:solidFill>
                    <a:schemeClr val="accent6">
                      <a:lumMod val="50000"/>
                    </a:schemeClr>
                  </a:solidFill>
                  <a:latin typeface="Maiandra GD" panose="020E0502030308020204" pitchFamily="34" charset="0"/>
                </a:rPr>
                <a:t>(Accuracy)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4082725" y="5386756"/>
              <a:ext cx="586315" cy="586315"/>
            </a:xfrm>
            <a:prstGeom prst="ellipse">
              <a:avLst/>
            </a:prstGeom>
            <a:solidFill>
              <a:srgbClr val="90F97F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30" name="Rectangle 29"/>
          <p:cNvSpPr/>
          <p:nvPr/>
        </p:nvSpPr>
        <p:spPr>
          <a:xfrm>
            <a:off x="-12879" y="-2"/>
            <a:ext cx="12192000" cy="1014026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grpSp>
        <p:nvGrpSpPr>
          <p:cNvPr id="11" name="Group 10"/>
          <p:cNvGrpSpPr/>
          <p:nvPr/>
        </p:nvGrpSpPr>
        <p:grpSpPr>
          <a:xfrm>
            <a:off x="5753086" y="5244457"/>
            <a:ext cx="5272266" cy="640300"/>
            <a:chOff x="4892475" y="5244453"/>
            <a:chExt cx="5272265" cy="640301"/>
          </a:xfrm>
        </p:grpSpPr>
        <p:sp>
          <p:nvSpPr>
            <p:cNvPr id="32" name="Freeform 31"/>
            <p:cNvSpPr/>
            <p:nvPr/>
          </p:nvSpPr>
          <p:spPr>
            <a:xfrm>
              <a:off x="4892475" y="5257347"/>
              <a:ext cx="5272265" cy="627407"/>
            </a:xfrm>
            <a:custGeom>
              <a:avLst/>
              <a:gdLst>
                <a:gd name="connsiteX0" fmla="*/ 0 w 7301111"/>
                <a:gd name="connsiteY0" fmla="*/ 0 h 1083733"/>
                <a:gd name="connsiteX1" fmla="*/ 7301111 w 7301111"/>
                <a:gd name="connsiteY1" fmla="*/ 0 h 1083733"/>
                <a:gd name="connsiteX2" fmla="*/ 7301111 w 7301111"/>
                <a:gd name="connsiteY2" fmla="*/ 1083733 h 1083733"/>
                <a:gd name="connsiteX3" fmla="*/ 0 w 7301111"/>
                <a:gd name="connsiteY3" fmla="*/ 1083733 h 1083733"/>
                <a:gd name="connsiteX4" fmla="*/ 0 w 7301111"/>
                <a:gd name="connsiteY4" fmla="*/ 0 h 108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111" h="1083733">
                  <a:moveTo>
                    <a:pt x="0" y="0"/>
                  </a:moveTo>
                  <a:lnTo>
                    <a:pt x="7301111" y="0"/>
                  </a:lnTo>
                  <a:lnTo>
                    <a:pt x="7301111" y="1083733"/>
                  </a:lnTo>
                  <a:lnTo>
                    <a:pt x="0" y="10837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9380" rIns="119380" bIns="119380" numCol="1" spcCol="1270" anchor="ctr" anchorCtr="0">
              <a:noAutofit/>
            </a:bodyPr>
            <a:lstStyle/>
            <a:p>
              <a:pPr lvl="0"/>
              <a:r>
                <a:rPr lang="en-US" sz="2201" dirty="0" err="1" smtClean="0">
                  <a:solidFill>
                    <a:srgbClr val="002060"/>
                  </a:solidFill>
                  <a:latin typeface="Maiandra GD" panose="020E0502030308020204" pitchFamily="34" charset="0"/>
                </a:rPr>
                <a:t>Kelengkapan</a:t>
              </a:r>
              <a:r>
                <a:rPr lang="en-US" sz="2201" dirty="0" smtClean="0">
                  <a:solidFill>
                    <a:srgbClr val="002060"/>
                  </a:solidFill>
                  <a:latin typeface="Maiandra GD" panose="020E0502030308020204" pitchFamily="34" charset="0"/>
                </a:rPr>
                <a:t> data (Completeness)</a:t>
              </a:r>
              <a:endParaRPr lang="en-US" sz="2201" dirty="0">
                <a:solidFill>
                  <a:srgbClr val="002060"/>
                </a:solidFill>
                <a:latin typeface="Maiandra GD" panose="020E0502030308020204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988238" y="5244453"/>
              <a:ext cx="586315" cy="58631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12" name="Group 11"/>
          <p:cNvGrpSpPr/>
          <p:nvPr/>
        </p:nvGrpSpPr>
        <p:grpSpPr>
          <a:xfrm>
            <a:off x="5358163" y="6122984"/>
            <a:ext cx="5063307" cy="627406"/>
            <a:chOff x="4497551" y="6122983"/>
            <a:chExt cx="5063307" cy="627407"/>
          </a:xfrm>
        </p:grpSpPr>
        <p:sp>
          <p:nvSpPr>
            <p:cNvPr id="40" name="Freeform 39"/>
            <p:cNvSpPr/>
            <p:nvPr/>
          </p:nvSpPr>
          <p:spPr>
            <a:xfrm>
              <a:off x="4497551" y="6122983"/>
              <a:ext cx="5063307" cy="627407"/>
            </a:xfrm>
            <a:custGeom>
              <a:avLst/>
              <a:gdLst>
                <a:gd name="connsiteX0" fmla="*/ 0 w 7301111"/>
                <a:gd name="connsiteY0" fmla="*/ 0 h 1083733"/>
                <a:gd name="connsiteX1" fmla="*/ 7301111 w 7301111"/>
                <a:gd name="connsiteY1" fmla="*/ 0 h 1083733"/>
                <a:gd name="connsiteX2" fmla="*/ 7301111 w 7301111"/>
                <a:gd name="connsiteY2" fmla="*/ 1083733 h 1083733"/>
                <a:gd name="connsiteX3" fmla="*/ 0 w 7301111"/>
                <a:gd name="connsiteY3" fmla="*/ 1083733 h 1083733"/>
                <a:gd name="connsiteX4" fmla="*/ 0 w 7301111"/>
                <a:gd name="connsiteY4" fmla="*/ 0 h 108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111" h="1083733">
                  <a:moveTo>
                    <a:pt x="0" y="0"/>
                  </a:moveTo>
                  <a:lnTo>
                    <a:pt x="7301111" y="0"/>
                  </a:lnTo>
                  <a:lnTo>
                    <a:pt x="7301111" y="1083733"/>
                  </a:lnTo>
                  <a:lnTo>
                    <a:pt x="0" y="10837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9380" rIns="119380" bIns="119380" numCol="1" spcCol="1270" anchor="ctr" anchorCtr="0">
              <a:noAutofit/>
            </a:bodyPr>
            <a:lstStyle/>
            <a:p>
              <a:pPr lvl="0"/>
              <a:r>
                <a:rPr lang="en-US" sz="2201" dirty="0" err="1" smtClean="0">
                  <a:solidFill>
                    <a:schemeClr val="accent4">
                      <a:lumMod val="75000"/>
                    </a:schemeClr>
                  </a:solidFill>
                  <a:latin typeface="Maiandra GD" panose="020E0502030308020204" pitchFamily="34" charset="0"/>
                </a:rPr>
                <a:t>Aplikasi</a:t>
              </a:r>
              <a:r>
                <a:rPr lang="en-US" sz="2201" dirty="0" smtClean="0">
                  <a:solidFill>
                    <a:schemeClr val="accent4">
                      <a:lumMod val="75000"/>
                    </a:schemeClr>
                  </a:solidFill>
                  <a:latin typeface="Maiandra GD" panose="020E0502030308020204" pitchFamily="34" charset="0"/>
                </a:rPr>
                <a:t> (</a:t>
              </a:r>
              <a:r>
                <a:rPr lang="en-US" sz="2201" dirty="0" err="1" smtClean="0">
                  <a:solidFill>
                    <a:schemeClr val="accent4">
                      <a:lumMod val="75000"/>
                    </a:schemeClr>
                  </a:solidFill>
                  <a:latin typeface="Maiandra GD" panose="020E0502030308020204" pitchFamily="34" charset="0"/>
                </a:rPr>
                <a:t>Aplication</a:t>
              </a:r>
              <a:r>
                <a:rPr lang="en-US" sz="2201" dirty="0" smtClean="0">
                  <a:solidFill>
                    <a:schemeClr val="accent4">
                      <a:lumMod val="75000"/>
                    </a:schemeClr>
                  </a:solidFill>
                  <a:latin typeface="Maiandra GD" panose="020E0502030308020204" pitchFamily="34" charset="0"/>
                </a:rPr>
                <a:t>)</a:t>
              </a:r>
              <a:endParaRPr lang="en-US" sz="2201" dirty="0">
                <a:solidFill>
                  <a:schemeClr val="accent4">
                    <a:lumMod val="75000"/>
                  </a:schemeClr>
                </a:solidFill>
                <a:latin typeface="Maiandra GD" panose="020E0502030308020204" pitchFamily="34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4519029" y="6122983"/>
              <a:ext cx="586315" cy="586315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649" y="5631255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7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0" y="4"/>
            <a:ext cx="12192000" cy="6867614"/>
          </a:xfr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69058" y="1842662"/>
            <a:ext cx="4573397" cy="1209637"/>
          </a:xfrm>
        </p:spPr>
        <p:txBody>
          <a:bodyPr>
            <a:noAutofit/>
          </a:bodyPr>
          <a:lstStyle/>
          <a:p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OPERASI DASAR </a:t>
            </a:r>
            <a:b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BASIS DATA</a:t>
            </a:r>
          </a:p>
        </p:txBody>
      </p:sp>
      <p:sp>
        <p:nvSpPr>
          <p:cNvPr id="6" name="Freeform 5"/>
          <p:cNvSpPr/>
          <p:nvPr/>
        </p:nvSpPr>
        <p:spPr>
          <a:xfrm>
            <a:off x="2032000" y="719668"/>
            <a:ext cx="1625600" cy="5418667"/>
          </a:xfrm>
          <a:custGeom>
            <a:avLst/>
            <a:gdLst>
              <a:gd name="connsiteX0" fmla="*/ 0 w 1625600"/>
              <a:gd name="connsiteY0" fmla="*/ 0 h 5418667"/>
              <a:gd name="connsiteX1" fmla="*/ 1625600 w 1625600"/>
              <a:gd name="connsiteY1" fmla="*/ 0 h 5418667"/>
              <a:gd name="connsiteX2" fmla="*/ 1625600 w 1625600"/>
              <a:gd name="connsiteY2" fmla="*/ 5418667 h 5418667"/>
              <a:gd name="connsiteX3" fmla="*/ 0 w 1625600"/>
              <a:gd name="connsiteY3" fmla="*/ 5418667 h 5418667"/>
              <a:gd name="connsiteX4" fmla="*/ 0 w 1625600"/>
              <a:gd name="connsiteY4" fmla="*/ 0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0" h="5418667">
                <a:moveTo>
                  <a:pt x="0" y="0"/>
                </a:moveTo>
                <a:lnTo>
                  <a:pt x="1625600" y="0"/>
                </a:lnTo>
                <a:lnTo>
                  <a:pt x="1625600" y="5418667"/>
                </a:lnTo>
                <a:lnTo>
                  <a:pt x="0" y="541866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7641" tIns="167641" rIns="167641" bIns="167641" numCol="1" spcCol="1270" anchor="t" anchorCtr="0">
            <a:noAutofit/>
          </a:bodyPr>
          <a:lstStyle/>
          <a:p>
            <a:pPr defTabSz="195564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400"/>
          </a:p>
        </p:txBody>
      </p:sp>
      <p:grpSp>
        <p:nvGrpSpPr>
          <p:cNvPr id="13" name="Group 12"/>
          <p:cNvGrpSpPr/>
          <p:nvPr/>
        </p:nvGrpSpPr>
        <p:grpSpPr>
          <a:xfrm>
            <a:off x="4942637" y="1713869"/>
            <a:ext cx="6711963" cy="804334"/>
            <a:chOff x="3317408" y="1108560"/>
            <a:chExt cx="6711962" cy="804335"/>
          </a:xfrm>
        </p:grpSpPr>
        <p:sp>
          <p:nvSpPr>
            <p:cNvPr id="7" name="Freeform 6"/>
            <p:cNvSpPr/>
            <p:nvPr/>
          </p:nvSpPr>
          <p:spPr>
            <a:xfrm>
              <a:off x="3317408" y="1108560"/>
              <a:ext cx="6380480" cy="804335"/>
            </a:xfrm>
            <a:custGeom>
              <a:avLst/>
              <a:gdLst>
                <a:gd name="connsiteX0" fmla="*/ 0 w 6380480"/>
                <a:gd name="connsiteY0" fmla="*/ 0 h 1693333"/>
                <a:gd name="connsiteX1" fmla="*/ 6380480 w 6380480"/>
                <a:gd name="connsiteY1" fmla="*/ 0 h 1693333"/>
                <a:gd name="connsiteX2" fmla="*/ 6380480 w 6380480"/>
                <a:gd name="connsiteY2" fmla="*/ 1693333 h 1693333"/>
                <a:gd name="connsiteX3" fmla="*/ 0 w 6380480"/>
                <a:gd name="connsiteY3" fmla="*/ 1693333 h 1693333"/>
                <a:gd name="connsiteX4" fmla="*/ 0 w 6380480"/>
                <a:gd name="connsiteY4" fmla="*/ 0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0480" h="1693333">
                  <a:moveTo>
                    <a:pt x="0" y="0"/>
                  </a:moveTo>
                  <a:lnTo>
                    <a:pt x="6380480" y="0"/>
                  </a:lnTo>
                  <a:lnTo>
                    <a:pt x="6380480" y="1693333"/>
                  </a:lnTo>
                  <a:lnTo>
                    <a:pt x="0" y="169333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7170" tIns="217170" rIns="217170" bIns="217170" numCol="1" spcCol="1270" anchor="t" anchorCtr="0">
              <a:noAutofit/>
            </a:bodyPr>
            <a:lstStyle/>
            <a:p>
              <a:pPr defTabSz="253344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>
                  <a:latin typeface="Agency FB" panose="020B0503020202020204" pitchFamily="34" charset="0"/>
                </a:rPr>
                <a:t>Create database</a:t>
              </a: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3526970" y="1912895"/>
              <a:ext cx="65024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14" name="Group 13"/>
          <p:cNvGrpSpPr/>
          <p:nvPr/>
        </p:nvGrpSpPr>
        <p:grpSpPr>
          <a:xfrm>
            <a:off x="4942637" y="2552072"/>
            <a:ext cx="6711963" cy="804334"/>
            <a:chOff x="3317408" y="1946763"/>
            <a:chExt cx="6711962" cy="804335"/>
          </a:xfrm>
        </p:grpSpPr>
        <p:sp>
          <p:nvSpPr>
            <p:cNvPr id="9" name="Freeform 8"/>
            <p:cNvSpPr/>
            <p:nvPr/>
          </p:nvSpPr>
          <p:spPr>
            <a:xfrm>
              <a:off x="3317408" y="1946763"/>
              <a:ext cx="6380480" cy="804335"/>
            </a:xfrm>
            <a:custGeom>
              <a:avLst/>
              <a:gdLst>
                <a:gd name="connsiteX0" fmla="*/ 0 w 6380480"/>
                <a:gd name="connsiteY0" fmla="*/ 0 h 1693333"/>
                <a:gd name="connsiteX1" fmla="*/ 6380480 w 6380480"/>
                <a:gd name="connsiteY1" fmla="*/ 0 h 1693333"/>
                <a:gd name="connsiteX2" fmla="*/ 6380480 w 6380480"/>
                <a:gd name="connsiteY2" fmla="*/ 1693333 h 1693333"/>
                <a:gd name="connsiteX3" fmla="*/ 0 w 6380480"/>
                <a:gd name="connsiteY3" fmla="*/ 1693333 h 1693333"/>
                <a:gd name="connsiteX4" fmla="*/ 0 w 6380480"/>
                <a:gd name="connsiteY4" fmla="*/ 0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0480" h="1693333">
                  <a:moveTo>
                    <a:pt x="0" y="0"/>
                  </a:moveTo>
                  <a:lnTo>
                    <a:pt x="6380480" y="0"/>
                  </a:lnTo>
                  <a:lnTo>
                    <a:pt x="6380480" y="1693333"/>
                  </a:lnTo>
                  <a:lnTo>
                    <a:pt x="0" y="169333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7170" tIns="217170" rIns="217170" bIns="217170" numCol="1" spcCol="1270" anchor="t" anchorCtr="0">
              <a:noAutofit/>
            </a:bodyPr>
            <a:lstStyle/>
            <a:p>
              <a:pPr defTabSz="253344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>
                  <a:latin typeface="Agency FB" panose="020B0503020202020204" pitchFamily="34" charset="0"/>
                </a:rPr>
                <a:t>Drop Database</a:t>
              </a:r>
            </a:p>
          </p:txBody>
        </p:sp>
        <p:sp>
          <p:nvSpPr>
            <p:cNvPr id="10" name="Straight Connector 9"/>
            <p:cNvSpPr/>
            <p:nvPr/>
          </p:nvSpPr>
          <p:spPr>
            <a:xfrm>
              <a:off x="3526970" y="2730535"/>
              <a:ext cx="6502400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15" name="Group 14"/>
          <p:cNvGrpSpPr/>
          <p:nvPr/>
        </p:nvGrpSpPr>
        <p:grpSpPr>
          <a:xfrm>
            <a:off x="4999132" y="3335843"/>
            <a:ext cx="6655468" cy="804334"/>
            <a:chOff x="3373902" y="2730535"/>
            <a:chExt cx="6655468" cy="804334"/>
          </a:xfrm>
        </p:grpSpPr>
        <p:sp>
          <p:nvSpPr>
            <p:cNvPr id="11" name="Freeform 10"/>
            <p:cNvSpPr/>
            <p:nvPr/>
          </p:nvSpPr>
          <p:spPr>
            <a:xfrm>
              <a:off x="3373902" y="2730535"/>
              <a:ext cx="6380480" cy="804334"/>
            </a:xfrm>
            <a:custGeom>
              <a:avLst/>
              <a:gdLst>
                <a:gd name="connsiteX0" fmla="*/ 0 w 6380480"/>
                <a:gd name="connsiteY0" fmla="*/ 0 h 1693333"/>
                <a:gd name="connsiteX1" fmla="*/ 6380480 w 6380480"/>
                <a:gd name="connsiteY1" fmla="*/ 0 h 1693333"/>
                <a:gd name="connsiteX2" fmla="*/ 6380480 w 6380480"/>
                <a:gd name="connsiteY2" fmla="*/ 1693333 h 1693333"/>
                <a:gd name="connsiteX3" fmla="*/ 0 w 6380480"/>
                <a:gd name="connsiteY3" fmla="*/ 1693333 h 1693333"/>
                <a:gd name="connsiteX4" fmla="*/ 0 w 6380480"/>
                <a:gd name="connsiteY4" fmla="*/ 0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0480" h="1693333">
                  <a:moveTo>
                    <a:pt x="0" y="0"/>
                  </a:moveTo>
                  <a:lnTo>
                    <a:pt x="6380480" y="0"/>
                  </a:lnTo>
                  <a:lnTo>
                    <a:pt x="6380480" y="1693333"/>
                  </a:lnTo>
                  <a:lnTo>
                    <a:pt x="0" y="169333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7170" tIns="217170" rIns="217170" bIns="217170" numCol="1" spcCol="1270" anchor="t" anchorCtr="0">
              <a:noAutofit/>
            </a:bodyPr>
            <a:lstStyle/>
            <a:p>
              <a:pPr defTabSz="253344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>
                  <a:latin typeface="Agency FB" panose="020B0503020202020204" pitchFamily="34" charset="0"/>
                </a:rPr>
                <a:t>Create Table</a:t>
              </a:r>
            </a:p>
          </p:txBody>
        </p:sp>
        <p:sp>
          <p:nvSpPr>
            <p:cNvPr id="12" name="Straight Connector 11"/>
            <p:cNvSpPr/>
            <p:nvPr/>
          </p:nvSpPr>
          <p:spPr>
            <a:xfrm>
              <a:off x="3526970" y="3534869"/>
              <a:ext cx="650240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18" name="Group 17"/>
          <p:cNvGrpSpPr/>
          <p:nvPr/>
        </p:nvGrpSpPr>
        <p:grpSpPr>
          <a:xfrm>
            <a:off x="4999129" y="5008010"/>
            <a:ext cx="6944342" cy="853639"/>
            <a:chOff x="3373902" y="4402702"/>
            <a:chExt cx="6944343" cy="853639"/>
          </a:xfrm>
        </p:grpSpPr>
        <p:sp>
          <p:nvSpPr>
            <p:cNvPr id="30" name="Freeform 29"/>
            <p:cNvSpPr/>
            <p:nvPr/>
          </p:nvSpPr>
          <p:spPr>
            <a:xfrm>
              <a:off x="3373902" y="4402702"/>
              <a:ext cx="6944343" cy="853639"/>
            </a:xfrm>
            <a:custGeom>
              <a:avLst/>
              <a:gdLst>
                <a:gd name="connsiteX0" fmla="*/ 0 w 6380480"/>
                <a:gd name="connsiteY0" fmla="*/ 0 h 1693333"/>
                <a:gd name="connsiteX1" fmla="*/ 6380480 w 6380480"/>
                <a:gd name="connsiteY1" fmla="*/ 0 h 1693333"/>
                <a:gd name="connsiteX2" fmla="*/ 6380480 w 6380480"/>
                <a:gd name="connsiteY2" fmla="*/ 1693333 h 1693333"/>
                <a:gd name="connsiteX3" fmla="*/ 0 w 6380480"/>
                <a:gd name="connsiteY3" fmla="*/ 1693333 h 1693333"/>
                <a:gd name="connsiteX4" fmla="*/ 0 w 6380480"/>
                <a:gd name="connsiteY4" fmla="*/ 0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0480" h="1693333">
                  <a:moveTo>
                    <a:pt x="0" y="0"/>
                  </a:moveTo>
                  <a:lnTo>
                    <a:pt x="6380480" y="0"/>
                  </a:lnTo>
                  <a:lnTo>
                    <a:pt x="6380480" y="1693333"/>
                  </a:lnTo>
                  <a:lnTo>
                    <a:pt x="0" y="169333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7170" tIns="217170" rIns="217170" bIns="217170" numCol="1" spcCol="1270" anchor="t" anchorCtr="0">
              <a:noAutofit/>
            </a:bodyPr>
            <a:lstStyle/>
            <a:p>
              <a:pPr defTabSz="253344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>
                  <a:latin typeface="Agency FB" panose="020B0503020202020204" pitchFamily="34" charset="0"/>
                </a:rPr>
                <a:t>Insert, Update, Delete, Retrieve Data</a:t>
              </a:r>
            </a:p>
            <a:p>
              <a:pPr defTabSz="253344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800" dirty="0">
                <a:latin typeface="Agency FB" panose="020B0503020202020204" pitchFamily="34" charset="0"/>
              </a:endParaRPr>
            </a:p>
          </p:txBody>
        </p:sp>
        <p:sp>
          <p:nvSpPr>
            <p:cNvPr id="31" name="Straight Connector 30"/>
            <p:cNvSpPr/>
            <p:nvPr/>
          </p:nvSpPr>
          <p:spPr>
            <a:xfrm>
              <a:off x="3585028" y="5240618"/>
              <a:ext cx="6502400" cy="0"/>
            </a:xfrm>
            <a:prstGeom prst="line">
              <a:avLst/>
            </a:prstGeom>
            <a:ln>
              <a:solidFill>
                <a:srgbClr val="730D4A"/>
              </a:solidFill>
            </a:ln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16" name="Group 15"/>
          <p:cNvGrpSpPr/>
          <p:nvPr/>
        </p:nvGrpSpPr>
        <p:grpSpPr>
          <a:xfrm>
            <a:off x="4999129" y="4132567"/>
            <a:ext cx="6713525" cy="847308"/>
            <a:chOff x="3373902" y="3527255"/>
            <a:chExt cx="6713526" cy="847308"/>
          </a:xfrm>
        </p:grpSpPr>
        <p:sp>
          <p:nvSpPr>
            <p:cNvPr id="26" name="Freeform 25"/>
            <p:cNvSpPr/>
            <p:nvPr/>
          </p:nvSpPr>
          <p:spPr>
            <a:xfrm>
              <a:off x="3373902" y="3527255"/>
              <a:ext cx="6380480" cy="847308"/>
            </a:xfrm>
            <a:custGeom>
              <a:avLst/>
              <a:gdLst>
                <a:gd name="connsiteX0" fmla="*/ 0 w 6380480"/>
                <a:gd name="connsiteY0" fmla="*/ 0 h 1693333"/>
                <a:gd name="connsiteX1" fmla="*/ 6380480 w 6380480"/>
                <a:gd name="connsiteY1" fmla="*/ 0 h 1693333"/>
                <a:gd name="connsiteX2" fmla="*/ 6380480 w 6380480"/>
                <a:gd name="connsiteY2" fmla="*/ 1693333 h 1693333"/>
                <a:gd name="connsiteX3" fmla="*/ 0 w 6380480"/>
                <a:gd name="connsiteY3" fmla="*/ 1693333 h 1693333"/>
                <a:gd name="connsiteX4" fmla="*/ 0 w 6380480"/>
                <a:gd name="connsiteY4" fmla="*/ 0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0480" h="1693333">
                  <a:moveTo>
                    <a:pt x="0" y="0"/>
                  </a:moveTo>
                  <a:lnTo>
                    <a:pt x="6380480" y="0"/>
                  </a:lnTo>
                  <a:lnTo>
                    <a:pt x="6380480" y="1693333"/>
                  </a:lnTo>
                  <a:lnTo>
                    <a:pt x="0" y="169333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7170" tIns="217170" rIns="217170" bIns="217170" numCol="1" spcCol="1270" anchor="t" anchorCtr="0">
              <a:noAutofit/>
            </a:bodyPr>
            <a:lstStyle/>
            <a:p>
              <a:pPr lvl="0"/>
              <a:r>
                <a:rPr lang="en-US" sz="2800" dirty="0">
                  <a:latin typeface="Agency FB" panose="020B0503020202020204" pitchFamily="34" charset="0"/>
                </a:rPr>
                <a:t>Drop Table</a:t>
              </a:r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3585028" y="4374563"/>
              <a:ext cx="6502400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2308" y="21786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9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73982" y="1136622"/>
            <a:ext cx="4819349" cy="205336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ORGANISASI YG MEMANFAATKAN</a:t>
            </a:r>
            <a:b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</a:br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BASIS DATA</a:t>
            </a:r>
          </a:p>
        </p:txBody>
      </p:sp>
      <p:sp>
        <p:nvSpPr>
          <p:cNvPr id="17" name="Freeform 16"/>
          <p:cNvSpPr/>
          <p:nvPr/>
        </p:nvSpPr>
        <p:spPr>
          <a:xfrm>
            <a:off x="6138444" y="1136620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2" rIns="272320" bIns="313012" numCol="1" spcCol="1270" anchor="ctr" anchorCtr="0">
            <a:noAutofit/>
          </a:bodyPr>
          <a:lstStyle/>
          <a:p>
            <a:pPr algn="ctr" defTabSz="88892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1" dirty="0" err="1">
                <a:latin typeface="Maiandra GD" panose="020E0502030308020204" pitchFamily="34" charset="0"/>
              </a:rPr>
              <a:t>Industri</a:t>
            </a:r>
            <a:r>
              <a:rPr lang="en-US" sz="1801" dirty="0">
                <a:latin typeface="Maiandra GD" panose="020E0502030308020204" pitchFamily="34" charset="0"/>
              </a:rPr>
              <a:t> </a:t>
            </a:r>
            <a:r>
              <a:rPr lang="en-US" sz="1801" dirty="0" err="1">
                <a:latin typeface="Maiandra GD" panose="020E0502030308020204" pitchFamily="34" charset="0"/>
              </a:rPr>
              <a:t>Manufaktur</a:t>
            </a:r>
            <a:endParaRPr lang="en-US" sz="1801" dirty="0">
              <a:latin typeface="Maiandra GD" panose="020E0502030308020204" pitchFamily="34" charset="0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8025753" y="1136620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3280" tIns="373972" rIns="333280" bIns="373972" numCol="1" spcCol="1270" anchor="ctr" anchorCtr="0">
            <a:noAutofit/>
          </a:bodyPr>
          <a:lstStyle/>
          <a:p>
            <a:pPr algn="ctr" defTabSz="7111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1" dirty="0" err="1">
                <a:solidFill>
                  <a:schemeClr val="tx1"/>
                </a:solidFill>
                <a:latin typeface="Maiandra GD" panose="020E0502030308020204" pitchFamily="34" charset="0"/>
              </a:rPr>
              <a:t>Perbankan</a:t>
            </a:r>
            <a:endParaRPr lang="en-US" sz="1801" dirty="0">
              <a:solidFill>
                <a:schemeClr val="tx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7078483" y="2777152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3280" tIns="373972" rIns="333280" bIns="373972" numCol="1" spcCol="1270" anchor="ctr" anchorCtr="0">
            <a:noAutofit/>
          </a:bodyPr>
          <a:lstStyle/>
          <a:p>
            <a:pPr algn="ctr" defTabSz="7111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aiandra GD" panose="020E0502030308020204" pitchFamily="34" charset="0"/>
              </a:rPr>
              <a:t>Asuransi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8965790" y="2777152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rgbClr val="37C9C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2" rIns="272320" bIns="313012" numCol="1" spcCol="1270" anchor="ctr" anchorCtr="0">
            <a:noAutofit/>
          </a:bodyPr>
          <a:lstStyle/>
          <a:p>
            <a:pPr algn="ctr" defTabSz="115560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dirty="0">
                <a:solidFill>
                  <a:srgbClr val="002060"/>
                </a:solidFill>
                <a:latin typeface="Maiandra GD" panose="020E0502030308020204" pitchFamily="34" charset="0"/>
              </a:rPr>
              <a:t>Telekomunikasi</a:t>
            </a:r>
          </a:p>
        </p:txBody>
      </p:sp>
      <p:sp>
        <p:nvSpPr>
          <p:cNvPr id="21" name="Freeform 20"/>
          <p:cNvSpPr/>
          <p:nvPr/>
        </p:nvSpPr>
        <p:spPr>
          <a:xfrm>
            <a:off x="8025753" y="4482074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rgbClr val="EE7A8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3280" tIns="373972" rIns="333280" bIns="373972" numCol="1" spcCol="1270" anchor="ctr" anchorCtr="0">
            <a:noAutofit/>
          </a:bodyPr>
          <a:lstStyle/>
          <a:p>
            <a:pPr algn="ctr" defTabSz="7111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solidFill>
                  <a:schemeClr val="tx1"/>
                </a:solidFill>
                <a:latin typeface="Maiandra GD" panose="020E0502030308020204" pitchFamily="34" charset="0"/>
              </a:rPr>
              <a:t>Rumah</a:t>
            </a: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Maiandra GD" panose="020E0502030308020204" pitchFamily="34" charset="0"/>
              </a:rPr>
              <a:t>Sakit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9826286" y="4948193"/>
            <a:ext cx="2241628" cy="1205177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defTabSz="7111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dirty="0"/>
          </a:p>
        </p:txBody>
      </p:sp>
      <p:sp>
        <p:nvSpPr>
          <p:cNvPr id="23" name="Freeform 22"/>
          <p:cNvSpPr/>
          <p:nvPr/>
        </p:nvSpPr>
        <p:spPr>
          <a:xfrm>
            <a:off x="6138444" y="4482074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rgbClr val="2B8B9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2" rIns="272320" bIns="313012" numCol="1" spcCol="1270" anchor="ctr" anchorCtr="0">
            <a:noAutofit/>
          </a:bodyPr>
          <a:lstStyle/>
          <a:p>
            <a:pPr algn="ctr" defTabSz="142228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latin typeface="Maiandra GD" panose="020E0502030308020204" pitchFamily="34" charset="0"/>
              </a:rPr>
              <a:t>Produsen</a:t>
            </a:r>
            <a:r>
              <a:rPr lang="en-US" sz="2000" dirty="0">
                <a:latin typeface="Maiandra GD" panose="020E0502030308020204" pitchFamily="34" charset="0"/>
              </a:rPr>
              <a:t> </a:t>
            </a:r>
            <a:r>
              <a:rPr lang="en-US" sz="2000" dirty="0" err="1">
                <a:latin typeface="Maiandra GD" panose="020E0502030308020204" pitchFamily="34" charset="0"/>
              </a:rPr>
              <a:t>Barang</a:t>
            </a:r>
            <a:endParaRPr lang="en-US" sz="2000" dirty="0">
              <a:latin typeface="Maiandra GD" panose="020E0502030308020204" pitchFamily="34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5185481" y="2790597"/>
            <a:ext cx="1747506" cy="2008628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rgbClr val="C25A7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3280" tIns="373972" rIns="333280" bIns="373972" numCol="1" spcCol="1270" anchor="ctr" anchorCtr="0">
            <a:noAutofit/>
          </a:bodyPr>
          <a:lstStyle/>
          <a:p>
            <a:pPr algn="ctr" defTabSz="7111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dirty="0" err="1">
                <a:solidFill>
                  <a:schemeClr val="bg1"/>
                </a:solidFill>
                <a:latin typeface="Maiandra GD" panose="020E0502030308020204" pitchFamily="34" charset="0"/>
              </a:rPr>
              <a:t>Pendidikan</a:t>
            </a:r>
            <a:r>
              <a:rPr lang="en-US" sz="1801" dirty="0">
                <a:solidFill>
                  <a:schemeClr val="bg1"/>
                </a:solidFill>
                <a:latin typeface="Maiandra GD" panose="020E0502030308020204" pitchFamily="34" charset="0"/>
              </a:rPr>
              <a:t> /</a:t>
            </a:r>
            <a:r>
              <a:rPr lang="en-US" sz="1801" dirty="0" err="1">
                <a:solidFill>
                  <a:schemeClr val="bg1"/>
                </a:solidFill>
                <a:latin typeface="Maiandra GD" panose="020E0502030308020204" pitchFamily="34" charset="0"/>
              </a:rPr>
              <a:t>Sekolah</a:t>
            </a:r>
            <a:endParaRPr lang="en-US" sz="1801" b="1" dirty="0">
              <a:solidFill>
                <a:schemeClr val="bg1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2879" y="-2"/>
            <a:ext cx="12192000" cy="1014026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649" y="5631255"/>
            <a:ext cx="1102656" cy="1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3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 animBg="1"/>
      <p:bldP spid="18" grpId="0" animBg="1"/>
      <p:bldP spid="20" grpId="0" animBg="1"/>
      <p:bldP spid="21" grpId="0" animBg="1"/>
      <p:bldP spid="23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365974"/>
            <a:ext cx="4545106" cy="18691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40736" y="1500765"/>
            <a:ext cx="4648679" cy="79978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4000" spc="601" dirty="0">
                <a:solidFill>
                  <a:schemeClr val="tx2">
                    <a:lumMod val="75000"/>
                  </a:schemeClr>
                </a:solidFill>
                <a:latin typeface="+mn-lt"/>
                <a:ea typeface="KaiTi" panose="02010609060101010101" pitchFamily="49" charset="-122"/>
              </a:rPr>
              <a:t>REFERENCE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85844" y="1752173"/>
            <a:ext cx="3318729" cy="2031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d-ID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BASIS DATA</a:t>
            </a:r>
          </a:p>
          <a:p>
            <a:r>
              <a:rPr lang="en-US" altLang="id-ID" sz="180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Revisi</a:t>
            </a:r>
            <a:r>
              <a:rPr lang="en-US" altLang="id-ID" sz="180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id-ID" sz="180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Kedua</a:t>
            </a:r>
            <a:endParaRPr lang="en-US" altLang="id-ID" sz="180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altLang="id-ID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id-ID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id-ID" sz="2000" dirty="0"/>
              <a:t>Chapter 1:  </a:t>
            </a:r>
            <a:r>
              <a:rPr lang="en-US" altLang="id-ID" sz="2000" dirty="0" err="1"/>
              <a:t>Apa</a:t>
            </a:r>
            <a:r>
              <a:rPr lang="en-US" altLang="id-ID" sz="2000" dirty="0"/>
              <a:t> </a:t>
            </a:r>
            <a:r>
              <a:rPr lang="en-US" altLang="id-ID" sz="2000" dirty="0" err="1"/>
              <a:t>Itu</a:t>
            </a:r>
            <a:r>
              <a:rPr lang="en-US" altLang="id-ID" sz="2000" dirty="0"/>
              <a:t> Basis Data </a:t>
            </a:r>
          </a:p>
          <a:p>
            <a:r>
              <a:rPr lang="en-US" altLang="id-ID" sz="1801" dirty="0" err="1"/>
              <a:t>Fathansyah</a:t>
            </a:r>
            <a:r>
              <a:rPr lang="en-US" altLang="id-ID" sz="1801" dirty="0"/>
              <a:t> @2015</a:t>
            </a:r>
          </a:p>
          <a:p>
            <a:endParaRPr lang="en-US" sz="1801" dirty="0"/>
          </a:p>
        </p:txBody>
      </p:sp>
      <p:sp>
        <p:nvSpPr>
          <p:cNvPr id="7" name="Rectangle 6"/>
          <p:cNvSpPr/>
          <p:nvPr/>
        </p:nvSpPr>
        <p:spPr>
          <a:xfrm>
            <a:off x="-12879" y="-2"/>
            <a:ext cx="12192000" cy="1014026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8" name="TextBox 7"/>
          <p:cNvSpPr txBox="1"/>
          <p:nvPr/>
        </p:nvSpPr>
        <p:spPr>
          <a:xfrm>
            <a:off x="4885842" y="4034897"/>
            <a:ext cx="2994666" cy="2031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d-ID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SISTEM BASIS DATA</a:t>
            </a:r>
          </a:p>
          <a:p>
            <a:r>
              <a:rPr lang="en-US" altLang="id-ID" sz="180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Tutorial </a:t>
            </a:r>
            <a:r>
              <a:rPr lang="en-US" altLang="id-ID" sz="180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Konseptual</a:t>
            </a:r>
            <a:endParaRPr lang="en-US" altLang="id-ID" sz="180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altLang="id-ID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id-ID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id-ID" sz="2000" dirty="0"/>
              <a:t>Chapter 1:  </a:t>
            </a:r>
            <a:r>
              <a:rPr lang="en-US" altLang="id-ID" sz="2000" dirty="0" err="1"/>
              <a:t>Konsep</a:t>
            </a:r>
            <a:r>
              <a:rPr lang="en-US" altLang="id-ID" sz="2000" dirty="0"/>
              <a:t> </a:t>
            </a:r>
            <a:r>
              <a:rPr lang="en-US" altLang="id-ID" sz="2000" dirty="0" err="1"/>
              <a:t>Dasar</a:t>
            </a:r>
            <a:endParaRPr lang="en-US" altLang="id-ID" sz="2000" dirty="0"/>
          </a:p>
          <a:p>
            <a:r>
              <a:rPr lang="en-US" altLang="id-ID" sz="1801" dirty="0"/>
              <a:t>Yakub@2008</a:t>
            </a:r>
          </a:p>
          <a:p>
            <a:endParaRPr lang="en-US" sz="1801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4989420" y="3550024"/>
            <a:ext cx="2850220" cy="26894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4989420" y="5876365"/>
            <a:ext cx="2850220" cy="26894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45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1731</TotalTime>
  <Words>316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Adobe Heiti Std R</vt:lpstr>
      <vt:lpstr>Agency FB</vt:lpstr>
      <vt:lpstr>Arial</vt:lpstr>
      <vt:lpstr>Bahnschrift Light</vt:lpstr>
      <vt:lpstr>Berlin Sans FB</vt:lpstr>
      <vt:lpstr>Buxton Sketch</vt:lpstr>
      <vt:lpstr>Calibri</vt:lpstr>
      <vt:lpstr>Calibri Light</vt:lpstr>
      <vt:lpstr>KaiTi</vt:lpstr>
      <vt:lpstr>Maiandra GD</vt:lpstr>
      <vt:lpstr>Times New Roman</vt:lpstr>
      <vt:lpstr>Office Theme</vt:lpstr>
      <vt:lpstr>PowerPoint Presentation</vt:lpstr>
      <vt:lpstr>CAPAIAN</vt:lpstr>
      <vt:lpstr>Kontrak kuliah </vt:lpstr>
      <vt:lpstr>PowerPoint Presentation</vt:lpstr>
      <vt:lpstr>DEFINISI BASIS DATA</vt:lpstr>
      <vt:lpstr>DEFINISI BASIS DATA</vt:lpstr>
      <vt:lpstr>DEFINISI SISTEM  BASIS DATA</vt:lpstr>
      <vt:lpstr>KOMPONEN SISTEM BASIS DATA</vt:lpstr>
      <vt:lpstr>KEUNTUNGAN BASIS DATA</vt:lpstr>
      <vt:lpstr>OPERASI DASAR  BASIS DATA</vt:lpstr>
      <vt:lpstr>ORGANISASI YG MEMANFAATKAN BASIS DATA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User</cp:lastModifiedBy>
  <cp:revision>88</cp:revision>
  <dcterms:created xsi:type="dcterms:W3CDTF">2018-10-02T18:49:31Z</dcterms:created>
  <dcterms:modified xsi:type="dcterms:W3CDTF">2021-09-28T09:05:30Z</dcterms:modified>
</cp:coreProperties>
</file>