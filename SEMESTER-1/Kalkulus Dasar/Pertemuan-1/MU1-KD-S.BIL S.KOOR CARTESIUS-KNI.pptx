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35" r:id="rId3"/>
    <p:sldId id="336" r:id="rId4"/>
    <p:sldId id="345" r:id="rId5"/>
    <p:sldId id="346" r:id="rId6"/>
    <p:sldId id="347" r:id="rId7"/>
    <p:sldId id="365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7" r:id="rId17"/>
    <p:sldId id="358" r:id="rId18"/>
    <p:sldId id="359" r:id="rId19"/>
    <p:sldId id="361" r:id="rId20"/>
    <p:sldId id="362" r:id="rId21"/>
    <p:sldId id="363" r:id="rId22"/>
    <p:sldId id="368" r:id="rId23"/>
    <p:sldId id="369" r:id="rId24"/>
    <p:sldId id="370" r:id="rId25"/>
    <p:sldId id="364" r:id="rId26"/>
    <p:sldId id="374" r:id="rId27"/>
    <p:sldId id="371" r:id="rId28"/>
    <p:sldId id="372" r:id="rId29"/>
    <p:sldId id="373" r:id="rId30"/>
    <p:sldId id="32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35E3B1-16CD-45C0-9D23-2E14BE76889C}">
          <p14:sldIdLst>
            <p14:sldId id="256"/>
            <p14:sldId id="335"/>
            <p14:sldId id="336"/>
            <p14:sldId id="345"/>
            <p14:sldId id="346"/>
            <p14:sldId id="347"/>
            <p14:sldId id="365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7"/>
            <p14:sldId id="358"/>
            <p14:sldId id="359"/>
            <p14:sldId id="361"/>
            <p14:sldId id="362"/>
            <p14:sldId id="363"/>
            <p14:sldId id="368"/>
            <p14:sldId id="369"/>
            <p14:sldId id="370"/>
            <p14:sldId id="364"/>
            <p14:sldId id="374"/>
            <p14:sldId id="371"/>
            <p14:sldId id="372"/>
            <p14:sldId id="373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015" autoAdjust="0"/>
    <p:restoredTop sz="93018" autoAdjust="0"/>
  </p:normalViewPr>
  <p:slideViewPr>
    <p:cSldViewPr snapToGrid="0">
      <p:cViewPr varScale="1">
        <p:scale>
          <a:sx n="63" d="100"/>
          <a:sy n="63" d="100"/>
        </p:scale>
        <p:origin x="7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49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BEC3-B529-4DC6-A740-8FF6A3BC681B}" type="datetimeFigureOut">
              <a:rPr lang="id-ID" smtClean="0"/>
              <a:t>26/09/2021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794EF-16F7-4C9E-A372-FBBF4281395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95996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2FAED-D326-4B8F-A5D3-DCA59C722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9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7643-DFB4-4B60-861D-C3B7E5CC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873E-FE53-4EE3-9F2C-89B2552F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91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6A39-72E9-4E8C-A3E2-B1E0B1E7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6CDC4-6B45-4521-B6F6-2E5010FEE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975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2E77-9D07-4321-A260-C918CAB1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0D72-EEC5-4535-B36A-C9FD150D8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CA161-B4E7-4B79-8295-347DCCA3F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34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EDB3-610C-4E2D-9A92-56A327E5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89212"/>
            <a:ext cx="10515600" cy="8740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8F174-B6FD-4DD0-8D4F-03F6B35A7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63271"/>
            <a:ext cx="5157787" cy="5418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DF1A-3571-441E-A1F0-CAD36AC7C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01AD2-32F1-4F2A-83F3-2347DB090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63271"/>
            <a:ext cx="5183188" cy="5418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DA034-8AA2-4E3B-BEB8-FC5E44308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284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6045-D4CC-4AF8-9506-31760854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185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92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A372-4BC7-4E4F-A58D-96835C0F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406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B8A7-A4E1-43BE-B5D4-5BD3BEEA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6FE77-274C-495D-8B1B-036A983B7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8046"/>
            <a:ext cx="3932237" cy="334094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826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DB33-DAC8-401B-BC0C-39B98EEA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406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F8548-56A5-4AED-BA09-D0414793F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8ADF7-16C8-4BD6-BC33-31A9E6FF8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8046"/>
            <a:ext cx="3932237" cy="33409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95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5F56-3F28-4576-9141-CE1A25D1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890DC-DCBC-4097-B1CD-14F79AC9F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813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75270-2263-4B3D-B242-D3700DF78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008528"/>
            <a:ext cx="2628900" cy="5168434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ADD3B-0087-48E8-8B6E-B1308FF1A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08529"/>
            <a:ext cx="7734300" cy="51684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5533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B0BD67-BE4A-4677-9434-2B2FFB71DE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D220C-A577-4728-AEA1-41E6BBDE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635"/>
            <a:ext cx="10515600" cy="709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923BD-52C5-48BF-93E5-E10D95631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560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030A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11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05E02-48D9-4DB7-A4B0-A9AFDEB0C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7907FF-77D6-4B04-B353-C2ABA8EC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046" y="727238"/>
            <a:ext cx="5753100" cy="1113622"/>
          </a:xfrm>
        </p:spPr>
        <p:txBody>
          <a:bodyPr/>
          <a:lstStyle/>
          <a:p>
            <a:r>
              <a:rPr lang="id-ID" dirty="0" smtClean="0">
                <a:solidFill>
                  <a:schemeClr val="bg1"/>
                </a:solidFill>
              </a:rPr>
              <a:t>KALKULUS DASAR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FEB3B-E82D-4783-AB11-C583DB98F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7046" y="4795341"/>
            <a:ext cx="6086268" cy="760331"/>
          </a:xfrm>
        </p:spPr>
        <p:txBody>
          <a:bodyPr>
            <a:normAutofit fontScale="92500"/>
          </a:bodyPr>
          <a:lstStyle/>
          <a:p>
            <a:r>
              <a:rPr lang="en-US" sz="2800" b="1" dirty="0" err="1" smtClean="0">
                <a:solidFill>
                  <a:schemeClr val="bg1"/>
                </a:solidFill>
                <a:latin typeface="+mj-lt"/>
              </a:rPr>
              <a:t>Pengampu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Khairunnisak Nur Isnaini, M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.</a:t>
            </a:r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Kom.</a:t>
            </a:r>
            <a:endParaRPr lang="en-ID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FFEB3B-E82D-4783-AB11-C583DB98F4B1}"/>
              </a:ext>
            </a:extLst>
          </p:cNvPr>
          <p:cNvSpPr txBox="1">
            <a:spLocks/>
          </p:cNvSpPr>
          <p:nvPr/>
        </p:nvSpPr>
        <p:spPr>
          <a:xfrm>
            <a:off x="1460090" y="2014167"/>
            <a:ext cx="9660194" cy="7603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 smtClean="0">
                <a:solidFill>
                  <a:schemeClr val="bg1"/>
                </a:solidFill>
                <a:latin typeface="+mj-lt"/>
              </a:rPr>
              <a:t>Pertemuan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I-A</a:t>
            </a:r>
          </a:p>
          <a:p>
            <a:pPr algn="ctr"/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SISTEM BILANGAN, PERTIDAKSAMAAN, DAN SISTEM KOORDINAT CARTESIUS</a:t>
            </a:r>
            <a:endParaRPr lang="en-ID" sz="28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353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Capaian</a:t>
            </a:r>
            <a:r>
              <a:rPr lang="en-US" dirty="0" smtClean="0"/>
              <a:t> </a:t>
            </a:r>
            <a:r>
              <a:rPr lang="en-US" dirty="0" err="1" smtClean="0"/>
              <a:t>Pembelajaran</a:t>
            </a:r>
            <a:r>
              <a:rPr lang="en-US" dirty="0" smtClean="0"/>
              <a:t> Mata </a:t>
            </a:r>
            <a:r>
              <a:rPr lang="en-US" dirty="0" err="1" smtClean="0"/>
              <a:t>Kuliah</a:t>
            </a:r>
            <a:r>
              <a:rPr lang="en-US" dirty="0" smtClean="0"/>
              <a:t> (CPMK)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9574161" cy="4351338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Pengantar</a:t>
            </a:r>
            <a:r>
              <a:rPr lang="en-US" dirty="0"/>
              <a:t> </a:t>
            </a:r>
            <a:r>
              <a:rPr lang="en-US" dirty="0" err="1"/>
              <a:t>Kalkulus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id-ID" dirty="0"/>
              <a:t>dasar- dasar kalkulus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45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Materi Pembelajaran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err="1" smtClean="0"/>
              <a:t>Bilangan</a:t>
            </a:r>
            <a:r>
              <a:rPr lang="en-US" dirty="0" smtClean="0"/>
              <a:t> </a:t>
            </a:r>
            <a:r>
              <a:rPr lang="en-US" dirty="0"/>
              <a:t>Real,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approximasi</a:t>
            </a:r>
            <a:r>
              <a:rPr lang="en-US" dirty="0"/>
              <a:t> (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estimasi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symbol </a:t>
            </a:r>
            <a:r>
              <a:rPr lang="en-US" dirty="0" err="1"/>
              <a:t>logika</a:t>
            </a:r>
            <a:endParaRPr lang="id-ID" dirty="0"/>
          </a:p>
          <a:p>
            <a:pPr lvl="0"/>
            <a:r>
              <a:rPr lang="en-US" dirty="0" err="1"/>
              <a:t>Pertidaksamaan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mutlak</a:t>
            </a:r>
            <a:endParaRPr lang="id-ID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koordinat</a:t>
            </a:r>
            <a:r>
              <a:rPr lang="en-US" dirty="0"/>
              <a:t> </a:t>
            </a:r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panjang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01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Sistem Bilangan Real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d-ID" dirty="0" smtClean="0"/>
                  <a:t>Himpunan Bilangan asli            : A = {1,2,3,4,...}</a:t>
                </a:r>
              </a:p>
              <a:p>
                <a:r>
                  <a:rPr lang="id-ID" dirty="0" smtClean="0"/>
                  <a:t>Himpunan bilangan cacah        : B = {0,1,2,3,4,..}</a:t>
                </a:r>
              </a:p>
              <a:p>
                <a:r>
                  <a:rPr lang="id-ID" dirty="0" smtClean="0"/>
                  <a:t>Himpunan bilangan bulat         : C = {...,-2,-1,0,1,2,..}</a:t>
                </a:r>
              </a:p>
              <a:p>
                <a:r>
                  <a:rPr lang="id-ID" dirty="0" smtClean="0"/>
                  <a:t>Himpunan bilangan rasional    :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d-ID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  <m:e>
                        <m:r>
                          <m:rPr>
                            <m:sty m:val="p"/>
                          </m:rPr>
                          <a:rPr lang="id-ID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id-ID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id-ID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id-ID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id-ID" b="0" i="0" smtClean="0">
                        <a:latin typeface="Cambria Math" panose="02040503050406030204" pitchFamily="18" charset="0"/>
                      </a:rPr>
                      <m:t>…, −</m:t>
                    </m:r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b="0" i="0" smtClean="0">
                        <a:latin typeface="Cambria Math" panose="02040503050406030204" pitchFamily="18" charset="0"/>
                      </a:rPr>
                      <m:t>,0,</m:t>
                    </m:r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endParaRPr lang="id-ID" dirty="0" smtClean="0"/>
              </a:p>
              <a:p>
                <a:r>
                  <a:rPr lang="id-ID" dirty="0" smtClean="0"/>
                  <a:t>Himpunan bilangan irrasional : </a:t>
                </a:r>
                <a14:m>
                  <m:oMath xmlns:m="http://schemas.openxmlformats.org/officeDocument/2006/math">
                    <m:r>
                      <a:rPr lang="id-ID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…,−</m:t>
                    </m:r>
                    <m:rad>
                      <m:radPr>
                        <m:degHide m:val="on"/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id-ID" b="0" i="1" smtClean="0"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id-ID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d-ID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3,…}</m:t>
                        </m:r>
                      </m:e>
                    </m:func>
                  </m:oMath>
                </a14:m>
                <a:endParaRPr lang="id-ID" dirty="0" smtClean="0"/>
              </a:p>
              <a:p>
                <a:r>
                  <a:rPr lang="id-ID" dirty="0" smtClean="0"/>
                  <a:t>Bilangan riil dapat digambarkan pada garis bilangan :</a:t>
                </a: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4" y="5233721"/>
            <a:ext cx="7807278" cy="72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0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Interval Bilangan Real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2901" y="1879874"/>
            <a:ext cx="5709986" cy="41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8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 Soal Interval Bilangan Real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Buatlah contoh baris bilangan dengan beberapa jenis interval (minimal 2 jenis)</a:t>
                </a:r>
              </a:p>
              <a:p>
                <a:pPr marL="0" indent="0">
                  <a:buNone/>
                </a:pPr>
                <a:r>
                  <a:rPr lang="id-ID" dirty="0" smtClean="0"/>
                  <a:t>Contoh :</a:t>
                </a:r>
              </a:p>
              <a:p>
                <a:pPr marL="0" indent="0">
                  <a:buNone/>
                </a:pPr>
                <a:r>
                  <a:rPr lang="id-ID" dirty="0" smtClean="0"/>
                  <a:t> Himpunan A adalah bilangan genap kurang dari 10 dan lebih dari 2. Maka notasi matematikanya :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={2 &lt;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&lt;10}</m:t>
                    </m:r>
                  </m:oMath>
                </a14:m>
                <a:endParaRPr lang="id-ID" dirty="0" smtClean="0"/>
              </a:p>
              <a:p>
                <a:pPr marL="0" indent="0" algn="ctr">
                  <a:buNone/>
                </a:pPr>
                <a:r>
                  <a:rPr lang="id-ID" b="1" dirty="0" smtClean="0"/>
                  <a:t>(garis bilangan)</a:t>
                </a:r>
                <a:endParaRPr lang="id-ID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9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72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Polinom/Suku Banyak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Bentuk umum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b="0" i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d-ID" dirty="0" smtClean="0"/>
                  <a:t>, dengan n adalah </a:t>
                </a:r>
                <a:r>
                  <a:rPr lang="id-ID" b="1" dirty="0" smtClean="0"/>
                  <a:t>bilangan asli</a:t>
                </a:r>
                <a:r>
                  <a:rPr lang="id-ID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id-ID" dirty="0" smtClean="0"/>
                  <a:t> bilangan real (disebut </a:t>
                </a:r>
                <a:r>
                  <a:rPr lang="id-ID" b="1" dirty="0" smtClean="0"/>
                  <a:t>koefisien</a:t>
                </a:r>
                <a:r>
                  <a:rPr lang="id-ID" dirty="0" smtClean="0"/>
                  <a:t> dari polinom), 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 smtClean="0"/>
                  <a:t> adalah bilangan real yang belum ditentukan (disebut dengan </a:t>
                </a:r>
                <a:r>
                  <a:rPr lang="id-ID" b="1" dirty="0" smtClean="0"/>
                  <a:t>variabel</a:t>
                </a:r>
                <a:r>
                  <a:rPr lang="id-ID" dirty="0" smtClean="0"/>
                  <a:t>)</a:t>
                </a:r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r>
                  <a:rPr lang="id-ID" dirty="0" smtClean="0"/>
                  <a:t>Derajat polinom</a:t>
                </a:r>
              </a:p>
              <a:p>
                <a:pPr marL="0" indent="0">
                  <a:buNone/>
                </a:pPr>
                <a:r>
                  <a:rPr lang="id-ID" dirty="0" smtClean="0"/>
                  <a:t>Adalah nilai n terbesar yang koefisiennya tidak 0.</a:t>
                </a:r>
              </a:p>
              <a:p>
                <a:pPr marL="0" indent="0">
                  <a:buNone/>
                </a:pPr>
                <a:r>
                  <a:rPr lang="id-ID" dirty="0" smtClean="0"/>
                  <a:t>Contoh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−7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id-ID" dirty="0" smtClean="0"/>
                  <a:t>, derajat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 smtClean="0"/>
                  <a:t> adalah 4</a:t>
                </a: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5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Polinom Linear Derajat Satu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id-ID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id-ID" dirty="0" smtClean="0"/>
                  <a:t>Maka untuk menentukan akarnya dengan cara berikut</a:t>
                </a:r>
                <a14:m>
                  <m:oMath xmlns:m="http://schemas.openxmlformats.org/officeDocument/2006/math">
                    <m:r>
                      <a:rPr lang="id-ID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id-ID" dirty="0" smtClean="0"/>
                  <a:t> </a:t>
                </a:r>
              </a:p>
              <a:p>
                <a:pPr marL="0" indent="0">
                  <a:buNone/>
                </a:pPr>
                <a:r>
                  <a:rPr lang="id-ID" dirty="0" smtClean="0"/>
                  <a:t>Diberikan contoh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 8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id-ID" dirty="0" smtClean="0"/>
                  <a:t>, maka hasil akarnya adalah... ?</a:t>
                </a: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72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Polinom Linear Derajat </a:t>
            </a:r>
            <a:r>
              <a:rPr lang="id-ID" dirty="0" smtClean="0"/>
              <a:t>Dua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id-ID" dirty="0"/>
                  <a:t>Maka untuk menentukan akarnya dengan cara berikut</a:t>
                </a:r>
                <a14:m>
                  <m:oMath xmlns:m="http://schemas.openxmlformats.org/officeDocument/2006/math">
                    <m:r>
                      <a:rPr lang="id-ID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d-ID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id-ID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id-ID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d-ID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id-ID" dirty="0" smtClean="0"/>
                  <a:t>, </a:t>
                </a:r>
              </a:p>
              <a:p>
                <a:pPr marL="0" indent="0">
                  <a:buNone/>
                </a:pPr>
                <a:r>
                  <a:rPr lang="id-ID" dirty="0" smtClean="0"/>
                  <a:t>dengan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id-ID" dirty="0" smtClean="0"/>
                  <a:t> disebut dengan Diskriman</a:t>
                </a:r>
              </a:p>
              <a:p>
                <a:pPr marL="0" indent="0">
                  <a:buNone/>
                </a:pPr>
                <a:r>
                  <a:rPr lang="id-ID" dirty="0" smtClean="0"/>
                  <a:t>Terdapat 3 kemungkinan hasil akar yang diperoleh 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sz="2400">
                        <a:latin typeface="Cambria Math" panose="02040503050406030204" pitchFamily="18" charset="0"/>
                      </a:rPr>
                      <m:t>D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𝑑𝑢𝑎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𝑎𝑘𝑎𝑟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𝑦𝑎𝑛𝑔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𝑏𝑒𝑟𝑏𝑒𝑑𝑎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sz="2400" i="1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d-ID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d-ID" sz="2400" dirty="0" smtClean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sz="240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0, 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𝑑𝑢𝑎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𝑎𝑘𝑎𝑟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𝑘𝑒𝑚𝑏𝑎𝑟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d-ID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d-ID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sz="2400">
                        <a:latin typeface="Cambria Math" panose="02040503050406030204" pitchFamily="18" charset="0"/>
                      </a:rPr>
                      <m:t>D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0, 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𝑡𝑖𝑑𝑎𝑘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𝑎𝑑𝑎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𝑎𝑘𝑎𝑟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𝑟𝑒𝑎𝑙</m:t>
                    </m:r>
                  </m:oMath>
                </a14:m>
                <a:endParaRPr lang="id-ID" sz="2400" dirty="0"/>
              </a:p>
              <a:p>
                <a:endParaRPr lang="id-ID" dirty="0" smtClean="0"/>
              </a:p>
              <a:p>
                <a:pPr marL="0" indent="0">
                  <a:buNone/>
                </a:pPr>
                <a:endParaRPr lang="id-ID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d-ID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48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</a:t>
            </a:r>
            <a:r>
              <a:rPr lang="id-ID" dirty="0" smtClean="0"/>
              <a:t>Polinom </a:t>
            </a:r>
            <a:r>
              <a:rPr lang="id-ID" dirty="0"/>
              <a:t>Linear Derajat Dua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Diberikan </a:t>
                </a:r>
                <a:r>
                  <a:rPr lang="id-ID" dirty="0"/>
                  <a:t>contoh </a:t>
                </a:r>
                <a:endParaRPr lang="id-ID" dirty="0" smtClean="0"/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endParaRPr lang="id-ID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−1, </m:t>
                      </m:r>
                    </m:oMath>
                  </m:oMathPara>
                </a14:m>
                <a:endParaRPr lang="id-ID" b="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i="1">
                        <a:latin typeface="Cambria Math" panose="02040503050406030204" pitchFamily="18" charset="0"/>
                      </a:rPr>
                      <m:t>−1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d-ID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id-ID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m:rPr>
                          <m:nor/>
                        </m:rPr>
                        <a:rPr lang="id-ID" dirty="0"/>
                        <m:t> </m:t>
                      </m:r>
                      <m:sSup>
                        <m:sSup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+1)</m:t>
                      </m:r>
                      <m:d>
                        <m:d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id-ID" dirty="0"/>
                        <m:t> </m:t>
                      </m:r>
                      <m:sSup>
                        <m:sSup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id-ID" b="0" dirty="0" smtClean="0"/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41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Pertidaksamaan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i-FI" dirty="0" smtClean="0"/>
              <a:t>Berikut </a:t>
            </a:r>
            <a:r>
              <a:rPr lang="fi-FI" dirty="0"/>
              <a:t>ini prosedur dalam menyelesaikan pertidaksamaan:</a:t>
            </a:r>
          </a:p>
          <a:p>
            <a:endParaRPr lang="id-ID" dirty="0" smtClean="0"/>
          </a:p>
          <a:p>
            <a:r>
              <a:rPr lang="id-ID" dirty="0" smtClean="0"/>
              <a:t>Menambahkan </a:t>
            </a:r>
            <a:r>
              <a:rPr lang="id-ID" dirty="0"/>
              <a:t>bilangan yang sama pada kedua ruas pertidaksamaan.</a:t>
            </a:r>
          </a:p>
          <a:p>
            <a:r>
              <a:rPr lang="id-ID" dirty="0" smtClean="0"/>
              <a:t>Mengalikan </a:t>
            </a:r>
            <a:r>
              <a:rPr lang="id-ID" dirty="0"/>
              <a:t>bilangan positif yang sama pada kedua ruas </a:t>
            </a:r>
            <a:r>
              <a:rPr lang="id-ID" dirty="0" smtClean="0"/>
              <a:t>pertidaksamaan</a:t>
            </a:r>
            <a:r>
              <a:rPr lang="id-ID" dirty="0"/>
              <a:t>.</a:t>
            </a:r>
          </a:p>
          <a:p>
            <a:r>
              <a:rPr lang="sv-SE" dirty="0"/>
              <a:t>Mengalikan bilangan negatif yang sama pada kedua ruas pertidaksamaan </a:t>
            </a:r>
            <a:r>
              <a:rPr lang="sv-SE" dirty="0" smtClean="0"/>
              <a:t>dan</a:t>
            </a:r>
            <a:r>
              <a:rPr lang="id-ID" dirty="0" smtClean="0"/>
              <a:t> </a:t>
            </a:r>
            <a:r>
              <a:rPr lang="fi-FI" dirty="0"/>
              <a:t>kemudiaan tanda pertidaksamaan harus dibalik.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2335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Soal Pertidaksamaan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Selesaikan pertidaksamaan berikut dan gambarkan solusiny melalui garis bilangan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id-ID" dirty="0" smtClean="0"/>
                  <a:t>, penyelesaiannya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id-ID" dirty="0" smtClean="0"/>
                  <a:t>, berpindah ruas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id-ID" dirty="0" smtClean="0"/>
                  <a:t>, hasil akhir</a:t>
                </a:r>
              </a:p>
              <a:p>
                <a:pPr marL="0" indent="0">
                  <a:buNone/>
                </a:pPr>
                <a:r>
                  <a:rPr lang="id-ID" dirty="0" smtClean="0"/>
                  <a:t>Garis bilangan</a:t>
                </a:r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r>
                  <a:rPr lang="id-ID" dirty="0" smtClean="0"/>
                  <a:t> </a:t>
                </a:r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20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 Soal Pertidaksamaan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id-ID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id-ID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id-ID" b="0" dirty="0" smtClean="0"/>
              </a:p>
              <a:p>
                <a:pPr marL="514350" indent="-514350">
                  <a:buFont typeface="Arial" panose="020B0604020202020204" pitchFamily="34" charset="0"/>
                  <a:buAutoNum type="alphaLcPeriod"/>
                </a:pPr>
                <a:r>
                  <a:rPr lang="id-ID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id-I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23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Nilai Mutlak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27080" cy="4351338"/>
              </a:xfrm>
            </p:spPr>
            <p:txBody>
              <a:bodyPr>
                <a:noAutofit/>
              </a:bodyPr>
              <a:lstStyle/>
              <a:p>
                <a:r>
                  <a:rPr lang="id-ID" sz="2400" dirty="0" smtClean="0"/>
                  <a:t>Nilai mutlak adalah..</a:t>
                </a:r>
                <a:endParaRPr lang="id-ID" sz="2400" dirty="0"/>
              </a:p>
              <a:p>
                <a:pPr marL="0" indent="0">
                  <a:buNone/>
                </a:pPr>
                <a:r>
                  <a:rPr lang="id-ID" sz="2400" dirty="0" smtClean="0"/>
                  <a:t>Misalkan </a:t>
                </a:r>
                <a14:m>
                  <m:oMath xmlns:m="http://schemas.openxmlformats.org/officeDocument/2006/math">
                    <m:r>
                      <a:rPr lang="id-ID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𝑑𝑖𝑠𝑒𝑏𝑢𝑡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𝑠𝑒𝑏𝑎𝑔𝑎𝑖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𝑏𝑖𝑙𝑎𝑛𝑔𝑎𝑛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𝑟𝑒𝑎𝑙</m:t>
                    </m:r>
                    <m:r>
                      <a:rPr lang="id-ID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id-ID" sz="2400" dirty="0" smtClean="0"/>
                  <a:t> Maka nilai mutlak 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sz="2400" dirty="0" smtClean="0"/>
                  <a:t> didefiniskan sebagai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id-ID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000" dirty="0" smtClean="0"/>
                  <a:t>,</a:t>
                </a:r>
                <a:endParaRPr lang="id-ID" sz="2000" dirty="0"/>
              </a:p>
              <a:p>
                <a:r>
                  <a:rPr lang="id-ID" sz="2400" dirty="0" smtClean="0"/>
                  <a:t>Sifat nilai mutlak</a:t>
                </a:r>
              </a:p>
              <a:p>
                <a:pPr marL="0" indent="0">
                  <a:buNone/>
                </a:pPr>
                <a:r>
                  <a:rPr lang="id-ID" sz="2400" dirty="0" smtClean="0"/>
                  <a:t>Misalkan 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id-ID" sz="2400" i="1">
                        <a:latin typeface="Cambria Math" panose="02040503050406030204" pitchFamily="18" charset="0"/>
                      </a:rPr>
                      <m:t> ∈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𝑠𝑒𝑏𝑎𝑔𝑎𝑖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𝑏𝑙𝑎𝑛𝑔𝑎𝑛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d-ID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𝑟𝑒𝑎𝑙</m:t>
                    </m:r>
                  </m:oMath>
                </a14:m>
                <a:endParaRPr lang="id-ID" sz="2400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id-ID" sz="2000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id-ID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endParaRPr lang="id-ID" sz="2000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id-ID" sz="2000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id-ID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27080" cy="4351338"/>
              </a:xfrm>
              <a:blipFill>
                <a:blip r:embed="rId2"/>
                <a:stretch>
                  <a:fillRect l="-893" t="-1961" b="-784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33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Soal Nilai </a:t>
            </a:r>
            <a:r>
              <a:rPr lang="id-ID" dirty="0"/>
              <a:t>Mutlak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720840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id-ID" dirty="0" smtClean="0"/>
                  <a:t>Selesaikan persamaan berikut ini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id-ID" b="0" dirty="0" smtClean="0"/>
              </a:p>
              <a:p>
                <a:pPr marL="0" indent="0">
                  <a:buNone/>
                </a:pPr>
                <a:endParaRPr lang="id-ID" dirty="0" smtClean="0"/>
              </a:p>
              <a:p>
                <a:pPr marL="0" indent="0">
                  <a:buNone/>
                </a:pPr>
                <a:r>
                  <a:rPr lang="id-ID" dirty="0" smtClean="0"/>
                  <a:t>Penyelesaian</a:t>
                </a:r>
              </a:p>
              <a:p>
                <a:pPr marL="0" indent="0">
                  <a:buNone/>
                </a:pPr>
                <a:r>
                  <a:rPr lang="id-ID" dirty="0" smtClean="0"/>
                  <a:t>Untuk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id-ID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−3=7</m:t>
                      </m:r>
                    </m:oMath>
                  </m:oMathPara>
                </a14:m>
                <a:endParaRPr lang="id-ID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id-ID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id-ID" b="0" dirty="0" smtClean="0"/>
              </a:p>
              <a:p>
                <a:pPr marL="0" indent="0">
                  <a:buNone/>
                </a:pPr>
                <a:endParaRPr lang="id-ID" b="0" dirty="0" smtClean="0"/>
              </a:p>
              <a:p>
                <a:pPr marL="0" indent="0">
                  <a:buNone/>
                </a:pPr>
                <a:r>
                  <a:rPr lang="id-ID" dirty="0" smtClean="0"/>
                  <a:t>Untuk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id-ID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>
                          <a:latin typeface="Cambria Math" panose="02040503050406030204" pitchFamily="18" charset="0"/>
                        </a:rPr>
                        <m:t>−3=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d-ID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id-ID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id-ID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id-ID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id-ID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720840" cy="4351338"/>
              </a:xfrm>
              <a:blipFill>
                <a:blip r:embed="rId2"/>
                <a:stretch>
                  <a:fillRect l="-1452" t="-322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27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Pertidaksamaan dengan Nilai Mutlak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Jika D, Nilai Diskriminan sembarang bilangan yang bernilai positif maka,</a:t>
                </a:r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↔−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id-ID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↔−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&lt;−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𝑎𝑡𝑎𝑢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d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𝑎𝑡𝑎𝑢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40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43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dan Latihan Soal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d-ID" dirty="0" smtClean="0"/>
                  <a:t>Selesaikan pertidaksamaan berikut ini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id-ID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id-ID" dirty="0" smtClean="0"/>
                  <a:t>Maka penyelesaiannya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&lt;9</m:t>
                      </m:r>
                    </m:oMath>
                  </m:oMathPara>
                </a14:m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−5&lt;9</m:t>
                      </m:r>
                    </m:oMath>
                  </m:oMathPara>
                </a14:m>
                <a:endParaRPr lang="id-ID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&lt;9+5</m:t>
                      </m:r>
                    </m:oMath>
                  </m:oMathPara>
                </a14:m>
                <a:endParaRPr lang="id-ID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&lt;14</m:t>
                      </m:r>
                    </m:oMath>
                  </m:oMathPara>
                </a14:m>
                <a:endParaRPr lang="id-ID" dirty="0" smtClean="0">
                  <a:ea typeface="Cambria Math" panose="02040503050406030204" pitchFamily="18" charset="0"/>
                </a:endParaRPr>
              </a:p>
              <a:p>
                <a:r>
                  <a:rPr lang="id-ID" dirty="0" smtClean="0">
                    <a:ea typeface="Cambria Math" panose="02040503050406030204" pitchFamily="18" charset="0"/>
                  </a:rPr>
                  <a:t>Soal Latihan</a:t>
                </a:r>
              </a:p>
              <a:p>
                <a:pPr marL="0" indent="0">
                  <a:buNone/>
                </a:pPr>
                <a:r>
                  <a:rPr lang="id-ID" dirty="0" smtClean="0">
                    <a:ea typeface="Cambria Math" panose="02040503050406030204" pitchFamily="18" charset="0"/>
                  </a:rPr>
                  <a:t>Selesaikan pertidaksamaan berikut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d-ID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32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Sistem Koordinat Cartesius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4981036"/>
            <a:ext cx="5638800" cy="136695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d-ID" sz="2400" dirty="0" smtClean="0"/>
              <a:t>Setiap </a:t>
            </a:r>
            <a:r>
              <a:rPr lang="id-ID" sz="2400" dirty="0"/>
              <a:t>pasangan terurut </a:t>
            </a:r>
            <a:r>
              <a:rPr lang="id-ID" sz="2400" i="1" dirty="0" smtClean="0"/>
              <a:t>P(a,ba,b</a:t>
            </a:r>
            <a:r>
              <a:rPr lang="id-ID" sz="2400" i="1" dirty="0"/>
              <a:t>) menggambarkan sebuah titik pada koordinat </a:t>
            </a:r>
            <a:r>
              <a:rPr lang="id-ID" sz="2400" i="1" dirty="0" smtClean="0"/>
              <a:t>kartesius </a:t>
            </a:r>
            <a:r>
              <a:rPr lang="id-ID" sz="2400" dirty="0" smtClean="0"/>
              <a:t> </a:t>
            </a:r>
            <a:r>
              <a:rPr lang="id-ID" sz="2400" dirty="0"/>
              <a:t>menggambarkan sebuah titik pada koordinat kartesius </a:t>
            </a:r>
            <a:r>
              <a:rPr lang="id-ID" sz="2400" dirty="0" smtClean="0"/>
              <a:t>dengan </a:t>
            </a:r>
            <a:r>
              <a:rPr lang="id-ID" sz="2400" dirty="0"/>
              <a:t>posisi (</a:t>
            </a:r>
            <a:r>
              <a:rPr lang="id-ID" sz="2400" i="1" dirty="0"/>
              <a:t>a,b). </a:t>
            </a:r>
          </a:p>
          <a:p>
            <a:pPr marL="0" indent="0" algn="just">
              <a:buNone/>
            </a:pPr>
            <a:endParaRPr lang="id-ID" sz="2400" dirty="0" smtClean="0"/>
          </a:p>
          <a:p>
            <a:pPr marL="0" indent="0" algn="just">
              <a:buNone/>
            </a:pPr>
            <a:endParaRPr lang="id-ID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447" y="1824660"/>
            <a:ext cx="3460433" cy="3022404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990600" y="1978025"/>
            <a:ext cx="3931920" cy="22586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d-ID" dirty="0" smtClean="0"/>
              <a:t>Pada Koordinat Kartesius terdapat dua sumbu yaitu sumbu horisontal atau disebut absis dan sumbu vertikal atau disebut ordinat.</a:t>
            </a:r>
          </a:p>
          <a:p>
            <a:pPr algn="just"/>
            <a:endParaRPr lang="id-ID" dirty="0" smtClean="0"/>
          </a:p>
          <a:p>
            <a:pPr algn="just"/>
            <a:endParaRPr lang="id-ID" dirty="0" smtClean="0"/>
          </a:p>
          <a:p>
            <a:pPr algn="just"/>
            <a:endParaRPr lang="id-ID" dirty="0" smtClean="0"/>
          </a:p>
          <a:p>
            <a:pPr algn="just"/>
            <a:endParaRPr lang="id-ID" dirty="0" smtClean="0"/>
          </a:p>
          <a:p>
            <a:pPr marL="0" indent="0" algn="just">
              <a:buNone/>
            </a:pPr>
            <a:endParaRPr lang="id-ID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id-ID" dirty="0" smtClean="0"/>
          </a:p>
          <a:p>
            <a:pPr algn="just"/>
            <a:endParaRPr lang="id-ID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7337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Jarak Dua Titik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Terdapat P(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𝑑𝑎𝑛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dirty="0" smtClean="0"/>
                  <a:t> adalah dua titik pada bidang, maka untuk mencari jaraknya adalah</a:t>
                </a:r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𝑃𝑄</m:t>
                          </m:r>
                        </m:e>
                      </m:d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d-ID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21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Soal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id-ID" dirty="0" smtClean="0"/>
                  <a:t>Tentukan jarak antara dua titik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b="0" i="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0" smtClean="0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m:rPr>
                        <m:sty m:val="p"/>
                      </m:rPr>
                      <a:rPr lang="id-ID" b="0" i="0" smtClean="0">
                        <a:latin typeface="Cambria Math" panose="02040503050406030204" pitchFamily="18" charset="0"/>
                      </a:rPr>
                      <m:t>dan</m:t>
                    </m:r>
                    <m:r>
                      <a:rPr lang="id-ID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d-ID" b="0" i="0" smtClean="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0" smtClean="0">
                            <a:latin typeface="Cambria Math" panose="02040503050406030204" pitchFamily="18" charset="0"/>
                          </a:rPr>
                          <m:t>−1,5</m:t>
                        </m:r>
                      </m:e>
                    </m:d>
                  </m:oMath>
                </a14:m>
                <a:endParaRPr lang="id-ID" b="0" dirty="0" smtClean="0"/>
              </a:p>
              <a:p>
                <a:pPr marL="0" indent="0">
                  <a:buNone/>
                </a:pPr>
                <a:endParaRPr lang="id-ID" dirty="0" smtClean="0"/>
              </a:p>
              <a:p>
                <a:pPr marL="0" indent="0">
                  <a:buNone/>
                </a:pPr>
                <a:r>
                  <a:rPr lang="id-ID" dirty="0" smtClean="0"/>
                  <a:t>Penyelesaian : </a:t>
                </a:r>
                <a:endParaRPr lang="id-ID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marL="0" indent="0" algn="ctr">
                  <a:buNone/>
                </a:pPr>
                <a:r>
                  <a:rPr lang="id-ID" dirty="0" smtClean="0"/>
                  <a:t>......</a:t>
                </a: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56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Persamaan Garis Lurus dan Grafiknya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Bentuk umum garis lurus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dengan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dan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sebagai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 b="0" i="0" smtClean="0">
                          <a:latin typeface="Cambria Math" panose="02040503050406030204" pitchFamily="18" charset="0"/>
                        </a:rPr>
                        <m:t>Konstanta</m:t>
                      </m:r>
                      <m:r>
                        <a:rPr lang="id-ID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d-ID" b="0" dirty="0" smtClean="0"/>
              </a:p>
              <a:p>
                <a:pPr marL="0" indent="0">
                  <a:buNone/>
                </a:pPr>
                <a:endParaRPr lang="id-ID" dirty="0" smtClean="0"/>
              </a:p>
              <a:p>
                <a:pPr marL="0" indent="0" algn="just">
                  <a:buNone/>
                </a:pPr>
                <a:r>
                  <a:rPr lang="id-ID" dirty="0" smtClean="0"/>
                  <a:t>Dengan nilai A dan B tidak boleh 0 secara bersamaan. Untuk menggambarkan garis lurus diperlukan dua titik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d-ID" b="0" i="1" dirty="0" smtClean="0">
                        <a:latin typeface="Cambria Math" panose="02040503050406030204" pitchFamily="18" charset="0"/>
                      </a:rPr>
                      <m:t>𝑑𝑎𝑛</m:t>
                    </m:r>
                    <m:d>
                      <m:dPr>
                        <m:ctrlPr>
                          <a:rPr lang="id-ID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dirty="0" smtClean="0"/>
                  <a:t> maka memerlukan persamaan untuk menentukan kermiringan garis/gradien yang disimbolkan dengan </a:t>
                </a:r>
                <a:r>
                  <a:rPr lang="id-ID" i="1" dirty="0" smtClean="0"/>
                  <a:t>m</a:t>
                </a:r>
                <a:r>
                  <a:rPr lang="id-ID" dirty="0" smtClean="0"/>
                  <a:t>.</a:t>
                </a: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62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Persayaratan Kemiringan Garis/Gradien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id-ID" dirty="0" smtClean="0"/>
                  <a:t>Jika A=0, persamaan berbentuk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id-ID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d-ID" dirty="0" smtClean="0"/>
                  <a:t> grafiknya sejajar dengan sumbu –X</a:t>
                </a:r>
              </a:p>
              <a:p>
                <a:pPr marL="514350" indent="-514350">
                  <a:buAutoNum type="arabicPeriod"/>
                </a:pPr>
                <a:r>
                  <a:rPr lang="id-ID" dirty="0"/>
                  <a:t>Jika </a:t>
                </a:r>
                <a:r>
                  <a:rPr lang="id-ID" dirty="0" smtClean="0"/>
                  <a:t>B=0</a:t>
                </a:r>
                <a:r>
                  <a:rPr lang="id-ID" dirty="0"/>
                  <a:t>, persamaan berbentuk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id-ID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d-ID" dirty="0"/>
                  <a:t> grafiknya </a:t>
                </a:r>
                <a:r>
                  <a:rPr lang="id-ID" dirty="0" smtClean="0"/>
                  <a:t>sejajar </a:t>
                </a:r>
                <a:r>
                  <a:rPr lang="id-ID" dirty="0"/>
                  <a:t>dengan sumbu </a:t>
                </a:r>
                <a:r>
                  <a:rPr lang="id-ID" dirty="0" smtClean="0"/>
                  <a:t>–Y</a:t>
                </a:r>
              </a:p>
              <a:p>
                <a:pPr marL="514350" indent="-514350">
                  <a:buAutoNum type="arabicPeriod"/>
                </a:pPr>
                <a:r>
                  <a:rPr lang="id-ID" dirty="0" smtClean="0"/>
                  <a:t>Jika A</a:t>
                </a:r>
                <a:r>
                  <a:rPr lang="id-ID" dirty="0"/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id-ID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d-ID" dirty="0"/>
                  <a:t> dan B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id-ID" dirty="0" smtClean="0"/>
                  <a:t>0, maka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>
                        <a:latin typeface="Cambria Math" panose="02040503050406030204" pitchFamily="18" charset="0"/>
                      </a:rPr>
                      <m:t>Ax</m:t>
                    </m:r>
                    <m:r>
                      <a:rPr lang="id-ID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d-ID">
                        <a:latin typeface="Cambria Math" panose="02040503050406030204" pitchFamily="18" charset="0"/>
                      </a:rPr>
                      <m:t>By</m:t>
                    </m:r>
                    <m:r>
                      <a:rPr lang="id-ID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d-ID">
                        <a:latin typeface="Cambria Math" panose="02040503050406030204" pitchFamily="18" charset="0"/>
                      </a:rPr>
                      <m:t>C</m:t>
                    </m:r>
                    <m:r>
                      <a:rPr lang="id-ID">
                        <a:latin typeface="Cambria Math" panose="02040503050406030204" pitchFamily="18" charset="0"/>
                      </a:rPr>
                      <m:t>=0</m:t>
                    </m:r>
                    <m:r>
                      <a:rPr lang="id-I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id-ID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id-ID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83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Menentukan Gradien dari Dua titik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724272" y="3256369"/>
                <a:ext cx="3388895" cy="10755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24272" y="3256369"/>
                <a:ext cx="3388895" cy="107557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67" y="2023561"/>
            <a:ext cx="5377364" cy="354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8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Persamaan garis lurus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 smtClean="0"/>
                  <a:t>1. Persamaan garis lurus melalui dua titik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d-ID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i="1" dirty="0">
                        <a:latin typeface="Cambria Math" panose="02040503050406030204" pitchFamily="18" charset="0"/>
                      </a:rPr>
                      <m:t>𝑑𝑎𝑛</m:t>
                    </m:r>
                    <m:r>
                      <a:rPr lang="id-ID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id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dirty="0"/>
                  <a:t> </a:t>
                </a:r>
                <a:r>
                  <a:rPr lang="id-ID" dirty="0" smtClean="0"/>
                  <a:t>adalah</a:t>
                </a:r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d-ID" dirty="0" smtClean="0"/>
              </a:p>
              <a:p>
                <a:pPr marL="0" indent="0">
                  <a:buNone/>
                </a:pPr>
                <a:r>
                  <a:rPr lang="id-ID" dirty="0" smtClean="0"/>
                  <a:t>2. Persamaan garis lurus dengan gradien </a:t>
                </a:r>
                <a:r>
                  <a:rPr lang="id-ID" i="1" dirty="0" smtClean="0"/>
                  <a:t>m </a:t>
                </a:r>
                <a:r>
                  <a:rPr lang="id-ID" dirty="0" smtClean="0"/>
                  <a:t>dan melalui titik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d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i="1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d-ID" i="1" dirty="0" smtClean="0"/>
              </a:p>
              <a:p>
                <a:pPr marL="0" indent="0">
                  <a:buNone/>
                </a:pPr>
                <a:r>
                  <a:rPr lang="id-ID" dirty="0" smtClean="0"/>
                  <a:t>3. Jika diketahui dua garis dengan gradien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d-ID" dirty="0" smtClean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dirty="0" smtClean="0"/>
                  <a:t>, maka:</a:t>
                </a:r>
              </a:p>
              <a:p>
                <a:pPr marL="514350" indent="-514350">
                  <a:buAutoNum type="alphaLcPeriod"/>
                </a:pPr>
                <a:r>
                  <a:rPr lang="id-ID" dirty="0" smtClean="0"/>
                  <a:t>Dua garis sejajar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dirty="0" smtClean="0"/>
                  <a:t>;</a:t>
                </a:r>
              </a:p>
              <a:p>
                <a:pPr marL="514350" indent="-514350">
                  <a:buAutoNum type="alphaLcPeriod"/>
                </a:pPr>
                <a:r>
                  <a:rPr lang="id-ID" dirty="0" smtClean="0"/>
                  <a:t>Dua garis tegak lurus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74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 Soal Persamaan Garis Lurus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just">
                  <a:buFont typeface="+mj-lt"/>
                  <a:buAutoNum type="arabicPeriod"/>
                </a:pPr>
                <a:r>
                  <a:rPr lang="id-ID" dirty="0" smtClean="0"/>
                  <a:t>Gradien garis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=6 </m:t>
                    </m:r>
                  </m:oMath>
                </a14:m>
                <a:r>
                  <a:rPr lang="id-ID" dirty="0" smtClean="0"/>
                  <a:t>adalah..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d-ID" dirty="0" smtClean="0"/>
                  <a:t>Sebuah garis dengan persamaan </a:t>
                </a:r>
                <a14:m>
                  <m:oMath xmlns:m="http://schemas.openxmlformats.org/officeDocument/2006/math">
                    <m:r>
                      <a:rPr lang="id-ID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id-ID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dirty="0" smtClean="0"/>
                  <a:t>maka titik potong terhadap sumbu x adalah..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d-ID" dirty="0" smtClean="0"/>
                  <a:t>Gradien persamaan garis melalui titik (3,6) dan (6,9) adalah..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d-ID" dirty="0" smtClean="0"/>
                  <a:t>Persamaan garis lurus melalui titik soal no 3 adalah..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d-ID" dirty="0" smtClean="0"/>
                  <a:t>Persamaan garis lurus dengan m=3 dan melalui titik 2,4) adalah..</a:t>
                </a:r>
                <a:endParaRPr lang="id-ID" dirty="0" smtClean="0"/>
              </a:p>
              <a:p>
                <a:pPr marL="514350" indent="-514350" algn="just">
                  <a:buFont typeface="+mj-lt"/>
                  <a:buAutoNum type="arabicPeriod"/>
                </a:pP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15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73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Persamaan Lingkaran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56684" cy="435133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d-ID" dirty="0" smtClean="0"/>
                  <a:t>Lingkaran adalah himpunan titik-titik yang berjarak sama terhdap titik tertentu (pusat lingkaran). </a:t>
                </a:r>
              </a:p>
              <a:p>
                <a:pPr marL="514350" indent="-514350" algn="just">
                  <a:buAutoNum type="arabicPeriod"/>
                </a:pPr>
                <a:r>
                  <a:rPr lang="id-ID" dirty="0" smtClean="0"/>
                  <a:t>Persamaan lingkaran berjari-jari </a:t>
                </a:r>
                <a:r>
                  <a:rPr lang="id-ID" i="1" dirty="0" smtClean="0"/>
                  <a:t>r </a:t>
                </a:r>
                <a:r>
                  <a:rPr lang="id-ID" dirty="0" smtClean="0"/>
                  <a:t>dan (0,0) adalah </a:t>
                </a:r>
              </a:p>
              <a:p>
                <a:pPr marL="0" indent="0" algn="just">
                  <a:buNone/>
                </a:pPr>
                <a:endParaRPr lang="id-ID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d-ID" i="1" dirty="0" smtClean="0"/>
              </a:p>
              <a:p>
                <a:pPr marL="0" indent="0" algn="just">
                  <a:buNone/>
                </a:pPr>
                <a:endParaRPr lang="id-ID" i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56684" cy="4351338"/>
              </a:xfrm>
              <a:blipFill>
                <a:blip r:embed="rId2"/>
                <a:stretch>
                  <a:fillRect l="-2015" t="-2241" r="-201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884" y="1690688"/>
            <a:ext cx="4523373" cy="44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1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Persamaan Lingkaran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97905" cy="435133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d-ID" dirty="0" smtClean="0"/>
                  <a:t>2. </a:t>
                </a:r>
                <a:r>
                  <a:rPr lang="id-ID" dirty="0"/>
                  <a:t>Persamaan lingkaran berjari-jari </a:t>
                </a:r>
                <a:r>
                  <a:rPr lang="id-ID" i="1" dirty="0"/>
                  <a:t>r </a:t>
                </a:r>
                <a:r>
                  <a:rPr lang="id-ID" dirty="0"/>
                  <a:t>dengan pusat </a:t>
                </a:r>
                <a:r>
                  <a:rPr lang="id-ID" i="1" dirty="0"/>
                  <a:t>(a,b) </a:t>
                </a:r>
                <a:r>
                  <a:rPr lang="id-ID" dirty="0" smtClean="0"/>
                  <a:t>adalah</a:t>
                </a:r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97905" cy="4351338"/>
              </a:xfrm>
              <a:blipFill>
                <a:blip r:embed="rId2"/>
                <a:stretch>
                  <a:fillRect l="-2417" t="-2241" r="-230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050" y="1727708"/>
            <a:ext cx="5031707" cy="45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5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</a:t>
            </a:r>
            <a:r>
              <a:rPr lang="id-ID" dirty="0" smtClean="0"/>
              <a:t>Soal 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b="1" dirty="0" smtClean="0"/>
              <a:t>(bersambung..)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273729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11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1692</Words>
  <Application>Microsoft Office PowerPoint</Application>
  <PresentationFormat>Widescreen</PresentationFormat>
  <Paragraphs>167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Office Theme</vt:lpstr>
      <vt:lpstr>PowerPoint Presentation</vt:lpstr>
      <vt:lpstr>KALKULUS DASAR</vt:lpstr>
      <vt:lpstr>Capaian Pembelajaran Mata Kuliah (CPMK)</vt:lpstr>
      <vt:lpstr>Materi Pembelajaran</vt:lpstr>
      <vt:lpstr>Sistem Bilangan Real</vt:lpstr>
      <vt:lpstr>Interval Bilangan Real</vt:lpstr>
      <vt:lpstr>Latihan Soal Interval Bilangan Real</vt:lpstr>
      <vt:lpstr>Polinom/Suku Banyak</vt:lpstr>
      <vt:lpstr>Polinom Linear Derajat Satu</vt:lpstr>
      <vt:lpstr>Polinom Linear Derajat Dua</vt:lpstr>
      <vt:lpstr>Contoh Polinom Linear Derajat Dua</vt:lpstr>
      <vt:lpstr>Pertidaksamaan</vt:lpstr>
      <vt:lpstr>Contoh Soal Pertidaksamaan</vt:lpstr>
      <vt:lpstr>Latihan Soal Pertidaksamaan</vt:lpstr>
      <vt:lpstr>Nilai Mutlak</vt:lpstr>
      <vt:lpstr>Contoh Soal Nilai Mutlak</vt:lpstr>
      <vt:lpstr>Pertidaksamaan dengan Nilai Mutlak</vt:lpstr>
      <vt:lpstr>Contoh dan Latihan Soal</vt:lpstr>
      <vt:lpstr>Sistem Koordinat Cartesius</vt:lpstr>
      <vt:lpstr>Jarak Dua Titik</vt:lpstr>
      <vt:lpstr>Contoh Soal</vt:lpstr>
      <vt:lpstr>Persamaan Garis Lurus dan Grafiknya</vt:lpstr>
      <vt:lpstr>Persayaratan Kemiringan Garis/Gradien</vt:lpstr>
      <vt:lpstr>Menentukan Gradien dari Dua titik</vt:lpstr>
      <vt:lpstr>Persamaan garis lurus</vt:lpstr>
      <vt:lpstr>Latihan Soal Persamaan Garis Lurus</vt:lpstr>
      <vt:lpstr>Persamaan Lingkaran</vt:lpstr>
      <vt:lpstr>Persamaan Lingkaran</vt:lpstr>
      <vt:lpstr>Contoh Soal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Aulia Hamdi</dc:creator>
  <cp:lastModifiedBy>Khairunnisak Nur Isnaini</cp:lastModifiedBy>
  <cp:revision>108</cp:revision>
  <dcterms:created xsi:type="dcterms:W3CDTF">2021-08-16T08:18:43Z</dcterms:created>
  <dcterms:modified xsi:type="dcterms:W3CDTF">2021-09-26T16:14:35Z</dcterms:modified>
</cp:coreProperties>
</file>