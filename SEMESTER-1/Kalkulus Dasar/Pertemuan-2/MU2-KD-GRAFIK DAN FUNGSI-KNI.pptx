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335" r:id="rId3"/>
    <p:sldId id="336" r:id="rId4"/>
    <p:sldId id="345" r:id="rId5"/>
    <p:sldId id="347" r:id="rId6"/>
    <p:sldId id="349" r:id="rId7"/>
    <p:sldId id="350" r:id="rId8"/>
    <p:sldId id="351" r:id="rId9"/>
    <p:sldId id="353" r:id="rId10"/>
    <p:sldId id="375" r:id="rId11"/>
    <p:sldId id="373" r:id="rId12"/>
    <p:sldId id="356" r:id="rId13"/>
    <p:sldId id="378" r:id="rId14"/>
    <p:sldId id="357" r:id="rId15"/>
    <p:sldId id="379" r:id="rId16"/>
    <p:sldId id="359" r:id="rId17"/>
    <p:sldId id="376" r:id="rId18"/>
    <p:sldId id="377" r:id="rId19"/>
    <p:sldId id="380" r:id="rId20"/>
    <p:sldId id="361" r:id="rId21"/>
    <p:sldId id="362" r:id="rId22"/>
    <p:sldId id="382" r:id="rId23"/>
    <p:sldId id="363" r:id="rId24"/>
    <p:sldId id="383" r:id="rId25"/>
    <p:sldId id="364" r:id="rId26"/>
    <p:sldId id="384" r:id="rId27"/>
    <p:sldId id="386" r:id="rId28"/>
    <p:sldId id="388" r:id="rId29"/>
    <p:sldId id="389" r:id="rId30"/>
    <p:sldId id="390" r:id="rId31"/>
    <p:sldId id="387" r:id="rId32"/>
    <p:sldId id="391" r:id="rId33"/>
    <p:sldId id="392" r:id="rId34"/>
    <p:sldId id="393" r:id="rId35"/>
    <p:sldId id="394" r:id="rId36"/>
    <p:sldId id="395" r:id="rId37"/>
    <p:sldId id="32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235E3B1-16CD-45C0-9D23-2E14BE76889C}">
          <p14:sldIdLst>
            <p14:sldId id="256"/>
            <p14:sldId id="335"/>
            <p14:sldId id="336"/>
            <p14:sldId id="345"/>
            <p14:sldId id="347"/>
            <p14:sldId id="349"/>
            <p14:sldId id="350"/>
            <p14:sldId id="351"/>
            <p14:sldId id="353"/>
            <p14:sldId id="375"/>
            <p14:sldId id="373"/>
            <p14:sldId id="356"/>
            <p14:sldId id="378"/>
            <p14:sldId id="357"/>
            <p14:sldId id="379"/>
            <p14:sldId id="359"/>
            <p14:sldId id="376"/>
            <p14:sldId id="377"/>
            <p14:sldId id="380"/>
            <p14:sldId id="361"/>
            <p14:sldId id="362"/>
            <p14:sldId id="382"/>
            <p14:sldId id="363"/>
            <p14:sldId id="383"/>
            <p14:sldId id="364"/>
            <p14:sldId id="384"/>
            <p14:sldId id="386"/>
            <p14:sldId id="388"/>
            <p14:sldId id="389"/>
            <p14:sldId id="390"/>
            <p14:sldId id="387"/>
            <p14:sldId id="391"/>
            <p14:sldId id="392"/>
            <p14:sldId id="393"/>
            <p14:sldId id="394"/>
            <p14:sldId id="395"/>
            <p14:sldId id="32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91" autoAdjust="0"/>
    <p:restoredTop sz="93018" autoAdjust="0"/>
  </p:normalViewPr>
  <p:slideViewPr>
    <p:cSldViewPr snapToGrid="0">
      <p:cViewPr varScale="1">
        <p:scale>
          <a:sx n="65" d="100"/>
          <a:sy n="65" d="100"/>
        </p:scale>
        <p:origin x="564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49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2BEC3-B529-4DC6-A740-8FF6A3BC681B}" type="datetimeFigureOut">
              <a:rPr lang="id-ID" smtClean="0"/>
              <a:t>03/10/2021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F794EF-16F7-4C9E-A372-FBBF4281395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95996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2FAED-D326-4B8F-A5D3-DCA59C722B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996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27643-DFB4-4B60-861D-C3B7E5CCA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B873E-FE53-4EE3-9F2C-89B2552F6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0910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6A39-72E9-4E8C-A3E2-B1E0B1E7F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6CDC4-6B45-4521-B6F6-2E5010FEE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9756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62E77-9D07-4321-A260-C918CAB1A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40D72-EEC5-4535-B36A-C9FD150D8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1CA161-B4E7-4B79-8295-347DCCA3F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347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3EDB3-610C-4E2D-9A92-56A327E53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89212"/>
            <a:ext cx="10515600" cy="87405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8F174-B6FD-4DD0-8D4F-03F6B35A7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63271"/>
            <a:ext cx="5157787" cy="5418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9DF1A-3571-441E-A1F0-CAD36AC7C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A01AD2-32F1-4F2A-83F3-2347DB090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63271"/>
            <a:ext cx="5183188" cy="5418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EDA034-8AA2-4E3B-BEB8-FC5E44308B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62841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46045-D4CC-4AF8-9506-31760854D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1855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0928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FA372-4BC7-4E4F-A58D-96835C0FA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5406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6B8A7-A4E1-43BE-B5D4-5BD3BEEAD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6FE77-274C-495D-8B1B-036A983B7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28046"/>
            <a:ext cx="3932237" cy="334094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8266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DB33-DAC8-401B-BC0C-39B98EEA0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5406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0F8548-56A5-4AED-BA09-D0414793F9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D8ADF7-16C8-4BD6-BC33-31A9E6FF8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28046"/>
            <a:ext cx="3932237" cy="334094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8953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5F56-3F28-4576-9141-CE1A25D1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7890DC-DCBC-4097-B1CD-14F79AC9F7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8138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B75270-2263-4B3D-B242-D3700DF78D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008528"/>
            <a:ext cx="2628900" cy="5168434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0ADD3B-0087-48E8-8B6E-B1308FF1A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008529"/>
            <a:ext cx="7734300" cy="516843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55336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AB0BD67-BE4A-4677-9434-2B2FFB71DE9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8D220C-A577-4728-AEA1-41E6BBDEC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1635"/>
            <a:ext cx="10515600" cy="7090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923BD-52C5-48BF-93E5-E10D95631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5606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7030A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011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305E02-48D9-4DB7-A4B0-A9AFDEB0C9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7907FF-77D6-4B04-B353-C2ABA8EC4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046" y="727238"/>
            <a:ext cx="5753100" cy="1113622"/>
          </a:xfrm>
        </p:spPr>
        <p:txBody>
          <a:bodyPr/>
          <a:lstStyle/>
          <a:p>
            <a:r>
              <a:rPr lang="id-ID" dirty="0" smtClean="0">
                <a:solidFill>
                  <a:schemeClr val="bg1"/>
                </a:solidFill>
              </a:rPr>
              <a:t>KALKULUS DASAR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FEB3B-E82D-4783-AB11-C583DB98F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77046" y="4795341"/>
            <a:ext cx="6086268" cy="760331"/>
          </a:xfrm>
        </p:spPr>
        <p:txBody>
          <a:bodyPr>
            <a:normAutofit fontScale="92500"/>
          </a:bodyPr>
          <a:lstStyle/>
          <a:p>
            <a:r>
              <a:rPr lang="en-US" sz="2800" b="1" dirty="0" err="1" smtClean="0">
                <a:solidFill>
                  <a:schemeClr val="bg1"/>
                </a:solidFill>
                <a:latin typeface="+mj-lt"/>
              </a:rPr>
              <a:t>Pengampu</a:t>
            </a:r>
            <a:r>
              <a:rPr lang="en-US" sz="2800" b="1" dirty="0" smtClean="0">
                <a:solidFill>
                  <a:schemeClr val="bg1"/>
                </a:solidFill>
                <a:latin typeface="+mj-lt"/>
              </a:rPr>
              <a:t>: </a:t>
            </a:r>
            <a:r>
              <a:rPr lang="id-ID" sz="2800" b="1" dirty="0" smtClean="0">
                <a:solidFill>
                  <a:schemeClr val="bg1"/>
                </a:solidFill>
                <a:latin typeface="+mj-lt"/>
              </a:rPr>
              <a:t>Khairunnisak Nur Isnaini, M</a:t>
            </a:r>
            <a:r>
              <a:rPr lang="en-US" sz="2800" b="1" dirty="0" smtClean="0">
                <a:solidFill>
                  <a:schemeClr val="bg1"/>
                </a:solidFill>
                <a:latin typeface="+mj-lt"/>
              </a:rPr>
              <a:t>.</a:t>
            </a:r>
            <a:r>
              <a:rPr lang="id-ID" sz="2800" b="1" dirty="0" smtClean="0">
                <a:solidFill>
                  <a:schemeClr val="bg1"/>
                </a:solidFill>
                <a:latin typeface="+mj-lt"/>
              </a:rPr>
              <a:t>Kom.</a:t>
            </a:r>
            <a:endParaRPr lang="en-ID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1FFEB3B-E82D-4783-AB11-C583DB98F4B1}"/>
              </a:ext>
            </a:extLst>
          </p:cNvPr>
          <p:cNvSpPr txBox="1">
            <a:spLocks/>
          </p:cNvSpPr>
          <p:nvPr/>
        </p:nvSpPr>
        <p:spPr>
          <a:xfrm>
            <a:off x="3344141" y="2014167"/>
            <a:ext cx="5818910" cy="76033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 err="1" smtClean="0">
                <a:solidFill>
                  <a:schemeClr val="bg1"/>
                </a:solidFill>
                <a:latin typeface="+mj-lt"/>
              </a:rPr>
              <a:t>Pertemuan</a:t>
            </a:r>
            <a:r>
              <a:rPr lang="en-US" sz="2800" b="1" dirty="0" smtClean="0">
                <a:solidFill>
                  <a:schemeClr val="bg1"/>
                </a:solidFill>
                <a:latin typeface="+mj-lt"/>
              </a:rPr>
              <a:t>: </a:t>
            </a:r>
            <a:r>
              <a:rPr lang="id-ID" sz="2800" b="1" dirty="0" smtClean="0">
                <a:solidFill>
                  <a:schemeClr val="bg1"/>
                </a:solidFill>
                <a:latin typeface="+mj-lt"/>
              </a:rPr>
              <a:t>II</a:t>
            </a:r>
          </a:p>
          <a:p>
            <a:pPr algn="ctr"/>
            <a:r>
              <a:rPr lang="id-ID" sz="2800" b="1" dirty="0" smtClean="0">
                <a:solidFill>
                  <a:schemeClr val="bg1"/>
                </a:solidFill>
                <a:latin typeface="+mj-lt"/>
              </a:rPr>
              <a:t>GRAFIK DAN FUNGSI</a:t>
            </a:r>
            <a:endParaRPr lang="en-ID" sz="28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33539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Capaian</a:t>
            </a:r>
            <a:r>
              <a:rPr lang="en-US" dirty="0" smtClean="0"/>
              <a:t> </a:t>
            </a:r>
            <a:r>
              <a:rPr lang="en-US" dirty="0" err="1" smtClean="0"/>
              <a:t>Pembelajaran</a:t>
            </a:r>
            <a:r>
              <a:rPr lang="en-US" dirty="0" smtClean="0"/>
              <a:t> Mata </a:t>
            </a:r>
            <a:r>
              <a:rPr lang="en-US" dirty="0" err="1" smtClean="0"/>
              <a:t>Kuliah</a:t>
            </a:r>
            <a:r>
              <a:rPr lang="en-US" dirty="0" smtClean="0"/>
              <a:t> (CPMK)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692148" cy="4351338"/>
          </a:xfrm>
        </p:spPr>
        <p:txBody>
          <a:bodyPr>
            <a:normAutofit/>
          </a:bodyPr>
          <a:lstStyle/>
          <a:p>
            <a:pPr lvl="0"/>
            <a:r>
              <a:rPr lang="en-US" dirty="0" err="1"/>
              <a:t>Pengantar</a:t>
            </a:r>
            <a:r>
              <a:rPr lang="en-US" dirty="0"/>
              <a:t> </a:t>
            </a:r>
            <a:r>
              <a:rPr lang="en-US" dirty="0" err="1"/>
              <a:t>Kalkulus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id-ID" dirty="0"/>
              <a:t>dasar- dasar kalkulus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459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Materi Pembelajaran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12C30-0D74-446E-B644-8BF31BCF3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 err="1"/>
              <a:t>Grafik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persamaan</a:t>
            </a:r>
            <a:endParaRPr lang="id-ID" dirty="0"/>
          </a:p>
          <a:p>
            <a:pPr lvl="0"/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grafik</a:t>
            </a:r>
            <a:r>
              <a:rPr lang="en-US" dirty="0"/>
              <a:t> </a:t>
            </a:r>
            <a:r>
              <a:rPr lang="en-US" dirty="0" err="1"/>
              <a:t>fungsi</a:t>
            </a:r>
            <a:endParaRPr lang="id-ID" dirty="0"/>
          </a:p>
          <a:p>
            <a:pPr lvl="0"/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fungsi</a:t>
            </a:r>
            <a:endParaRPr lang="id-ID" dirty="0"/>
          </a:p>
          <a:p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Trigonometri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89016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Fungsi dan Grafik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12C30-0D74-446E-B644-8BF31BCF3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74" y="1804737"/>
            <a:ext cx="10487526" cy="4372226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lang="id-ID" dirty="0" smtClean="0"/>
              <a:t>Misalkan </a:t>
            </a:r>
            <a:r>
              <a:rPr lang="id-ID" i="1" dirty="0" smtClean="0"/>
              <a:t>A</a:t>
            </a:r>
            <a:r>
              <a:rPr lang="id-ID" dirty="0" smtClean="0"/>
              <a:t> dan </a:t>
            </a:r>
            <a:r>
              <a:rPr lang="id-ID" i="1" dirty="0" smtClean="0"/>
              <a:t>B </a:t>
            </a:r>
            <a:r>
              <a:rPr lang="id-ID" dirty="0" smtClean="0"/>
              <a:t>dua buah himpunan. Fungsi dari A ke B adalah aturan memasangkan setiap elemen di </a:t>
            </a:r>
            <a:r>
              <a:rPr lang="id-ID" i="1" dirty="0" smtClean="0"/>
              <a:t>A</a:t>
            </a:r>
            <a:r>
              <a:rPr lang="id-ID" dirty="0" smtClean="0"/>
              <a:t> </a:t>
            </a:r>
            <a:r>
              <a:rPr lang="id-ID" b="1" dirty="0" smtClean="0"/>
              <a:t>dengan tepat satu</a:t>
            </a:r>
            <a:r>
              <a:rPr lang="id-ID" dirty="0" smtClean="0"/>
              <a:t> elemen di </a:t>
            </a:r>
            <a:r>
              <a:rPr lang="id-ID" i="1" dirty="0" smtClean="0"/>
              <a:t>B.</a:t>
            </a:r>
          </a:p>
          <a:p>
            <a:pPr marL="0" lvl="0" indent="0" algn="just">
              <a:buNone/>
            </a:pPr>
            <a:endParaRPr lang="id-ID" i="1" dirty="0"/>
          </a:p>
          <a:p>
            <a:pPr marL="0" lvl="0" indent="0" algn="just">
              <a:buNone/>
            </a:pPr>
            <a:endParaRPr lang="id-ID" i="1" dirty="0" smtClean="0"/>
          </a:p>
          <a:p>
            <a:pPr marL="0" lvl="0" indent="0" algn="just">
              <a:buNone/>
            </a:pPr>
            <a:endParaRPr lang="id-ID" i="1" dirty="0"/>
          </a:p>
          <a:p>
            <a:pPr marL="0" lvl="0" indent="0" algn="just">
              <a:buNone/>
            </a:pPr>
            <a:endParaRPr lang="id-ID" i="1" dirty="0" smtClean="0"/>
          </a:p>
          <a:p>
            <a:pPr marL="0" lvl="0" indent="0" algn="just">
              <a:buNone/>
            </a:pPr>
            <a:endParaRPr lang="id-ID" i="1" dirty="0"/>
          </a:p>
          <a:p>
            <a:pPr marL="0" lvl="0" indent="0" algn="just">
              <a:buNone/>
            </a:pPr>
            <a:r>
              <a:rPr lang="id-ID" dirty="0" smtClean="0"/>
              <a:t>Notasi fungsi y=f(x) dengan y variabel/peubah dan x sebagai variabel bebas</a:t>
            </a:r>
          </a:p>
          <a:p>
            <a:pPr marL="0" lvl="0" indent="0" algn="just">
              <a:buNone/>
            </a:pPr>
            <a:endParaRPr lang="id-ID" i="1" dirty="0"/>
          </a:p>
          <a:p>
            <a:pPr marL="0" lvl="0" indent="0" algn="just">
              <a:buNone/>
            </a:pPr>
            <a:endParaRPr lang="en-ID" i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339" y="2829778"/>
            <a:ext cx="3211429" cy="234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802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Fungsi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dirty="0"/>
                  <a:t>Misalkan A </a:t>
                </a:r>
                <a:r>
                  <a:rPr lang="en-US" dirty="0" err="1"/>
                  <a:t>dan</a:t>
                </a:r>
                <a:r>
                  <a:rPr lang="en-US" dirty="0"/>
                  <a:t> B </a:t>
                </a:r>
                <a:r>
                  <a:rPr lang="en-US" dirty="0" err="1"/>
                  <a:t>adalah</a:t>
                </a:r>
                <a:r>
                  <a:rPr lang="en-US" dirty="0"/>
                  <a:t> </a:t>
                </a:r>
                <a:r>
                  <a:rPr lang="en-US" dirty="0" err="1"/>
                  <a:t>himpunan</a:t>
                </a:r>
                <a:r>
                  <a:rPr lang="en-US" dirty="0"/>
                  <a:t>. </a:t>
                </a:r>
                <a:r>
                  <a:rPr lang="en-US" dirty="0" err="1"/>
                  <a:t>Suatu</a:t>
                </a:r>
                <a:r>
                  <a:rPr lang="en-US" dirty="0"/>
                  <a:t> </a:t>
                </a:r>
                <a:r>
                  <a:rPr lang="en-US" dirty="0" err="1"/>
                  <a:t>fungsi</a:t>
                </a:r>
                <a:r>
                  <a:rPr lang="en-US" dirty="0"/>
                  <a:t> </a:t>
                </a:r>
                <a:r>
                  <a:rPr lang="en-US" dirty="0" err="1"/>
                  <a:t>dari</a:t>
                </a:r>
                <a:r>
                  <a:rPr lang="en-US" dirty="0"/>
                  <a:t> A </a:t>
                </a:r>
                <a:r>
                  <a:rPr lang="en-US" dirty="0" err="1"/>
                  <a:t>ke</a:t>
                </a:r>
                <a:r>
                  <a:rPr lang="en-US" dirty="0"/>
                  <a:t> B, </a:t>
                </a:r>
                <a:r>
                  <a:rPr lang="en-US" dirty="0" err="1"/>
                  <a:t>dinotasikan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𝑓</m:t>
                    </m:r>
                    <m:r>
                      <a:rPr lang="en-US" i="1">
                        <a:latin typeface="Cambria Math"/>
                      </a:rPr>
                      <m:t>:</m:t>
                    </m:r>
                    <m:r>
                      <a:rPr lang="en-US" i="1">
                        <a:latin typeface="Cambria Math"/>
                      </a:rPr>
                      <m:t>𝐴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𝐵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adalah</a:t>
                </a:r>
                <a:r>
                  <a:rPr lang="en-US" dirty="0"/>
                  <a:t> </a:t>
                </a:r>
                <a:r>
                  <a:rPr lang="en-US" dirty="0" err="1"/>
                  <a:t>aturan</a:t>
                </a:r>
                <a:r>
                  <a:rPr lang="en-US" dirty="0"/>
                  <a:t> yang </a:t>
                </a:r>
                <a:r>
                  <a:rPr lang="en-US" dirty="0" err="1"/>
                  <a:t>memetakan</a:t>
                </a:r>
                <a:r>
                  <a:rPr lang="en-US" dirty="0"/>
                  <a:t> </a:t>
                </a:r>
                <a:r>
                  <a:rPr lang="en-US" dirty="0" err="1"/>
                  <a:t>setiap</a:t>
                </a:r>
                <a:r>
                  <a:rPr lang="en-US" dirty="0"/>
                  <a:t> </a:t>
                </a:r>
                <a:r>
                  <a:rPr lang="en-US" dirty="0" err="1"/>
                  <a:t>elemen</a:t>
                </a:r>
                <a:r>
                  <a:rPr lang="en-US" dirty="0"/>
                  <a:t> A </a:t>
                </a:r>
                <a:r>
                  <a:rPr lang="en-US" dirty="0" err="1"/>
                  <a:t>ke</a:t>
                </a:r>
                <a:r>
                  <a:rPr lang="en-US" dirty="0"/>
                  <a:t> </a:t>
                </a:r>
                <a:r>
                  <a:rPr lang="en-US" dirty="0" err="1"/>
                  <a:t>tepat</a:t>
                </a:r>
                <a:r>
                  <a:rPr lang="en-US" dirty="0"/>
                  <a:t> </a:t>
                </a:r>
                <a:r>
                  <a:rPr lang="en-US" dirty="0" err="1"/>
                  <a:t>satu</a:t>
                </a:r>
                <a:r>
                  <a:rPr lang="en-US" dirty="0"/>
                  <a:t> </a:t>
                </a:r>
                <a:r>
                  <a:rPr lang="en-US" dirty="0" err="1"/>
                  <a:t>elemen</a:t>
                </a:r>
                <a:r>
                  <a:rPr lang="en-US" dirty="0"/>
                  <a:t> B.</a:t>
                </a:r>
              </a:p>
              <a:p>
                <a:pPr algn="just"/>
                <a:r>
                  <a:rPr lang="en-US" dirty="0"/>
                  <a:t>A </a:t>
                </a:r>
                <a:r>
                  <a:rPr lang="en-US" dirty="0" err="1"/>
                  <a:t>disebut</a:t>
                </a:r>
                <a:r>
                  <a:rPr lang="en-US" dirty="0"/>
                  <a:t> domain (</a:t>
                </a:r>
                <a:r>
                  <a:rPr lang="en-US" dirty="0" err="1"/>
                  <a:t>daerah</a:t>
                </a:r>
                <a:r>
                  <a:rPr lang="en-US" dirty="0"/>
                  <a:t> </a:t>
                </a:r>
                <a:r>
                  <a:rPr lang="en-US" dirty="0" err="1"/>
                  <a:t>asal</a:t>
                </a:r>
                <a:r>
                  <a:rPr lang="en-US" dirty="0"/>
                  <a:t>)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i="1" dirty="0"/>
                  <a:t>f.</a:t>
                </a:r>
              </a:p>
              <a:p>
                <a:pPr algn="just"/>
                <a:r>
                  <a:rPr lang="en-US" dirty="0"/>
                  <a:t>B </a:t>
                </a:r>
                <a:r>
                  <a:rPr lang="en-US" dirty="0" err="1"/>
                  <a:t>disebut</a:t>
                </a:r>
                <a:r>
                  <a:rPr lang="en-US" dirty="0"/>
                  <a:t> </a:t>
                </a:r>
                <a:r>
                  <a:rPr lang="en-US" dirty="0" err="1"/>
                  <a:t>kodomain</a:t>
                </a:r>
                <a:r>
                  <a:rPr lang="en-US" dirty="0"/>
                  <a:t> (</a:t>
                </a:r>
                <a:r>
                  <a:rPr lang="en-US" dirty="0" err="1"/>
                  <a:t>daerah</a:t>
                </a:r>
                <a:r>
                  <a:rPr lang="en-US" dirty="0"/>
                  <a:t> </a:t>
                </a:r>
                <a:r>
                  <a:rPr lang="en-US" dirty="0" err="1"/>
                  <a:t>kawan</a:t>
                </a:r>
                <a:r>
                  <a:rPr lang="en-US" dirty="0"/>
                  <a:t>)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i="1" dirty="0"/>
                  <a:t>f.</a:t>
                </a:r>
              </a:p>
              <a:p>
                <a:pPr algn="just"/>
                <a:r>
                  <a:rPr lang="en-US" dirty="0"/>
                  <a:t>Range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i="1" dirty="0"/>
                  <a:t>f</a:t>
                </a:r>
                <a:r>
                  <a:rPr lang="en-US" dirty="0"/>
                  <a:t> </a:t>
                </a:r>
                <a:r>
                  <a:rPr lang="en-US" dirty="0" err="1"/>
                  <a:t>merupakan</a:t>
                </a:r>
                <a:r>
                  <a:rPr lang="en-US" dirty="0"/>
                  <a:t> subset B </a:t>
                </a:r>
                <a:r>
                  <a:rPr lang="en-US" dirty="0" err="1"/>
                  <a:t>adalah</a:t>
                </a:r>
                <a:r>
                  <a:rPr lang="en-US" dirty="0"/>
                  <a:t> </a:t>
                </a:r>
                <a:r>
                  <a:rPr lang="en-US" dirty="0" err="1"/>
                  <a:t>daerah</a:t>
                </a:r>
                <a:r>
                  <a:rPr lang="en-US" dirty="0"/>
                  <a:t> </a:t>
                </a:r>
                <a:r>
                  <a:rPr lang="en-US" dirty="0" err="1"/>
                  <a:t>hasil</a:t>
                </a:r>
                <a:r>
                  <a:rPr lang="en-US" dirty="0"/>
                  <a:t>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i="1" dirty="0"/>
                  <a:t>f.</a:t>
                </a:r>
                <a:endParaRPr lang="en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59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2683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Misalkan </a:t>
                </a:r>
                <a:r>
                  <a:rPr lang="en-US" dirty="0" err="1"/>
                  <a:t>fungsi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𝑓</m:t>
                    </m:r>
                    <m:r>
                      <a:rPr lang="en-US" i="1">
                        <a:latin typeface="Cambria Math"/>
                      </a:rPr>
                      <m:t>:</m:t>
                    </m:r>
                    <m:r>
                      <a:rPr lang="en-US" i="1">
                        <a:latin typeface="Cambria Math"/>
                      </a:rPr>
                      <m:t>𝑅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𝑅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diberikan</a:t>
                </a:r>
                <a:r>
                  <a:rPr lang="en-US" dirty="0"/>
                  <a:t> </a:t>
                </a:r>
                <a:r>
                  <a:rPr lang="en-US" dirty="0" err="1"/>
                  <a:t>oleh</a:t>
                </a:r>
                <a:r>
                  <a:rPr lang="en-US" dirty="0"/>
                  <a:t>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+5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 err="1"/>
                  <a:t>Dapat</a:t>
                </a:r>
                <a:r>
                  <a:rPr lang="en-US" dirty="0"/>
                  <a:t> </a:t>
                </a:r>
                <a:r>
                  <a:rPr lang="en-US" dirty="0" err="1"/>
                  <a:t>kita</a:t>
                </a:r>
                <a:r>
                  <a:rPr lang="en-US" dirty="0"/>
                  <a:t> </a:t>
                </a:r>
                <a:r>
                  <a:rPr lang="en-US" dirty="0" err="1"/>
                  <a:t>tulis</a:t>
                </a:r>
                <a:r>
                  <a:rPr lang="en-US" dirty="0"/>
                  <a:t> juga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+5</m:t>
                    </m:r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  <a:p>
                <a:r>
                  <a:rPr lang="en-US" dirty="0" err="1"/>
                  <a:t>Misalkan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−3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+7</m:t>
                    </m:r>
                  </m:oMath>
                </a14:m>
                <a:r>
                  <a:rPr lang="en-US" dirty="0"/>
                  <a:t>. </a:t>
                </a:r>
                <a:r>
                  <a:rPr lang="en-US" dirty="0" err="1"/>
                  <a:t>Tentukan</a:t>
                </a:r>
                <a:r>
                  <a:rPr lang="en-US" dirty="0"/>
                  <a:t> :</a:t>
                </a:r>
              </a:p>
              <a:p>
                <a:pPr marL="514350" indent="-51435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𝑔</m:t>
                    </m:r>
                    <m:r>
                      <a:rPr lang="en-US" i="1" dirty="0">
                        <a:latin typeface="Cambria Math"/>
                      </a:rPr>
                      <m:t>(10) </m:t>
                    </m:r>
                  </m:oMath>
                </a14:m>
                <a:endParaRPr lang="en-US" i="1" dirty="0"/>
              </a:p>
              <a:p>
                <a:pPr marL="514350" indent="-51435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𝑎</m:t>
                        </m:r>
                        <m:r>
                          <a:rPr lang="en-US" i="1" dirty="0">
                            <a:latin typeface="Cambria Math"/>
                          </a:rPr>
                          <m:t>+1</m:t>
                        </m:r>
                      </m:e>
                    </m:d>
                  </m:oMath>
                </a14:m>
                <a:endParaRPr lang="en-US" i="1" dirty="0"/>
              </a:p>
              <a:p>
                <a:pPr marL="514350" indent="-51435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/>
                              </a:rPr>
                              <m:t>𝑟</m:t>
                            </m:r>
                          </m:e>
                          <m:sup>
                            <m:r>
                              <a:rPr lang="en-US" i="1" dirty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i="1" dirty="0"/>
              </a:p>
              <a:p>
                <a:pPr marL="514350" indent="-51435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  <m:r>
                          <a:rPr lang="en-US" i="1" dirty="0">
                            <a:latin typeface="Cambria Math"/>
                          </a:rPr>
                          <m:t>+</m:t>
                        </m:r>
                        <m:r>
                          <a:rPr lang="en-US" i="1" dirty="0">
                            <a:latin typeface="Cambria Math"/>
                          </a:rPr>
                          <m:t>h</m:t>
                        </m:r>
                      </m:e>
                    </m:d>
                  </m:oMath>
                </a14:m>
                <a:endParaRPr lang="en-US" i="1" dirty="0">
                  <a:latin typeface="Cambria Math"/>
                </a:endParaRPr>
              </a:p>
              <a:p>
                <a:pPr marL="514350" indent="-514350">
                  <a:buFont typeface="+mj-lt"/>
                  <a:buAutoNum type="alphaL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/>
                          </a:rPr>
                          <m:t>𝑔</m:t>
                        </m:r>
                        <m:r>
                          <a:rPr lang="en-US" i="1" dirty="0">
                            <a:latin typeface="Cambria Math"/>
                          </a:rPr>
                          <m:t>(</m:t>
                        </m:r>
                        <m:r>
                          <a:rPr lang="en-US" i="1" dirty="0" err="1">
                            <a:latin typeface="Cambria Math"/>
                          </a:rPr>
                          <m:t>𝑥</m:t>
                        </m:r>
                        <m:r>
                          <a:rPr lang="en-US" i="1" dirty="0" err="1">
                            <a:latin typeface="Cambria Math"/>
                          </a:rPr>
                          <m:t>+</m:t>
                        </m:r>
                        <m:r>
                          <a:rPr lang="en-US" i="1" dirty="0">
                            <a:latin typeface="Cambria Math"/>
                          </a:rPr>
                          <m:t>h</m:t>
                        </m:r>
                        <m:r>
                          <a:rPr lang="en-US" i="1" dirty="0">
                            <a:latin typeface="Cambria Math"/>
                          </a:rPr>
                          <m:t>)−</m:t>
                        </m:r>
                        <m:r>
                          <a:rPr lang="en-US" i="1" dirty="0">
                            <a:latin typeface="Cambria Math"/>
                          </a:rPr>
                          <m:t>𝑔</m:t>
                        </m:r>
                        <m:r>
                          <a:rPr lang="en-US" i="1" dirty="0">
                            <a:latin typeface="Cambria Math"/>
                          </a:rPr>
                          <m:t>(</m:t>
                        </m:r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  <m:r>
                          <a:rPr lang="en-US" i="1" dirty="0">
                            <a:latin typeface="Cambria Math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i="1" dirty="0"/>
                          <m:t> </m:t>
                        </m:r>
                      </m:num>
                      <m:den>
                        <m:r>
                          <a:rPr lang="en-US" i="1" dirty="0">
                            <a:latin typeface="Cambria Math"/>
                          </a:rPr>
                          <m:t>h</m:t>
                        </m:r>
                      </m:den>
                    </m:f>
                  </m:oMath>
                </a14:m>
                <a:endParaRPr lang="en-US" i="1" dirty="0"/>
              </a:p>
              <a:p>
                <a:pPr marL="0" lvl="0" indent="0">
                  <a:buNone/>
                </a:pPr>
                <a:endParaRPr lang="en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5462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3801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Latihan Soal 1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514350" lvl="0" indent="-514350">
                  <a:buAutoNum type="arabicPeriod"/>
                </a:pPr>
                <a:r>
                  <a:rPr lang="id-ID" dirty="0" smtClean="0"/>
                  <a:t>Diberikan </a:t>
                </a:r>
                <a14:m>
                  <m:oMath xmlns:m="http://schemas.openxmlformats.org/officeDocument/2006/math">
                    <m:r>
                      <a:rPr lang="id-ID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id-ID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d-ID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</m:num>
                      <m:den>
                        <m:sSup>
                          <m:sSupPr>
                            <m:ctrlPr>
                              <a:rPr lang="id-ID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d-ID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id-ID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+4</m:t>
                        </m:r>
                      </m:den>
                    </m:f>
                  </m:oMath>
                </a14:m>
                <a:r>
                  <a:rPr lang="id-ID" dirty="0" smtClean="0"/>
                  <a:t> Maka tentukan hasil di bawah ini:</a:t>
                </a:r>
              </a:p>
              <a:p>
                <a:pPr marL="514350" lvl="0" indent="-514350">
                  <a:buAutoNum type="arabicPeriod"/>
                </a:pPr>
                <a:r>
                  <a:rPr lang="id-ID" dirty="0"/>
                  <a:t>Diberikan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d-ID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id-ID" dirty="0" smtClean="0"/>
                  <a:t> dan </a:t>
                </a:r>
                <a14:m>
                  <m:oMath xmlns:m="http://schemas.openxmlformats.org/officeDocument/2006/math">
                    <m:r>
                      <a:rPr lang="id-ID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id-ID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rad>
                    <m:r>
                      <a:rPr lang="id-ID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d-ID" dirty="0" smtClean="0"/>
                  <a:t>. Maka tentukan hasil di bawah ini:</a:t>
                </a:r>
              </a:p>
              <a:p>
                <a:pPr marL="514350" lvl="0" indent="-51435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id-ID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id-ID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id-ID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id-ID" b="0" i="1" dirty="0" smtClean="0"/>
              </a:p>
              <a:p>
                <a:pPr marL="514350" lvl="0" indent="-514350">
                  <a:buFont typeface="+mj-lt"/>
                  <a:buAutoNum type="alphaL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(3)</m:t>
                        </m:r>
                      </m:num>
                      <m:den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(3)</m:t>
                        </m:r>
                      </m:den>
                    </m:f>
                  </m:oMath>
                </a14:m>
                <a:endParaRPr lang="id-ID" i="1" dirty="0" smtClean="0"/>
              </a:p>
              <a:p>
                <a:pPr marL="514350" lvl="0" indent="-51435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id-ID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ID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80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134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mtClean="0"/>
              <a:t>Grafik Fungsi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4142874" cy="4351338"/>
              </a:xfrm>
            </p:spPr>
            <p:txBody>
              <a:bodyPr>
                <a:noAutofit/>
              </a:bodyPr>
              <a:lstStyle/>
              <a:p>
                <a:pPr lvl="0" algn="just"/>
                <a:r>
                  <a:rPr lang="id-ID" dirty="0" smtClean="0"/>
                  <a:t>Cara membentuk grafik yang benar adalah membuat tabel-tabel nilai sehingga diperoleh pasangan nilai dari peubah fungsi yang mewakili suatu titik.</a:t>
                </a:r>
              </a:p>
              <a:p>
                <a:pPr lvl="0" algn="just"/>
                <a:r>
                  <a:rPr lang="id-ID" dirty="0" smtClean="0"/>
                  <a:t>Contoh gambar grafik fungsi </a:t>
                </a:r>
                <a14:m>
                  <m:oMath xmlns:m="http://schemas.openxmlformats.org/officeDocument/2006/math">
                    <m:r>
                      <a:rPr lang="id-ID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id-ID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id-ID" dirty="0" smtClean="0"/>
                  <a:t> sebagai berikut:</a:t>
                </a:r>
              </a:p>
              <a:p>
                <a:pPr marL="0" lvl="0" indent="0" algn="just">
                  <a:buNone/>
                </a:pPr>
                <a:endParaRPr lang="en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4142874" cy="4351338"/>
              </a:xfrm>
              <a:blipFill>
                <a:blip r:embed="rId2"/>
                <a:stretch>
                  <a:fillRect l="-2651" t="-2241" r="-2946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575454"/>
              </p:ext>
            </p:extLst>
          </p:nvPr>
        </p:nvGraphicFramePr>
        <p:xfrm>
          <a:off x="5245767" y="3048566"/>
          <a:ext cx="2358191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2506">
                  <a:extLst>
                    <a:ext uri="{9D8B030D-6E8A-4147-A177-3AD203B41FA5}">
                      <a16:colId xmlns:a16="http://schemas.microsoft.com/office/drawing/2014/main" val="3082557302"/>
                    </a:ext>
                  </a:extLst>
                </a:gridCol>
                <a:gridCol w="1795685">
                  <a:extLst>
                    <a:ext uri="{9D8B030D-6E8A-4147-A177-3AD203B41FA5}">
                      <a16:colId xmlns:a16="http://schemas.microsoft.com/office/drawing/2014/main" val="2012027668"/>
                    </a:ext>
                  </a:extLst>
                </a:gridCol>
              </a:tblGrid>
              <a:tr h="357068">
                <a:tc>
                  <a:txBody>
                    <a:bodyPr/>
                    <a:lstStyle/>
                    <a:p>
                      <a:pPr algn="ctr"/>
                      <a:r>
                        <a:rPr lang="id-ID" sz="2400" dirty="0" smtClean="0"/>
                        <a:t>x</a:t>
                      </a:r>
                      <a:endParaRPr lang="id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2400" dirty="0" smtClean="0"/>
                        <a:t>y= f(x)= x+1</a:t>
                      </a:r>
                      <a:endParaRPr lang="id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380788"/>
                  </a:ext>
                </a:extLst>
              </a:tr>
              <a:tr h="357068">
                <a:tc>
                  <a:txBody>
                    <a:bodyPr/>
                    <a:lstStyle/>
                    <a:p>
                      <a:pPr algn="ctr"/>
                      <a:r>
                        <a:rPr lang="id-ID" sz="2400" dirty="0" smtClean="0"/>
                        <a:t>-2</a:t>
                      </a:r>
                      <a:endParaRPr lang="id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2400" dirty="0" smtClean="0"/>
                        <a:t>1</a:t>
                      </a:r>
                      <a:endParaRPr lang="id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369719"/>
                  </a:ext>
                </a:extLst>
              </a:tr>
              <a:tr h="357068">
                <a:tc>
                  <a:txBody>
                    <a:bodyPr/>
                    <a:lstStyle/>
                    <a:p>
                      <a:pPr algn="ctr"/>
                      <a:r>
                        <a:rPr lang="id-ID" sz="2400" dirty="0" smtClean="0"/>
                        <a:t>3</a:t>
                      </a:r>
                      <a:endParaRPr lang="id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2400" dirty="0" smtClean="0"/>
                        <a:t>4</a:t>
                      </a:r>
                      <a:endParaRPr lang="id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273911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273" y="2286000"/>
            <a:ext cx="4029445" cy="3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86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Mencari Intercept-x dan Intercept-y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dirty="0" smtClean="0"/>
                  <a:t>Intercept-x </a:t>
                </a:r>
                <a:r>
                  <a:rPr lang="en-US" dirty="0" err="1"/>
                  <a:t>pada</a:t>
                </a:r>
                <a:r>
                  <a:rPr lang="en-US" dirty="0"/>
                  <a:t> </a:t>
                </a:r>
                <a:r>
                  <a:rPr lang="en-US" dirty="0" err="1"/>
                  <a:t>persamaan</a:t>
                </a:r>
                <a:r>
                  <a:rPr lang="en-US" dirty="0"/>
                  <a:t> </a:t>
                </a:r>
                <a:r>
                  <a:rPr lang="id-ID" dirty="0" smtClean="0"/>
                  <a:t>: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+3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−4=0</m:t>
                    </m:r>
                  </m:oMath>
                </a14:m>
                <a:r>
                  <a:rPr lang="en-US" dirty="0" smtClean="0"/>
                  <a:t>,</a:t>
                </a:r>
                <a:r>
                  <a:rPr lang="id-ID" dirty="0" smtClean="0"/>
                  <a:t> </a:t>
                </a:r>
                <a:r>
                  <a:rPr lang="en-US" dirty="0" err="1" smtClean="0"/>
                  <a:t>adalah</a:t>
                </a:r>
                <a:r>
                  <a:rPr lang="en-US" dirty="0" smtClean="0"/>
                  <a:t> </a:t>
                </a:r>
                <a:r>
                  <a:rPr lang="en-US" dirty="0"/>
                  <a:t>(2,0), </a:t>
                </a:r>
                <a:r>
                  <a:rPr lang="en-US" dirty="0" err="1"/>
                  <a:t>dan</a:t>
                </a:r>
                <a:r>
                  <a:rPr lang="en-US" dirty="0"/>
                  <a:t> Intercept-y </a:t>
                </a:r>
                <a:r>
                  <a:rPr lang="en-US" dirty="0" err="1"/>
                  <a:t>adalah</a:t>
                </a:r>
                <a:r>
                  <a:rPr lang="en-US" dirty="0"/>
                  <a:t> (0,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/>
                  <a:t>)</a:t>
                </a:r>
              </a:p>
              <a:p>
                <a:pPr algn="just"/>
                <a:r>
                  <a:rPr lang="en-US" dirty="0" err="1"/>
                  <a:t>Pada</a:t>
                </a:r>
                <a:r>
                  <a:rPr lang="en-US" dirty="0"/>
                  <a:t> </a:t>
                </a:r>
                <a:r>
                  <a:rPr lang="en-US" dirty="0" err="1"/>
                  <a:t>persamaan</a:t>
                </a:r>
                <a:r>
                  <a:rPr lang="en-US" dirty="0"/>
                  <a:t> </a:t>
                </a:r>
                <a:r>
                  <a:rPr lang="en-US" dirty="0" err="1"/>
                  <a:t>lingkaran</a:t>
                </a:r>
                <a:r>
                  <a:rPr lang="en-US" dirty="0"/>
                  <a:t>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	Intercept-x = (1,0) </a:t>
                </a:r>
                <a:r>
                  <a:rPr lang="en-US" dirty="0" err="1"/>
                  <a:t>dan</a:t>
                </a:r>
                <a:r>
                  <a:rPr lang="en-US" dirty="0"/>
                  <a:t> (-1,0)</a:t>
                </a:r>
              </a:p>
              <a:p>
                <a:pPr marL="0" indent="0" algn="just">
                  <a:buNone/>
                </a:pPr>
                <a:r>
                  <a:rPr lang="en-US" dirty="0"/>
                  <a:t>	Intercept-y = (0,1) </a:t>
                </a:r>
                <a:r>
                  <a:rPr lang="en-US" dirty="0" err="1"/>
                  <a:t>dan</a:t>
                </a:r>
                <a:r>
                  <a:rPr lang="en-US" dirty="0"/>
                  <a:t> (0,-1)</a:t>
                </a:r>
              </a:p>
              <a:p>
                <a:pPr algn="just"/>
                <a:r>
                  <a:rPr lang="en-US" dirty="0"/>
                  <a:t>Pada </a:t>
                </a:r>
                <a:r>
                  <a:rPr lang="en-US" dirty="0" err="1"/>
                  <a:t>persamaan</a:t>
                </a:r>
                <a:r>
                  <a:rPr lang="en-US" dirty="0"/>
                  <a:t> </a:t>
                </a:r>
                <a:r>
                  <a:rPr lang="en-US" dirty="0" err="1"/>
                  <a:t>lingkaran</a:t>
                </a:r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0">
                        <a:latin typeface="Cambria Math" panose="02040503050406030204" pitchFamily="18" charset="0"/>
                      </a:rPr>
                      <m:t>−5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+6</m:t>
                    </m:r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	Intercept-x = (2,0) </a:t>
                </a:r>
                <a:r>
                  <a:rPr lang="en-US" dirty="0" err="1"/>
                  <a:t>dan</a:t>
                </a:r>
                <a:r>
                  <a:rPr lang="en-US" dirty="0"/>
                  <a:t> (3,0)</a:t>
                </a:r>
              </a:p>
              <a:p>
                <a:pPr marL="0" indent="0" algn="just">
                  <a:buNone/>
                </a:pPr>
                <a:r>
                  <a:rPr lang="en-US" dirty="0"/>
                  <a:t>	Intercept-y = (0,6)</a:t>
                </a:r>
                <a:endParaRPr lang="en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59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6096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Jenis Fungsi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514350" lvl="0" indent="-514350">
                  <a:buFont typeface="+mj-lt"/>
                  <a:buAutoNum type="arabicPeriod"/>
                </a:pPr>
                <a:r>
                  <a:rPr lang="id-ID" dirty="0" smtClean="0"/>
                  <a:t>Fungsi Konstan </a:t>
                </a:r>
                <a14:m>
                  <m:oMath xmlns:m="http://schemas.openxmlformats.org/officeDocument/2006/math">
                    <m:r>
                      <a:rPr lang="id-ID">
                        <a:latin typeface="Cambria Math" panose="02040503050406030204" pitchFamily="18" charset="0"/>
                      </a:rPr>
                      <m:t>: 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id-ID" dirty="0" smtClean="0"/>
                  <a:t>, dengan C sebagai konstanta</a:t>
                </a:r>
              </a:p>
              <a:p>
                <a:pPr marL="514350" lvl="0" indent="-514350">
                  <a:buFont typeface="+mj-lt"/>
                  <a:buAutoNum type="arabicPeriod"/>
                </a:pPr>
                <a:r>
                  <a:rPr lang="id-ID" dirty="0" smtClean="0"/>
                  <a:t>Fungsi Linear </a:t>
                </a:r>
                <a14:m>
                  <m:oMath xmlns:m="http://schemas.openxmlformats.org/officeDocument/2006/math">
                    <m:r>
                      <a:rPr lang="id-ID" b="0" i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id-ID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id-ID" dirty="0" smtClean="0"/>
              </a:p>
              <a:p>
                <a:pPr marL="514350" lvl="0" indent="-514350">
                  <a:buFont typeface="+mj-lt"/>
                  <a:buAutoNum type="arabicPeriod"/>
                </a:pPr>
                <a:r>
                  <a:rPr lang="id-ID" dirty="0" smtClean="0"/>
                  <a:t>Fungsi Kuadrat </a:t>
                </a:r>
                <a14:m>
                  <m:oMath xmlns:m="http://schemas.openxmlformats.org/officeDocument/2006/math">
                    <m:r>
                      <a:rPr lang="id-ID">
                        <a:latin typeface="Cambria Math" panose="02040503050406030204" pitchFamily="18" charset="0"/>
                      </a:rPr>
                      <m:t>: 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id-ID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d-ID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id-ID" b="0" dirty="0" smtClean="0"/>
                  <a:t> </a:t>
                </a:r>
              </a:p>
              <a:p>
                <a:pPr marL="514350" lvl="0" indent="-514350">
                  <a:buFont typeface="+mj-lt"/>
                  <a:buAutoNum type="arabicPeriod"/>
                </a:pPr>
                <a:r>
                  <a:rPr lang="id-ID" dirty="0"/>
                  <a:t>Fungsi Polinomial 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𝑛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𝑛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/>
                        <a:ea typeface="Cambria Math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</m:oMath>
                </a14:m>
                <a:endParaRPr lang="id-ID" b="0" dirty="0" smtClean="0"/>
              </a:p>
              <a:p>
                <a:pPr marL="514350" lvl="0" indent="-514350">
                  <a:buFont typeface="+mj-lt"/>
                  <a:buAutoNum type="arabicPeriod"/>
                </a:pPr>
                <a:r>
                  <a:rPr lang="id-ID" dirty="0" smtClean="0"/>
                  <a:t>Fungsi Eksponensial </a:t>
                </a:r>
                <a14:m>
                  <m:oMath xmlns:m="http://schemas.openxmlformats.org/officeDocument/2006/math">
                    <m:r>
                      <a:rPr lang="id-ID">
                        <a:latin typeface="Cambria Math" panose="02040503050406030204" pitchFamily="18" charset="0"/>
                      </a:rPr>
                      <m:t>: </m:t>
                    </m:r>
                    <m:r>
                      <a:rPr lang="id-ID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d-ID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id-ID" dirty="0" smtClean="0"/>
              </a:p>
              <a:p>
                <a:pPr marL="514350" lvl="0" indent="-514350">
                  <a:buFont typeface="+mj-lt"/>
                  <a:buAutoNum type="arabicPeriod"/>
                </a:pPr>
                <a:r>
                  <a:rPr lang="id-ID" b="0" dirty="0" smtClean="0"/>
                  <a:t>Fungsi Logaritma :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id-ID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d-ID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id-ID" b="0" dirty="0" smtClean="0"/>
                  <a:t> </a:t>
                </a:r>
              </a:p>
              <a:p>
                <a:pPr marL="514350" lvl="0" indent="-514350">
                  <a:buFont typeface="+mj-lt"/>
                  <a:buAutoNum type="arabicPeriod"/>
                </a:pPr>
                <a:r>
                  <a:rPr lang="id-ID" dirty="0" smtClean="0"/>
                  <a:t>Fungsi Trigonometri </a:t>
                </a:r>
                <a:endParaRPr lang="id-ID" b="0" dirty="0" smtClean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0065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Fungsi Konstan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514474" cy="4351338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dirty="0"/>
                  <a:t>Fungsi </a:t>
                </a:r>
                <a:r>
                  <a:rPr lang="en-US" dirty="0" err="1"/>
                  <a:t>Konstan</a:t>
                </a:r>
                <a:r>
                  <a:rPr lang="en-US" dirty="0"/>
                  <a:t> </a:t>
                </a:r>
                <a:r>
                  <a:rPr lang="en-US" dirty="0" err="1"/>
                  <a:t>diberikan</a:t>
                </a:r>
                <a:r>
                  <a:rPr lang="en-US" dirty="0"/>
                  <a:t> </a:t>
                </a:r>
                <a:r>
                  <a:rPr lang="en-US" dirty="0" err="1"/>
                  <a:t>oleh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𝑐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dengan</a:t>
                </a:r>
                <a:r>
                  <a:rPr lang="en-US" dirty="0"/>
                  <a:t> c </a:t>
                </a:r>
                <a:r>
                  <a:rPr lang="en-US" dirty="0" err="1"/>
                  <a:t>adalah</a:t>
                </a:r>
                <a:r>
                  <a:rPr lang="en-US" dirty="0"/>
                  <a:t> </a:t>
                </a:r>
                <a:r>
                  <a:rPr lang="en-US" dirty="0" err="1"/>
                  <a:t>suatu</a:t>
                </a:r>
                <a:r>
                  <a:rPr lang="en-US" dirty="0"/>
                  <a:t> </a:t>
                </a:r>
                <a:r>
                  <a:rPr lang="en-US" dirty="0" err="1"/>
                  <a:t>konstanta</a:t>
                </a:r>
                <a:r>
                  <a:rPr lang="en-US" dirty="0"/>
                  <a:t> </a:t>
                </a:r>
                <a:r>
                  <a:rPr lang="en-US" dirty="0" err="1"/>
                  <a:t>bilangan</a:t>
                </a:r>
                <a:r>
                  <a:rPr lang="en-US" dirty="0"/>
                  <a:t> real.</a:t>
                </a:r>
              </a:p>
              <a:p>
                <a:pPr algn="just"/>
                <a:r>
                  <a:rPr lang="en-US" dirty="0"/>
                  <a:t>Domain : R</a:t>
                </a:r>
              </a:p>
              <a:p>
                <a:pPr algn="just"/>
                <a:r>
                  <a:rPr lang="en-US" dirty="0"/>
                  <a:t>Range ; {c}</a:t>
                </a:r>
              </a:p>
              <a:p>
                <a:pPr algn="just"/>
                <a:r>
                  <a:rPr lang="en-US" dirty="0" err="1"/>
                  <a:t>Grafik</a:t>
                </a:r>
                <a:r>
                  <a:rPr lang="en-US" dirty="0"/>
                  <a:t> : </a:t>
                </a:r>
                <a:r>
                  <a:rPr lang="en-US" dirty="0" err="1"/>
                  <a:t>garis</a:t>
                </a:r>
                <a:r>
                  <a:rPr lang="en-US" dirty="0"/>
                  <a:t> horizontal </a:t>
                </a:r>
                <a:r>
                  <a:rPr lang="en-US" dirty="0" err="1"/>
                  <a:t>dengan</a:t>
                </a:r>
                <a:r>
                  <a:rPr lang="en-US" dirty="0"/>
                  <a:t> intercept-y = (0,c</a:t>
                </a:r>
                <a:r>
                  <a:rPr lang="en-US" dirty="0" smtClean="0"/>
                  <a:t>)</a:t>
                </a:r>
                <a:endParaRPr lang="id-ID" dirty="0" smtClean="0"/>
              </a:p>
              <a:p>
                <a:pPr marL="0" indent="0" algn="just">
                  <a:buNone/>
                </a:pPr>
                <a:endParaRPr lang="en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514474" cy="4351338"/>
              </a:xfrm>
              <a:blipFill>
                <a:blip r:embed="rId2"/>
                <a:stretch>
                  <a:fillRect l="-1991" t="-2241" r="-2212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47164" t="67781" r="39705" b="18759"/>
          <a:stretch/>
        </p:blipFill>
        <p:spPr>
          <a:xfrm>
            <a:off x="7170821" y="2940471"/>
            <a:ext cx="3248527" cy="18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41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Fungsi Konstan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12C30-0D74-446E-B644-8BF31BCF3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id-ID" dirty="0"/>
              <a:t>Diketahui f : R → R dengan rumus f(x) = 3 dengan daerah domain: {x | –3 ≤ x &lt; 2</a:t>
            </a:r>
            <a:r>
              <a:rPr lang="id-ID" dirty="0" smtClean="0"/>
              <a:t>}.</a:t>
            </a:r>
          </a:p>
          <a:p>
            <a:pPr lvl="0"/>
            <a:r>
              <a:rPr lang="id-ID" dirty="0" smtClean="0"/>
              <a:t>Grafiknya : </a:t>
            </a:r>
          </a:p>
          <a:p>
            <a:pPr marL="0" lvl="0" indent="0">
              <a:buNone/>
            </a:pPr>
            <a:endParaRPr lang="en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295" y="2554851"/>
            <a:ext cx="4277033" cy="362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214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Fungsi Linear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394158" cy="4351338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dirty="0"/>
                  <a:t>Fungsi linear </a:t>
                </a:r>
                <a:r>
                  <a:rPr lang="en-US" dirty="0" err="1"/>
                  <a:t>diberikan</a:t>
                </a:r>
                <a:r>
                  <a:rPr lang="en-US" dirty="0"/>
                  <a:t> </a:t>
                </a:r>
                <a:r>
                  <a:rPr lang="en-US" dirty="0" err="1"/>
                  <a:t>oleh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𝑎𝑥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+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𝑏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dengan</a:t>
                </a:r>
                <a:r>
                  <a:rPr lang="en-US" dirty="0"/>
                  <a:t> a </a:t>
                </a:r>
                <a:r>
                  <a:rPr lang="en-US" dirty="0" err="1"/>
                  <a:t>dan</a:t>
                </a:r>
                <a:r>
                  <a:rPr lang="en-US" dirty="0"/>
                  <a:t> b </a:t>
                </a:r>
                <a:r>
                  <a:rPr lang="en-US" dirty="0" err="1"/>
                  <a:t>adalah</a:t>
                </a:r>
                <a:r>
                  <a:rPr lang="en-US" dirty="0"/>
                  <a:t> </a:t>
                </a:r>
                <a:r>
                  <a:rPr lang="en-US" dirty="0" err="1"/>
                  <a:t>suatu</a:t>
                </a:r>
                <a:r>
                  <a:rPr lang="en-US" dirty="0"/>
                  <a:t> </a:t>
                </a:r>
                <a:r>
                  <a:rPr lang="en-US" dirty="0" err="1"/>
                  <a:t>konstanta</a:t>
                </a:r>
                <a:r>
                  <a:rPr lang="en-US" dirty="0"/>
                  <a:t> </a:t>
                </a:r>
                <a:r>
                  <a:rPr lang="en-US" dirty="0" err="1"/>
                  <a:t>dan</a:t>
                </a:r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≠0 .</m:t>
                    </m:r>
                  </m:oMath>
                </a14:m>
                <a:endParaRPr lang="en-US" dirty="0">
                  <a:ea typeface="Cambria Math"/>
                </a:endParaRPr>
              </a:p>
              <a:p>
                <a:pPr algn="just"/>
                <a:r>
                  <a:rPr lang="en-US" dirty="0"/>
                  <a:t>Domain : R</a:t>
                </a:r>
              </a:p>
              <a:p>
                <a:pPr algn="just"/>
                <a:r>
                  <a:rPr lang="en-US" dirty="0"/>
                  <a:t>Range : R</a:t>
                </a:r>
              </a:p>
              <a:p>
                <a:pPr algn="just"/>
                <a:r>
                  <a:rPr lang="en-US" dirty="0" err="1" smtClean="0"/>
                  <a:t>Grafik</a:t>
                </a:r>
                <a:r>
                  <a:rPr lang="en-US" dirty="0" smtClean="0"/>
                  <a:t>: </a:t>
                </a:r>
                <a:r>
                  <a:rPr lang="en-US" dirty="0" err="1"/>
                  <a:t>garis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slope/</a:t>
                </a:r>
                <a:r>
                  <a:rPr lang="en-US" dirty="0" err="1"/>
                  <a:t>kemiringan</a:t>
                </a:r>
                <a:r>
                  <a:rPr lang="en-US" dirty="0"/>
                  <a:t> a </a:t>
                </a:r>
                <a:r>
                  <a:rPr lang="en-US" dirty="0" err="1"/>
                  <a:t>dan</a:t>
                </a:r>
                <a:r>
                  <a:rPr lang="en-US" dirty="0"/>
                  <a:t> intercept-y = (0,b)</a:t>
                </a:r>
              </a:p>
              <a:p>
                <a:pPr algn="just"/>
                <a:endParaRPr lang="en-US" dirty="0"/>
              </a:p>
              <a:p>
                <a:pPr marL="0" lvl="0" indent="0" algn="just">
                  <a:buNone/>
                </a:pPr>
                <a:endParaRPr lang="en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394158" cy="4351338"/>
              </a:xfrm>
              <a:blipFill>
                <a:blip r:embed="rId2"/>
                <a:stretch>
                  <a:fillRect l="-2036" t="-2241" r="-2376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69173" t="72862" r="18251" b="14168"/>
          <a:stretch/>
        </p:blipFill>
        <p:spPr>
          <a:xfrm>
            <a:off x="7369780" y="2502568"/>
            <a:ext cx="3984020" cy="231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901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Fungsi Linear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lvl="0"/>
                <a:r>
                  <a:rPr lang="id-ID" dirty="0" smtClean="0"/>
                  <a:t>Diketahui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/>
                        <a:ea typeface="Cambria Math"/>
                      </a:rPr>
                      <m:t>=</m:t>
                    </m:r>
                    <m:r>
                      <a:rPr lang="id-ID" b="0" i="1" smtClean="0">
                        <a:latin typeface="Cambria Math" panose="02040503050406030204" pitchFamily="18" charset="0"/>
                        <a:ea typeface="Cambria Math"/>
                      </a:rPr>
                      <m:t>2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+3</m:t>
                    </m:r>
                  </m:oMath>
                </a14:m>
                <a:endParaRPr lang="id-ID" dirty="0" smtClean="0"/>
              </a:p>
              <a:p>
                <a:pPr marL="0" lvl="0" indent="0">
                  <a:buNone/>
                </a:pPr>
                <a:endParaRPr lang="id-ID" dirty="0"/>
              </a:p>
              <a:p>
                <a:pPr marL="0" lvl="0" indent="0">
                  <a:buNone/>
                </a:pPr>
                <a:endParaRPr lang="en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321" y="2371234"/>
            <a:ext cx="3743633" cy="394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966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Fungsi Kuadrat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912895" cy="4351338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dirty="0"/>
                  <a:t>Fungsi </a:t>
                </a:r>
                <a:r>
                  <a:rPr lang="en-US" dirty="0" err="1"/>
                  <a:t>kuadrat</a:t>
                </a:r>
                <a:r>
                  <a:rPr lang="en-US" dirty="0"/>
                  <a:t> </a:t>
                </a:r>
                <a:r>
                  <a:rPr lang="en-US" dirty="0" err="1"/>
                  <a:t>diberikan</a:t>
                </a:r>
                <a:r>
                  <a:rPr lang="en-US" dirty="0"/>
                  <a:t> </a:t>
                </a:r>
                <a:r>
                  <a:rPr lang="en-US" dirty="0" err="1"/>
                  <a:t>oleh</a:t>
                </a:r>
                <a:r>
                  <a:rPr lang="en-US" dirty="0"/>
                  <a:t>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  <a:ea typeface="Cambria Math"/>
                      </a:rPr>
                      <m:t>+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𝑏𝑥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+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𝑐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a,b</a:t>
                </a:r>
                <a:r>
                  <a:rPr lang="en-US" dirty="0"/>
                  <a:t> </a:t>
                </a:r>
                <a:r>
                  <a:rPr lang="en-US" dirty="0" err="1"/>
                  <a:t>dan</a:t>
                </a:r>
                <a:r>
                  <a:rPr lang="en-US" dirty="0"/>
                  <a:t> c </a:t>
                </a:r>
                <a:r>
                  <a:rPr lang="en-US" dirty="0" err="1"/>
                  <a:t>adalah</a:t>
                </a:r>
                <a:r>
                  <a:rPr lang="en-US" dirty="0"/>
                  <a:t> </a:t>
                </a:r>
                <a:r>
                  <a:rPr lang="en-US" dirty="0" err="1"/>
                  <a:t>suatu</a:t>
                </a:r>
                <a:r>
                  <a:rPr lang="en-US" dirty="0"/>
                  <a:t> </a:t>
                </a:r>
                <a:r>
                  <a:rPr lang="en-US" dirty="0" err="1"/>
                  <a:t>konstanta</a:t>
                </a:r>
                <a:r>
                  <a:rPr lang="en-US" dirty="0"/>
                  <a:t> </a:t>
                </a:r>
                <a:r>
                  <a:rPr lang="en-US" dirty="0" err="1"/>
                  <a:t>dan</a:t>
                </a:r>
                <a:r>
                  <a:rPr lang="en-US" dirty="0"/>
                  <a:t> 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≠0 .</m:t>
                    </m:r>
                  </m:oMath>
                </a14:m>
                <a:endParaRPr lang="en-US" dirty="0">
                  <a:ea typeface="Cambria Math"/>
                </a:endParaRPr>
              </a:p>
              <a:p>
                <a:pPr algn="just"/>
                <a:r>
                  <a:rPr lang="en-US" dirty="0"/>
                  <a:t>Domain : R</a:t>
                </a:r>
              </a:p>
              <a:p>
                <a:pPr algn="just"/>
                <a:r>
                  <a:rPr lang="en-US" dirty="0"/>
                  <a:t>Range : [k,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∞) </m:t>
                    </m:r>
                  </m:oMath>
                </a14:m>
                <a:r>
                  <a:rPr lang="en-US" dirty="0" err="1"/>
                  <a:t>jika</a:t>
                </a:r>
                <a:r>
                  <a:rPr lang="en-US" dirty="0"/>
                  <a:t> a&gt;0 </a:t>
                </a:r>
                <a:r>
                  <a:rPr lang="en-US" dirty="0" err="1"/>
                  <a:t>dan</a:t>
                </a:r>
                <a:r>
                  <a:rPr lang="en-US" dirty="0"/>
                  <a:t> (-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r>
                  <a:rPr lang="en-US" dirty="0"/>
                  <a:t>, k] </a:t>
                </a:r>
                <a:r>
                  <a:rPr lang="en-US" dirty="0" err="1"/>
                  <a:t>jika</a:t>
                </a:r>
                <a:r>
                  <a:rPr lang="en-US" dirty="0"/>
                  <a:t> a&lt;0.</a:t>
                </a:r>
              </a:p>
              <a:p>
                <a:pPr algn="just"/>
                <a:r>
                  <a:rPr lang="en-US" dirty="0" err="1"/>
                  <a:t>Grafik</a:t>
                </a:r>
                <a:r>
                  <a:rPr lang="en-US" dirty="0"/>
                  <a:t> : </a:t>
                </a:r>
                <a:r>
                  <a:rPr lang="en-US" dirty="0" err="1"/>
                  <a:t>kurva</a:t>
                </a:r>
                <a:r>
                  <a:rPr lang="en-US" dirty="0"/>
                  <a:t> </a:t>
                </a:r>
                <a:r>
                  <a:rPr lang="en-US" dirty="0" err="1"/>
                  <a:t>terbuka</a:t>
                </a:r>
                <a:r>
                  <a:rPr lang="en-US" dirty="0"/>
                  <a:t> </a:t>
                </a:r>
                <a:r>
                  <a:rPr lang="en-US" dirty="0" err="1"/>
                  <a:t>ke</a:t>
                </a:r>
                <a:r>
                  <a:rPr lang="en-US" dirty="0"/>
                  <a:t> </a:t>
                </a:r>
                <a:r>
                  <a:rPr lang="en-US" dirty="0" err="1"/>
                  <a:t>atas</a:t>
                </a:r>
                <a:r>
                  <a:rPr lang="en-US" dirty="0"/>
                  <a:t> </a:t>
                </a:r>
                <a:r>
                  <a:rPr lang="en-US" dirty="0" err="1"/>
                  <a:t>jika</a:t>
                </a:r>
                <a:r>
                  <a:rPr lang="en-US" dirty="0"/>
                  <a:t> a&gt;0 </a:t>
                </a:r>
                <a:r>
                  <a:rPr lang="en-US" dirty="0" err="1"/>
                  <a:t>dan</a:t>
                </a:r>
                <a:r>
                  <a:rPr lang="en-US" dirty="0"/>
                  <a:t> </a:t>
                </a:r>
                <a:r>
                  <a:rPr lang="en-US" dirty="0" err="1"/>
                  <a:t>kebawah</a:t>
                </a:r>
                <a:r>
                  <a:rPr lang="en-US" dirty="0"/>
                  <a:t> </a:t>
                </a:r>
                <a:r>
                  <a:rPr lang="en-US" dirty="0" err="1"/>
                  <a:t>jika</a:t>
                </a:r>
                <a:r>
                  <a:rPr lang="en-US" dirty="0"/>
                  <a:t> a&lt;0</a:t>
                </a:r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912895" cy="4351338"/>
              </a:xfrm>
              <a:blipFill>
                <a:blip r:embed="rId2"/>
                <a:stretch>
                  <a:fillRect l="-2236" t="-2241" r="-2609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61220" t="74667" r="18437" b="15296"/>
          <a:stretch/>
        </p:blipFill>
        <p:spPr>
          <a:xfrm>
            <a:off x="5751095" y="2959767"/>
            <a:ext cx="6072417" cy="168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230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Grafik Fungsi Kuadrat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3637547" cy="4351338"/>
              </a:xfrm>
            </p:spPr>
            <p:txBody>
              <a:bodyPr>
                <a:noAutofit/>
              </a:bodyPr>
              <a:lstStyle/>
              <a:p>
                <a:r>
                  <a:rPr lang="id-ID" dirty="0" smtClean="0"/>
                  <a:t>Misal, gambar grafik fungsi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d-ID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d-ID" dirty="0" smtClean="0"/>
                  <a:t> </a:t>
                </a:r>
                <a:r>
                  <a:rPr lang="id-ID" dirty="0"/>
                  <a:t>pada interval [-2,2] sebagai berikut. </a:t>
                </a:r>
                <a:endParaRPr lang="id-ID" dirty="0" smtClean="0"/>
              </a:p>
              <a:p>
                <a:endParaRPr lang="en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3637547" cy="4351338"/>
              </a:xfrm>
              <a:blipFill>
                <a:blip r:embed="rId2"/>
                <a:stretch>
                  <a:fillRect l="-3020" t="-2241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1093537" y="3727561"/>
              <a:ext cx="2347495" cy="23774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51832">
                      <a:extLst>
                        <a:ext uri="{9D8B030D-6E8A-4147-A177-3AD203B41FA5}">
                          <a16:colId xmlns:a16="http://schemas.microsoft.com/office/drawing/2014/main" val="2095986139"/>
                        </a:ext>
                      </a:extLst>
                    </a:gridCol>
                    <a:gridCol w="1395663">
                      <a:extLst>
                        <a:ext uri="{9D8B030D-6E8A-4147-A177-3AD203B41FA5}">
                          <a16:colId xmlns:a16="http://schemas.microsoft.com/office/drawing/2014/main" val="24186659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000" dirty="0" smtClean="0"/>
                            <a:t>x</a:t>
                          </a:r>
                          <a:endParaRPr lang="id-ID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d-ID" sz="200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id-ID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d-ID" sz="20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id-ID" sz="20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id-ID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d-ID" sz="200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id-ID" sz="20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id-ID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0571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000" dirty="0" smtClean="0"/>
                            <a:t>-2</a:t>
                          </a:r>
                          <a:endParaRPr lang="id-ID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000" dirty="0" smtClean="0"/>
                            <a:t>4</a:t>
                          </a:r>
                          <a:endParaRPr lang="id-ID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4647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000" dirty="0" smtClean="0"/>
                            <a:t>-1</a:t>
                          </a:r>
                          <a:endParaRPr lang="id-ID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000" dirty="0" smtClean="0"/>
                            <a:t>1</a:t>
                          </a:r>
                          <a:endParaRPr lang="id-ID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671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000" dirty="0" smtClean="0"/>
                            <a:t>0</a:t>
                          </a:r>
                          <a:endParaRPr lang="id-ID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000" dirty="0" smtClean="0"/>
                            <a:t>0</a:t>
                          </a:r>
                          <a:endParaRPr lang="id-ID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51197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000" dirty="0" smtClean="0"/>
                            <a:t>1</a:t>
                          </a:r>
                          <a:endParaRPr lang="id-ID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000" dirty="0" smtClean="0"/>
                            <a:t>1</a:t>
                          </a:r>
                          <a:endParaRPr lang="id-ID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31197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000" dirty="0" smtClean="0"/>
                            <a:t>2</a:t>
                          </a:r>
                          <a:endParaRPr lang="id-ID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000" dirty="0" smtClean="0"/>
                            <a:t>4</a:t>
                          </a:r>
                          <a:endParaRPr lang="id-ID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70609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1093537" y="3727561"/>
              <a:ext cx="2347495" cy="238436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51832">
                      <a:extLst>
                        <a:ext uri="{9D8B030D-6E8A-4147-A177-3AD203B41FA5}">
                          <a16:colId xmlns:a16="http://schemas.microsoft.com/office/drawing/2014/main" val="2095986139"/>
                        </a:ext>
                      </a:extLst>
                    </a:gridCol>
                    <a:gridCol w="1395663">
                      <a:extLst>
                        <a:ext uri="{9D8B030D-6E8A-4147-A177-3AD203B41FA5}">
                          <a16:colId xmlns:a16="http://schemas.microsoft.com/office/drawing/2014/main" val="2418665954"/>
                        </a:ext>
                      </a:extLst>
                    </a:gridCol>
                  </a:tblGrid>
                  <a:tr h="4031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000" dirty="0" smtClean="0"/>
                            <a:t>x</a:t>
                          </a:r>
                          <a:endParaRPr lang="id-ID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d-ID"/>
                        </a:p>
                      </a:txBody>
                      <a:tcPr>
                        <a:blipFill>
                          <a:blip r:embed="rId3"/>
                          <a:stretch>
                            <a:fillRect l="-68996" t="-7576" r="-873" b="-5212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57157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000" dirty="0" smtClean="0"/>
                            <a:t>-2</a:t>
                          </a:r>
                          <a:endParaRPr lang="id-ID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000" dirty="0" smtClean="0"/>
                            <a:t>4</a:t>
                          </a:r>
                          <a:endParaRPr lang="id-ID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464777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000" dirty="0" smtClean="0"/>
                            <a:t>-1</a:t>
                          </a:r>
                          <a:endParaRPr lang="id-ID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000" dirty="0" smtClean="0"/>
                            <a:t>1</a:t>
                          </a:r>
                          <a:endParaRPr lang="id-ID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6716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000" dirty="0" smtClean="0"/>
                            <a:t>0</a:t>
                          </a:r>
                          <a:endParaRPr lang="id-ID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000" dirty="0" smtClean="0"/>
                            <a:t>0</a:t>
                          </a:r>
                          <a:endParaRPr lang="id-ID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511978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000" dirty="0" smtClean="0"/>
                            <a:t>1</a:t>
                          </a:r>
                          <a:endParaRPr lang="id-ID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000" dirty="0" smtClean="0"/>
                            <a:t>1</a:t>
                          </a:r>
                          <a:endParaRPr lang="id-ID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311978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000" dirty="0" smtClean="0"/>
                            <a:t>2</a:t>
                          </a:r>
                          <a:endParaRPr lang="id-ID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000" dirty="0" smtClean="0"/>
                            <a:t>4</a:t>
                          </a:r>
                          <a:endParaRPr lang="id-ID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706097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7173" y="2671011"/>
            <a:ext cx="7509711" cy="313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227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Langkah Pembuatan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id-ID" dirty="0" smtClean="0"/>
                  <a:t>1. </a:t>
                </a:r>
                <a:r>
                  <a:rPr lang="es-ES" dirty="0" err="1" smtClean="0"/>
                  <a:t>Buat</a:t>
                </a:r>
                <a:r>
                  <a:rPr lang="es-ES" dirty="0" smtClean="0"/>
                  <a:t> </a:t>
                </a:r>
                <a:r>
                  <a:rPr lang="es-ES" dirty="0" err="1"/>
                  <a:t>tabel</a:t>
                </a:r>
                <a:r>
                  <a:rPr lang="es-ES" dirty="0"/>
                  <a:t> </a:t>
                </a:r>
                <a:r>
                  <a:rPr lang="es-ES" dirty="0" err="1"/>
                  <a:t>nilai</a:t>
                </a:r>
                <a:r>
                  <a:rPr lang="es-ES" dirty="0"/>
                  <a:t> </a:t>
                </a:r>
                <a:r>
                  <a:rPr lang="es-ES" dirty="0" err="1"/>
                  <a:t>pasangan</a:t>
                </a:r>
                <a:r>
                  <a:rPr lang="es-ES" dirty="0"/>
                  <a:t> x-y</a:t>
                </a:r>
              </a:p>
              <a:p>
                <a:pPr marL="0" indent="0" algn="just">
                  <a:buNone/>
                </a:pPr>
                <a:r>
                  <a:rPr lang="id-ID" dirty="0" smtClean="0"/>
                  <a:t>2. Bila </a:t>
                </a:r>
                <a:r>
                  <a:rPr lang="id-ID" dirty="0"/>
                  <a:t>perlu cari titik potong dengan sumbu x (y=0) atau sumbu y (x=0). </a:t>
                </a:r>
                <a:r>
                  <a:rPr lang="es-ES" dirty="0" err="1" smtClean="0"/>
                  <a:t>Jika</a:t>
                </a:r>
                <a:r>
                  <a:rPr lang="es-ES" dirty="0" smtClean="0"/>
                  <a:t> </a:t>
                </a:r>
                <a:r>
                  <a:rPr lang="es-ES" dirty="0" err="1" smtClean="0"/>
                  <a:t>fungsi</a:t>
                </a:r>
                <a:r>
                  <a:rPr lang="id-ID" dirty="0" smtClean="0"/>
                  <a:t>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id-ID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d-ID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id-ID" dirty="0" smtClean="0"/>
                  <a:t> tentukan titik puncak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d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id-ID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id-ID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id-ID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d-ID" dirty="0" smtClean="0"/>
                  <a:t> dengan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id-ID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id-ID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id-ID" dirty="0" smtClean="0"/>
                  <a:t>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id-ID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id-ID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id-ID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id-ID" dirty="0" smtClean="0"/>
              </a:p>
              <a:p>
                <a:pPr marL="0" indent="0" algn="just">
                  <a:buNone/>
                </a:pPr>
                <a:r>
                  <a:rPr lang="id-ID" dirty="0" smtClean="0"/>
                  <a:t>3. Plot pasangan x-y sebagai titik pada koordinat kartesisus</a:t>
                </a:r>
              </a:p>
              <a:p>
                <a:pPr marL="0" indent="0" algn="just">
                  <a:buNone/>
                </a:pPr>
                <a:r>
                  <a:rPr lang="id-ID" dirty="0" smtClean="0"/>
                  <a:t>4. Cara m</a:t>
                </a:r>
                <a:r>
                  <a:rPr lang="en-US" dirty="0" err="1" smtClean="0"/>
                  <a:t>encari</a:t>
                </a:r>
                <a:r>
                  <a:rPr lang="en-US" dirty="0" smtClean="0"/>
                  <a:t> intercept-x</a:t>
                </a:r>
                <a:r>
                  <a:rPr lang="id-ID" dirty="0" smtClean="0"/>
                  <a:t> (garis potong)</a:t>
                </a:r>
                <a:r>
                  <a:rPr lang="en-US" dirty="0" smtClean="0"/>
                  <a:t> </a:t>
                </a:r>
                <a:r>
                  <a:rPr lang="en-US" dirty="0"/>
                  <a:t>: </a:t>
                </a:r>
                <a:r>
                  <a:rPr lang="en-US" dirty="0" err="1"/>
                  <a:t>Subtitusikan</a:t>
                </a:r>
                <a:r>
                  <a:rPr lang="en-US" dirty="0"/>
                  <a:t> y=0 </a:t>
                </a:r>
                <a:r>
                  <a:rPr lang="en-US" dirty="0" err="1"/>
                  <a:t>pada</a:t>
                </a:r>
                <a:r>
                  <a:rPr lang="en-US" dirty="0"/>
                  <a:t> </a:t>
                </a:r>
                <a:r>
                  <a:rPr lang="en-US" dirty="0" err="1"/>
                  <a:t>persamaan</a:t>
                </a:r>
                <a:endParaRPr lang="en-US" dirty="0"/>
              </a:p>
              <a:p>
                <a:pPr marL="0" indent="0" algn="just">
                  <a:buNone/>
                </a:pPr>
                <a:r>
                  <a:rPr lang="id-ID" dirty="0" smtClean="0"/>
                  <a:t>5. </a:t>
                </a:r>
                <a:r>
                  <a:rPr lang="id-ID" dirty="0"/>
                  <a:t>Cara </a:t>
                </a:r>
                <a:r>
                  <a:rPr lang="id-ID" dirty="0" smtClean="0"/>
                  <a:t>me</a:t>
                </a:r>
                <a:r>
                  <a:rPr lang="en-US" dirty="0" err="1" smtClean="0"/>
                  <a:t>ncari</a:t>
                </a:r>
                <a:r>
                  <a:rPr lang="en-US" dirty="0" smtClean="0"/>
                  <a:t> intercept-y</a:t>
                </a:r>
                <a:r>
                  <a:rPr lang="id-ID" dirty="0" smtClean="0"/>
                  <a:t> </a:t>
                </a:r>
                <a:r>
                  <a:rPr lang="id-ID" dirty="0"/>
                  <a:t>(garis potong)</a:t>
                </a:r>
                <a:r>
                  <a:rPr lang="en-US" dirty="0" smtClean="0"/>
                  <a:t> </a:t>
                </a:r>
                <a:r>
                  <a:rPr lang="en-US" dirty="0"/>
                  <a:t>: </a:t>
                </a:r>
                <a:r>
                  <a:rPr lang="en-US" dirty="0" err="1"/>
                  <a:t>Subtitusikan</a:t>
                </a:r>
                <a:r>
                  <a:rPr lang="en-US" dirty="0"/>
                  <a:t> x=0 </a:t>
                </a:r>
                <a:r>
                  <a:rPr lang="en-US" dirty="0" err="1"/>
                  <a:t>pada</a:t>
                </a:r>
                <a:r>
                  <a:rPr lang="en-US" dirty="0"/>
                  <a:t> </a:t>
                </a:r>
                <a:r>
                  <a:rPr lang="en-US" dirty="0" err="1"/>
                  <a:t>persamaan</a:t>
                </a:r>
                <a:endParaRPr lang="en-US" dirty="0"/>
              </a:p>
              <a:p>
                <a:pPr marL="0" indent="0" algn="just">
                  <a:buNone/>
                </a:pPr>
                <a:endParaRPr lang="en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159" b="-4622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043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Fungsi Kuadrat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id-ID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id-ID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d-ID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id-ID" dirty="0" smtClean="0"/>
              </a:p>
              <a:p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e>
                      <m:sup>
                        <m:r>
                          <a:rPr lang="id-ID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d-ID" dirty="0" smtClean="0"/>
                  <a:t> (diperoleh dengan menggeser fungsi </a:t>
                </a:r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id-ID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d-ID" dirty="0" smtClean="0"/>
                  <a:t> ke kiri satu satuan)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id-ID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d-ID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d-ID" i="1">
                            <a:latin typeface="Cambria Math" panose="02040503050406030204" pitchFamily="18" charset="0"/>
                          </a:rPr>
                          <m:t>+1)</m:t>
                        </m:r>
                      </m:e>
                      <m:sup>
                        <m:r>
                          <a:rPr lang="id-ID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d-ID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id-ID" dirty="0" smtClean="0"/>
                  <a:t> (diperoleh dengan menggeser fungsi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d-ID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d-ID" i="1">
                            <a:latin typeface="Cambria Math" panose="02040503050406030204" pitchFamily="18" charset="0"/>
                          </a:rPr>
                          <m:t>+1)</m:t>
                        </m:r>
                      </m:e>
                      <m:sup>
                        <m:r>
                          <a:rPr lang="id-ID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d-ID" dirty="0" smtClean="0"/>
                  <a:t> ke atas tiga satuan)</a:t>
                </a:r>
                <a:endParaRPr lang="en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r="-1217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4030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Fungsi Polinomial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9436769" cy="4351338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dirty="0"/>
                  <a:t>Fungsi </a:t>
                </a:r>
                <a:r>
                  <a:rPr lang="en-US" dirty="0" err="1"/>
                  <a:t>polinomial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derajat</a:t>
                </a:r>
                <a:r>
                  <a:rPr lang="en-US" dirty="0"/>
                  <a:t> </a:t>
                </a:r>
                <a:r>
                  <a:rPr lang="en-US" i="1" dirty="0"/>
                  <a:t>n</a:t>
                </a:r>
                <a:r>
                  <a:rPr lang="en-US" dirty="0"/>
                  <a:t>, </a:t>
                </a:r>
                <a:r>
                  <a:rPr lang="en-US" dirty="0" err="1"/>
                  <a:t>diberikan</a:t>
                </a:r>
                <a:r>
                  <a:rPr lang="en-US" dirty="0"/>
                  <a:t> </a:t>
                </a:r>
                <a:r>
                  <a:rPr lang="en-US" dirty="0" err="1"/>
                  <a:t>oleh</a:t>
                </a:r>
                <a:r>
                  <a:rPr lang="en-US" dirty="0"/>
                  <a:t>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𝑛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𝑛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/>
                        <a:ea typeface="Cambria Math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, 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dirty="0" err="1"/>
                  <a:t>adalah</a:t>
                </a:r>
                <a:r>
                  <a:rPr lang="en-US" dirty="0"/>
                  <a:t> </a:t>
                </a:r>
                <a:r>
                  <a:rPr lang="en-US" dirty="0" err="1"/>
                  <a:t>suatu</a:t>
                </a:r>
                <a:r>
                  <a:rPr lang="en-US" dirty="0"/>
                  <a:t> </a:t>
                </a:r>
                <a:r>
                  <a:rPr lang="en-US" dirty="0" err="1"/>
                  <a:t>konstanta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≠0 .</m:t>
                    </m:r>
                  </m:oMath>
                </a14:m>
                <a:endParaRPr lang="en-US" dirty="0">
                  <a:ea typeface="Cambria Math"/>
                </a:endParaRPr>
              </a:p>
              <a:p>
                <a:pPr algn="just"/>
                <a:r>
                  <a:rPr lang="en-US" dirty="0"/>
                  <a:t>Domain : R</a:t>
                </a:r>
              </a:p>
              <a:p>
                <a:pPr algn="just"/>
                <a:r>
                  <a:rPr lang="en-US" dirty="0"/>
                  <a:t>Range : </a:t>
                </a:r>
              </a:p>
              <a:p>
                <a:pPr marL="514350" indent="-514350" algn="just">
                  <a:buAutoNum type="arabicPeriod"/>
                </a:pPr>
                <a:r>
                  <a:rPr lang="en-US" dirty="0" err="1"/>
                  <a:t>Jika</a:t>
                </a:r>
                <a:r>
                  <a:rPr lang="en-US" dirty="0"/>
                  <a:t> </a:t>
                </a:r>
                <a:r>
                  <a:rPr lang="en-US" dirty="0" err="1"/>
                  <a:t>derajatnya</a:t>
                </a:r>
                <a:r>
                  <a:rPr lang="en-US" dirty="0"/>
                  <a:t> </a:t>
                </a:r>
                <a:r>
                  <a:rPr lang="en-US" dirty="0" err="1"/>
                  <a:t>ganjil</a:t>
                </a:r>
                <a:r>
                  <a:rPr lang="en-US" dirty="0"/>
                  <a:t> </a:t>
                </a:r>
                <a:r>
                  <a:rPr lang="en-US" dirty="0" err="1"/>
                  <a:t>maka</a:t>
                </a:r>
                <a:r>
                  <a:rPr lang="en-US" dirty="0"/>
                  <a:t> range = R</a:t>
                </a:r>
              </a:p>
              <a:p>
                <a:pPr marL="514350" indent="-514350" algn="just">
                  <a:buAutoNum type="arabicPeriod"/>
                </a:pPr>
                <a:r>
                  <a:rPr lang="en-US" dirty="0" err="1"/>
                  <a:t>Jika</a:t>
                </a:r>
                <a:r>
                  <a:rPr lang="en-US" dirty="0"/>
                  <a:t> </a:t>
                </a:r>
                <a:r>
                  <a:rPr lang="en-US" dirty="0" err="1"/>
                  <a:t>derajatnya</a:t>
                </a:r>
                <a:r>
                  <a:rPr lang="en-US" dirty="0"/>
                  <a:t> </a:t>
                </a:r>
                <a:r>
                  <a:rPr lang="en-US" dirty="0" err="1"/>
                  <a:t>genap</a:t>
                </a:r>
                <a:r>
                  <a:rPr lang="en-US" dirty="0"/>
                  <a:t> </a:t>
                </a:r>
                <a:r>
                  <a:rPr lang="en-US" dirty="0" err="1"/>
                  <a:t>maka</a:t>
                </a:r>
                <a:r>
                  <a:rPr lang="en-US" dirty="0"/>
                  <a:t> range = [k,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∞) </m:t>
                    </m:r>
                  </m:oMath>
                </a14:m>
                <a:r>
                  <a:rPr lang="en-US" dirty="0" err="1"/>
                  <a:t>jika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&gt;0 </a:t>
                </a:r>
                <a:r>
                  <a:rPr lang="en-US" dirty="0" err="1"/>
                  <a:t>dan</a:t>
                </a:r>
                <a:r>
                  <a:rPr lang="en-US" dirty="0"/>
                  <a:t> (-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r>
                  <a:rPr lang="en-US" dirty="0"/>
                  <a:t>, k] </a:t>
                </a:r>
                <a:r>
                  <a:rPr lang="en-US" dirty="0" err="1"/>
                  <a:t>jika</a:t>
                </a:r>
                <a:r>
                  <a:rPr lang="en-US" dirty="0"/>
                  <a:t> a&lt;0, </a:t>
                </a:r>
                <a:r>
                  <a:rPr lang="en-US" dirty="0" err="1"/>
                  <a:t>dimana</a:t>
                </a:r>
                <a:r>
                  <a:rPr lang="en-US" dirty="0"/>
                  <a:t> k </a:t>
                </a:r>
                <a:r>
                  <a:rPr lang="en-US" dirty="0" err="1"/>
                  <a:t>adalah</a:t>
                </a:r>
                <a:r>
                  <a:rPr lang="en-US" dirty="0"/>
                  <a:t> </a:t>
                </a:r>
                <a:r>
                  <a:rPr lang="en-US" dirty="0" err="1"/>
                  <a:t>titik</a:t>
                </a:r>
                <a:r>
                  <a:rPr lang="en-US" dirty="0"/>
                  <a:t> </a:t>
                </a:r>
                <a:r>
                  <a:rPr lang="en-US" dirty="0" err="1"/>
                  <a:t>tertinggi</a:t>
                </a:r>
                <a:r>
                  <a:rPr lang="en-US" dirty="0"/>
                  <a:t>/</a:t>
                </a:r>
                <a:r>
                  <a:rPr lang="en-US" dirty="0" err="1"/>
                  <a:t>terrendah</a:t>
                </a:r>
                <a:r>
                  <a:rPr lang="en-US" dirty="0"/>
                  <a:t> </a:t>
                </a:r>
                <a:r>
                  <a:rPr lang="en-US" dirty="0" err="1"/>
                  <a:t>grafik</a:t>
                </a:r>
                <a:r>
                  <a:rPr lang="en-US" dirty="0" smtClean="0"/>
                  <a:t>.</a:t>
                </a:r>
                <a:endParaRPr lang="id-ID" dirty="0" smtClean="0"/>
              </a:p>
              <a:p>
                <a:pPr marL="0" indent="0" algn="just">
                  <a:buNone/>
                </a:pPr>
                <a:r>
                  <a:rPr lang="id-ID" b="1" dirty="0" smtClean="0"/>
                  <a:t>(akan dijelaskan detail pada materi turunan)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9436769" cy="4351338"/>
              </a:xfrm>
              <a:blipFill>
                <a:blip r:embed="rId2"/>
                <a:stretch>
                  <a:fillRect l="-1291" t="-2241" r="-1291" b="-140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7325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Fungsi Eksponensial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442284" cy="4351338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Fungsi </a:t>
                </a:r>
                <a:r>
                  <a:rPr lang="en-US" dirty="0" err="1"/>
                  <a:t>eksponensial</a:t>
                </a:r>
                <a:r>
                  <a:rPr lang="en-US" dirty="0"/>
                  <a:t> </a:t>
                </a:r>
                <a:r>
                  <a:rPr lang="en-US" dirty="0" err="1"/>
                  <a:t>diberikan</a:t>
                </a:r>
                <a:r>
                  <a:rPr lang="en-US" dirty="0"/>
                  <a:t> </a:t>
                </a:r>
                <a:r>
                  <a:rPr lang="en-US" dirty="0" err="1"/>
                  <a:t>oleh</a:t>
                </a:r>
                <a:r>
                  <a:rPr lang="en-US" dirty="0"/>
                  <a:t>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dirty="0" err="1">
                    <a:ea typeface="Cambria Math"/>
                  </a:rPr>
                  <a:t>adalah</a:t>
                </a:r>
                <a:r>
                  <a:rPr lang="en-US" dirty="0">
                    <a:ea typeface="Cambria Math"/>
                  </a:rPr>
                  <a:t> basis.</a:t>
                </a:r>
              </a:p>
              <a:p>
                <a:r>
                  <a:rPr lang="en-US" dirty="0"/>
                  <a:t>Domain :  R</a:t>
                </a:r>
              </a:p>
              <a:p>
                <a:r>
                  <a:rPr lang="en-US" dirty="0"/>
                  <a:t>Range : (0,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∞)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Grafik</a:t>
                </a:r>
                <a:r>
                  <a:rPr lang="en-US" dirty="0"/>
                  <a:t> intercept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sumbu</a:t>
                </a:r>
                <a:r>
                  <a:rPr lang="en-US" dirty="0"/>
                  <a:t> y di (0,1), </a:t>
                </a:r>
                <a:r>
                  <a:rPr lang="en-US" dirty="0" err="1"/>
                  <a:t>karena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0</m:t>
                        </m:r>
                      </m:sup>
                    </m:sSup>
                    <m:r>
                      <a:rPr lang="en-US" i="1">
                        <a:latin typeface="Cambria Math"/>
                        <a:ea typeface="Cambria Math"/>
                      </a:rPr>
                      <m:t>=1.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442284" cy="4351338"/>
              </a:xfrm>
              <a:blipFill>
                <a:blip r:embed="rId2"/>
                <a:stretch>
                  <a:fillRect l="-2018" t="-2241" r="-2130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66028" t="73849" r="23060" b="13321"/>
          <a:stretch/>
        </p:blipFill>
        <p:spPr>
          <a:xfrm>
            <a:off x="7074568" y="2165685"/>
            <a:ext cx="3931547" cy="259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482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Fungsi Eksponensial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12C30-0D74-446E-B644-8BF31BCF3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23039" cy="2053201"/>
          </a:xfrm>
        </p:spPr>
        <p:txBody>
          <a:bodyPr>
            <a:noAutofit/>
          </a:bodyPr>
          <a:lstStyle/>
          <a:p>
            <a:r>
              <a:rPr lang="sv-SE" dirty="0"/>
              <a:t>Gambarlah grafik masing-masing fungsi berikut.</a:t>
            </a:r>
          </a:p>
          <a:p>
            <a:pPr marL="514350" indent="-514350">
              <a:buFont typeface="+mj-lt"/>
              <a:buAutoNum type="arabicPeriod"/>
            </a:pPr>
            <a:r>
              <a:rPr lang="sv-SE" i="1" dirty="0"/>
              <a:t>f</a:t>
            </a:r>
            <a:r>
              <a:rPr lang="sv-SE" dirty="0"/>
              <a:t>(</a:t>
            </a:r>
            <a:r>
              <a:rPr lang="sv-SE" i="1" dirty="0"/>
              <a:t>x</a:t>
            </a:r>
            <a:r>
              <a:rPr lang="sv-SE" dirty="0"/>
              <a:t>) = </a:t>
            </a:r>
            <a:r>
              <a:rPr lang="sv-SE" dirty="0" smtClean="0"/>
              <a:t>2</a:t>
            </a:r>
            <a:r>
              <a:rPr lang="sv-SE" i="1" baseline="30000" dirty="0" smtClean="0"/>
              <a:t>x</a:t>
            </a:r>
            <a:endParaRPr lang="id-ID" dirty="0" smtClean="0"/>
          </a:p>
          <a:p>
            <a:pPr marL="514350" indent="-514350">
              <a:buFont typeface="+mj-lt"/>
              <a:buAutoNum type="arabicPeriod"/>
            </a:pPr>
            <a:r>
              <a:rPr lang="sv-SE" i="1" dirty="0" smtClean="0"/>
              <a:t>g</a:t>
            </a:r>
            <a:r>
              <a:rPr lang="sv-SE" dirty="0" smtClean="0"/>
              <a:t>(</a:t>
            </a:r>
            <a:r>
              <a:rPr lang="sv-SE" i="1" dirty="0" smtClean="0"/>
              <a:t>x</a:t>
            </a:r>
            <a:r>
              <a:rPr lang="sv-SE" dirty="0"/>
              <a:t>) = (</a:t>
            </a:r>
            <a:r>
              <a:rPr lang="sv-SE" dirty="0" smtClean="0"/>
              <a:t>1/2)</a:t>
            </a:r>
            <a:r>
              <a:rPr lang="sv-SE" i="1" baseline="30000" dirty="0" smtClean="0"/>
              <a:t>x</a:t>
            </a:r>
            <a:endParaRPr lang="id-ID" i="1" baseline="30000" dirty="0" smtClean="0"/>
          </a:p>
          <a:p>
            <a:pPr marL="0" indent="0">
              <a:buNone/>
            </a:pPr>
            <a:endParaRPr lang="sv-S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4" y="4281850"/>
            <a:ext cx="7167716" cy="14043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1690688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72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Fungsi Logaritma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153526" cy="4351338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Fungsi </a:t>
                </a:r>
                <a:r>
                  <a:rPr lang="en-US" dirty="0" err="1"/>
                  <a:t>logaritma</a:t>
                </a:r>
                <a:r>
                  <a:rPr lang="en-US" dirty="0"/>
                  <a:t> </a:t>
                </a:r>
                <a:r>
                  <a:rPr lang="en-US" dirty="0" err="1"/>
                  <a:t>diberikan</a:t>
                </a:r>
                <a:r>
                  <a:rPr lang="en-US" dirty="0"/>
                  <a:t> </a:t>
                </a:r>
                <a:r>
                  <a:rPr lang="en-US" dirty="0" err="1"/>
                  <a:t>oleh</a:t>
                </a:r>
                <a:r>
                  <a:rPr lang="en-US" dirty="0"/>
                  <a:t>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/>
                        <a:ea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/>
                        <a:ea typeface="Cambria Math"/>
                      </a:rPr>
                      <m:t>log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⁡(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 err="1"/>
                  <a:t>Catatan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𝑦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/>
                        <a:ea typeface="Cambria Math"/>
                      </a:rPr>
                      <m:t>log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⁡(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dirty="0">
                    <a:ea typeface="Cambria Math"/>
                  </a:rPr>
                  <a:t>, </a:t>
                </a:r>
                <a:r>
                  <a:rPr lang="en-US" dirty="0" err="1">
                    <a:ea typeface="Cambria Math"/>
                  </a:rPr>
                  <a:t>jika</a:t>
                </a:r>
                <a:r>
                  <a:rPr lang="en-US" dirty="0">
                    <a:ea typeface="Cambria Math"/>
                  </a:rPr>
                  <a:t> </a:t>
                </a:r>
                <a:r>
                  <a:rPr lang="en-US" dirty="0" err="1">
                    <a:ea typeface="Cambria Math"/>
                  </a:rPr>
                  <a:t>hanya</a:t>
                </a:r>
                <a:r>
                  <a:rPr lang="en-US" dirty="0">
                    <a:ea typeface="Cambria Math"/>
                  </a:rPr>
                  <a:t> </a:t>
                </a:r>
                <a:r>
                  <a:rPr lang="en-US" dirty="0" err="1">
                    <a:ea typeface="Cambria Math"/>
                  </a:rPr>
                  <a:t>jika</a:t>
                </a:r>
                <a:r>
                  <a:rPr 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𝑦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𝑥</m:t>
                        </m:r>
                      </m:sup>
                    </m:sSup>
                  </m:oMath>
                </a14:m>
                <a:endParaRPr lang="en-US" dirty="0">
                  <a:ea typeface="Cambria Math"/>
                </a:endParaRPr>
              </a:p>
              <a:p>
                <a:r>
                  <a:rPr lang="en-US" dirty="0"/>
                  <a:t>Domain :  (0,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∞)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Range : 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112C30-0D74-446E-B644-8BF31BCF33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153526" cy="4351338"/>
              </a:xfrm>
              <a:blipFill>
                <a:blip r:embed="rId2"/>
                <a:stretch>
                  <a:fillRect l="-2130" t="-2241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63994" t="67975" r="21396" b="15297"/>
          <a:stretch/>
        </p:blipFill>
        <p:spPr>
          <a:xfrm>
            <a:off x="7122695" y="2261937"/>
            <a:ext cx="4231105" cy="272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18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Fungsi Logaritma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12C30-0D74-446E-B644-8BF31BCF3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id-ID" dirty="0"/>
              <a:t>Sketsalah grafik </a:t>
            </a:r>
            <a:r>
              <a:rPr lang="id-ID" i="1" dirty="0"/>
              <a:t>f</a:t>
            </a:r>
            <a:r>
              <a:rPr lang="id-ID" dirty="0"/>
              <a:t>(</a:t>
            </a:r>
            <a:r>
              <a:rPr lang="id-ID" i="1" dirty="0"/>
              <a:t>x</a:t>
            </a:r>
            <a:r>
              <a:rPr lang="id-ID" dirty="0"/>
              <a:t>) = log</a:t>
            </a:r>
            <a:r>
              <a:rPr lang="id-ID" baseline="-25000" dirty="0"/>
              <a:t>2</a:t>
            </a:r>
            <a:r>
              <a:rPr lang="id-ID" dirty="0"/>
              <a:t> </a:t>
            </a:r>
            <a:r>
              <a:rPr lang="id-ID" i="1" dirty="0" smtClean="0"/>
              <a:t>x</a:t>
            </a:r>
          </a:p>
          <a:p>
            <a:pPr marL="0" lvl="0" indent="0">
              <a:buNone/>
            </a:pPr>
            <a:endParaRPr lang="en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78" y="2819950"/>
            <a:ext cx="6538452" cy="6057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52" y="1383414"/>
            <a:ext cx="4151670" cy="415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808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Fungsi Trigonometri</a:t>
            </a:r>
            <a:endParaRPr lang="en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4392" y="2075699"/>
            <a:ext cx="10749408" cy="308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197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Nilai Sudut Istimewa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7703108"/>
                  </p:ext>
                </p:extLst>
              </p:nvPr>
            </p:nvGraphicFramePr>
            <p:xfrm>
              <a:off x="1058606" y="2327238"/>
              <a:ext cx="9176778" cy="29585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9642">
                      <a:extLst>
                        <a:ext uri="{9D8B030D-6E8A-4147-A177-3AD203B41FA5}">
                          <a16:colId xmlns:a16="http://schemas.microsoft.com/office/drawing/2014/main" val="184413668"/>
                        </a:ext>
                      </a:extLst>
                    </a:gridCol>
                    <a:gridCol w="1019642">
                      <a:extLst>
                        <a:ext uri="{9D8B030D-6E8A-4147-A177-3AD203B41FA5}">
                          <a16:colId xmlns:a16="http://schemas.microsoft.com/office/drawing/2014/main" val="182562925"/>
                        </a:ext>
                      </a:extLst>
                    </a:gridCol>
                    <a:gridCol w="1019642">
                      <a:extLst>
                        <a:ext uri="{9D8B030D-6E8A-4147-A177-3AD203B41FA5}">
                          <a16:colId xmlns:a16="http://schemas.microsoft.com/office/drawing/2014/main" val="2388675348"/>
                        </a:ext>
                      </a:extLst>
                    </a:gridCol>
                    <a:gridCol w="1019642">
                      <a:extLst>
                        <a:ext uri="{9D8B030D-6E8A-4147-A177-3AD203B41FA5}">
                          <a16:colId xmlns:a16="http://schemas.microsoft.com/office/drawing/2014/main" val="341483567"/>
                        </a:ext>
                      </a:extLst>
                    </a:gridCol>
                    <a:gridCol w="1019642">
                      <a:extLst>
                        <a:ext uri="{9D8B030D-6E8A-4147-A177-3AD203B41FA5}">
                          <a16:colId xmlns:a16="http://schemas.microsoft.com/office/drawing/2014/main" val="3128419263"/>
                        </a:ext>
                      </a:extLst>
                    </a:gridCol>
                    <a:gridCol w="1019642">
                      <a:extLst>
                        <a:ext uri="{9D8B030D-6E8A-4147-A177-3AD203B41FA5}">
                          <a16:colId xmlns:a16="http://schemas.microsoft.com/office/drawing/2014/main" val="3009821835"/>
                        </a:ext>
                      </a:extLst>
                    </a:gridCol>
                    <a:gridCol w="1019642">
                      <a:extLst>
                        <a:ext uri="{9D8B030D-6E8A-4147-A177-3AD203B41FA5}">
                          <a16:colId xmlns:a16="http://schemas.microsoft.com/office/drawing/2014/main" val="3860240024"/>
                        </a:ext>
                      </a:extLst>
                    </a:gridCol>
                    <a:gridCol w="1019642">
                      <a:extLst>
                        <a:ext uri="{9D8B030D-6E8A-4147-A177-3AD203B41FA5}">
                          <a16:colId xmlns:a16="http://schemas.microsoft.com/office/drawing/2014/main" val="795514564"/>
                        </a:ext>
                      </a:extLst>
                    </a:gridCol>
                    <a:gridCol w="1019642">
                      <a:extLst>
                        <a:ext uri="{9D8B030D-6E8A-4147-A177-3AD203B41FA5}">
                          <a16:colId xmlns:a16="http://schemas.microsoft.com/office/drawing/2014/main" val="2239544445"/>
                        </a:ext>
                      </a:extLst>
                    </a:gridCol>
                  </a:tblGrid>
                  <a:tr h="6275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d-ID" sz="2400" smtClean="0">
                                    <a:latin typeface="Cambria Math" panose="02040503050406030204" pitchFamily="18" charset="0"/>
                                  </a:rPr>
                                  <m:t>∝</m:t>
                                </m:r>
                              </m:oMath>
                            </m:oMathPara>
                          </a14:m>
                          <a:endParaRPr lang="id-ID" sz="2400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0</a:t>
                          </a:r>
                          <a14:m>
                            <m:oMath xmlns:m="http://schemas.openxmlformats.org/officeDocument/2006/math">
                              <m:r>
                                <a:rPr lang="id-ID" sz="2400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oMath>
                          </a14:m>
                          <a:endParaRPr lang="id-ID" sz="2400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30</a:t>
                          </a:r>
                          <a14:m>
                            <m:oMath xmlns:m="http://schemas.openxmlformats.org/officeDocument/2006/math">
                              <m:r>
                                <a:rPr lang="id-ID" sz="2400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oMath>
                          </a14:m>
                          <a:endParaRPr lang="id-ID" sz="2400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45</a:t>
                          </a:r>
                          <a14:m>
                            <m:oMath xmlns:m="http://schemas.openxmlformats.org/officeDocument/2006/math">
                              <m:r>
                                <a:rPr lang="id-ID" sz="2400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oMath>
                          </a14:m>
                          <a:endParaRPr lang="id-ID" sz="2400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60</a:t>
                          </a:r>
                          <a14:m>
                            <m:oMath xmlns:m="http://schemas.openxmlformats.org/officeDocument/2006/math">
                              <m:r>
                                <a:rPr lang="id-ID" sz="2400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oMath>
                          </a14:m>
                          <a:endParaRPr lang="id-ID" sz="2400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90</a:t>
                          </a:r>
                          <a14:m>
                            <m:oMath xmlns:m="http://schemas.openxmlformats.org/officeDocument/2006/math">
                              <m:r>
                                <a:rPr lang="id-ID" sz="2400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oMath>
                          </a14:m>
                          <a:endParaRPr lang="id-ID" sz="2400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180</a:t>
                          </a:r>
                          <a14:m>
                            <m:oMath xmlns:m="http://schemas.openxmlformats.org/officeDocument/2006/math">
                              <m:r>
                                <a:rPr lang="id-ID" sz="2400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oMath>
                          </a14:m>
                          <a:endParaRPr lang="id-ID" sz="2400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270</a:t>
                          </a:r>
                          <a14:m>
                            <m:oMath xmlns:m="http://schemas.openxmlformats.org/officeDocument/2006/math">
                              <m:r>
                                <a:rPr lang="id-ID" sz="2400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oMath>
                          </a14:m>
                          <a:endParaRPr lang="id-ID" sz="2400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360</a:t>
                          </a:r>
                          <a14:m>
                            <m:oMath xmlns:m="http://schemas.openxmlformats.org/officeDocument/2006/math">
                              <m:r>
                                <a:rPr lang="id-ID" sz="2400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oMath>
                          </a14:m>
                          <a:endParaRPr lang="id-ID" sz="2400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1475978"/>
                      </a:ext>
                    </a:extLst>
                  </a:tr>
                  <a:tr h="6275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Sin </a:t>
                          </a:r>
                          <a14:m>
                            <m:oMath xmlns:m="http://schemas.openxmlformats.org/officeDocument/2006/math">
                              <m:r>
                                <a:rPr lang="id-ID" sz="2400" smtClean="0">
                                  <a:latin typeface="Cambria Math" panose="02040503050406030204" pitchFamily="18" charset="0"/>
                                </a:rPr>
                                <m:t>∝</m:t>
                              </m:r>
                            </m:oMath>
                          </a14:m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0</a:t>
                          </a:r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id-ID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id-ID" sz="240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id-ID" sz="2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id-ID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id-ID" sz="240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id-ID" sz="2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ad>
                                  <m:radPr>
                                    <m:degHide m:val="on"/>
                                    <m:ctrlPr>
                                      <a:rPr lang="id-ID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id-ID" sz="2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id-ID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id-ID" sz="240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id-ID" sz="2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ad>
                                  <m:radPr>
                                    <m:degHide m:val="on"/>
                                    <m:ctrlPr>
                                      <a:rPr lang="id-ID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id-ID" sz="240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1</a:t>
                          </a:r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0</a:t>
                          </a:r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-1</a:t>
                          </a:r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0</a:t>
                          </a:r>
                          <a:endParaRPr lang="id-ID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35243294"/>
                      </a:ext>
                    </a:extLst>
                  </a:tr>
                  <a:tr h="6275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Cos </a:t>
                          </a:r>
                          <a14:m>
                            <m:oMath xmlns:m="http://schemas.openxmlformats.org/officeDocument/2006/math">
                              <m:r>
                                <a:rPr lang="id-ID" sz="2400" smtClean="0">
                                  <a:latin typeface="Cambria Math" panose="02040503050406030204" pitchFamily="18" charset="0"/>
                                </a:rPr>
                                <m:t>∝</m:t>
                              </m:r>
                            </m:oMath>
                          </a14:m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1</a:t>
                          </a:r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id-ID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id-ID" sz="240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id-ID" sz="2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ad>
                                  <m:radPr>
                                    <m:degHide m:val="on"/>
                                    <m:ctrlPr>
                                      <a:rPr lang="id-ID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id-ID" sz="240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id-ID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id-ID" sz="240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id-ID" sz="2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ad>
                                  <m:radPr>
                                    <m:degHide m:val="on"/>
                                    <m:ctrlPr>
                                      <a:rPr lang="id-ID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id-ID" sz="2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id-ID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id-ID" sz="240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id-ID" sz="2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0</a:t>
                          </a:r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-1</a:t>
                          </a:r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0</a:t>
                          </a:r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1</a:t>
                          </a:r>
                          <a:endParaRPr lang="id-ID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1030168"/>
                      </a:ext>
                    </a:extLst>
                  </a:tr>
                  <a:tr h="6275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Tan </a:t>
                          </a:r>
                          <a14:m>
                            <m:oMath xmlns:m="http://schemas.openxmlformats.org/officeDocument/2006/math">
                              <m:r>
                                <a:rPr lang="id-ID" sz="2400" smtClean="0">
                                  <a:latin typeface="Cambria Math" panose="02040503050406030204" pitchFamily="18" charset="0"/>
                                </a:rPr>
                                <m:t>∝</m:t>
                              </m:r>
                            </m:oMath>
                          </a14:m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0</a:t>
                          </a:r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id-ID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id-ID" sz="240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id-ID" sz="2400" b="0" i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ad>
                                  <m:radPr>
                                    <m:degHide m:val="on"/>
                                    <m:ctrlPr>
                                      <a:rPr lang="id-ID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id-ID" sz="240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1</a:t>
                          </a:r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id-ID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id-ID" sz="240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d-ID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0</a:t>
                          </a:r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d-ID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0</a:t>
                          </a:r>
                          <a:endParaRPr lang="id-ID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15405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7703108"/>
                  </p:ext>
                </p:extLst>
              </p:nvPr>
            </p:nvGraphicFramePr>
            <p:xfrm>
              <a:off x="1058606" y="2327238"/>
              <a:ext cx="9176778" cy="29585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9642">
                      <a:extLst>
                        <a:ext uri="{9D8B030D-6E8A-4147-A177-3AD203B41FA5}">
                          <a16:colId xmlns:a16="http://schemas.microsoft.com/office/drawing/2014/main" val="184413668"/>
                        </a:ext>
                      </a:extLst>
                    </a:gridCol>
                    <a:gridCol w="1019642">
                      <a:extLst>
                        <a:ext uri="{9D8B030D-6E8A-4147-A177-3AD203B41FA5}">
                          <a16:colId xmlns:a16="http://schemas.microsoft.com/office/drawing/2014/main" val="182562925"/>
                        </a:ext>
                      </a:extLst>
                    </a:gridCol>
                    <a:gridCol w="1019642">
                      <a:extLst>
                        <a:ext uri="{9D8B030D-6E8A-4147-A177-3AD203B41FA5}">
                          <a16:colId xmlns:a16="http://schemas.microsoft.com/office/drawing/2014/main" val="2388675348"/>
                        </a:ext>
                      </a:extLst>
                    </a:gridCol>
                    <a:gridCol w="1019642">
                      <a:extLst>
                        <a:ext uri="{9D8B030D-6E8A-4147-A177-3AD203B41FA5}">
                          <a16:colId xmlns:a16="http://schemas.microsoft.com/office/drawing/2014/main" val="341483567"/>
                        </a:ext>
                      </a:extLst>
                    </a:gridCol>
                    <a:gridCol w="1019642">
                      <a:extLst>
                        <a:ext uri="{9D8B030D-6E8A-4147-A177-3AD203B41FA5}">
                          <a16:colId xmlns:a16="http://schemas.microsoft.com/office/drawing/2014/main" val="3128419263"/>
                        </a:ext>
                      </a:extLst>
                    </a:gridCol>
                    <a:gridCol w="1019642">
                      <a:extLst>
                        <a:ext uri="{9D8B030D-6E8A-4147-A177-3AD203B41FA5}">
                          <a16:colId xmlns:a16="http://schemas.microsoft.com/office/drawing/2014/main" val="3009821835"/>
                        </a:ext>
                      </a:extLst>
                    </a:gridCol>
                    <a:gridCol w="1019642">
                      <a:extLst>
                        <a:ext uri="{9D8B030D-6E8A-4147-A177-3AD203B41FA5}">
                          <a16:colId xmlns:a16="http://schemas.microsoft.com/office/drawing/2014/main" val="3860240024"/>
                        </a:ext>
                      </a:extLst>
                    </a:gridCol>
                    <a:gridCol w="1019642">
                      <a:extLst>
                        <a:ext uri="{9D8B030D-6E8A-4147-A177-3AD203B41FA5}">
                          <a16:colId xmlns:a16="http://schemas.microsoft.com/office/drawing/2014/main" val="795514564"/>
                        </a:ext>
                      </a:extLst>
                    </a:gridCol>
                    <a:gridCol w="1019642">
                      <a:extLst>
                        <a:ext uri="{9D8B030D-6E8A-4147-A177-3AD203B41FA5}">
                          <a16:colId xmlns:a16="http://schemas.microsoft.com/office/drawing/2014/main" val="2239544445"/>
                        </a:ext>
                      </a:extLst>
                    </a:gridCol>
                  </a:tblGrid>
                  <a:tr h="627558">
                    <a:tc>
                      <a:txBody>
                        <a:bodyPr/>
                        <a:lstStyle/>
                        <a:p>
                          <a:endParaRPr lang="id-ID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9" t="-971" r="-803593" b="-3747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d-ID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971" r="-698810" b="-3747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d-ID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98" t="-971" r="-602994" b="-3747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d-ID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9405" t="-971" r="-499405" b="-3747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d-ID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1796" t="-971" r="-402395" b="-3747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d-ID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8810" t="-971" r="-300000" b="-3747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d-ID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395" t="-971" r="-201796" b="-3747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d-ID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8214" t="-971" r="-100595" b="-3747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d-ID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994" t="-971" r="-1198" b="-3747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1475978"/>
                      </a:ext>
                    </a:extLst>
                  </a:tr>
                  <a:tr h="776224">
                    <a:tc>
                      <a:txBody>
                        <a:bodyPr/>
                        <a:lstStyle/>
                        <a:p>
                          <a:endParaRPr lang="id-ID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9" t="-81250" r="-803593" b="-20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0</a:t>
                          </a:r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id-ID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98" t="-81250" r="-602994" b="-20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d-ID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9405" t="-81250" r="-499405" b="-20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d-ID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1796" t="-81250" r="-402395" b="-20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1</a:t>
                          </a:r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0</a:t>
                          </a:r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-1</a:t>
                          </a:r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0</a:t>
                          </a:r>
                          <a:endParaRPr lang="id-ID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35243294"/>
                      </a:ext>
                    </a:extLst>
                  </a:tr>
                  <a:tr h="776224">
                    <a:tc>
                      <a:txBody>
                        <a:bodyPr/>
                        <a:lstStyle/>
                        <a:p>
                          <a:endParaRPr lang="id-ID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9" t="-181250" r="-803593" b="-10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1</a:t>
                          </a:r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id-ID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98" t="-181250" r="-602994" b="-10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d-ID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9405" t="-181250" r="-499405" b="-10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d-ID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1796" t="-181250" r="-402395" b="-10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0</a:t>
                          </a:r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-1</a:t>
                          </a:r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0</a:t>
                          </a:r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1</a:t>
                          </a:r>
                          <a:endParaRPr lang="id-ID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1030168"/>
                      </a:ext>
                    </a:extLst>
                  </a:tr>
                  <a:tr h="778574">
                    <a:tc>
                      <a:txBody>
                        <a:bodyPr/>
                        <a:lstStyle/>
                        <a:p>
                          <a:endParaRPr lang="id-ID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9" t="-281250" r="-803593" b="-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0</a:t>
                          </a:r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id-ID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98" t="-281250" r="-602994" b="-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1</a:t>
                          </a:r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id-ID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1796" t="-281250" r="-402395" b="-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d-ID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8810" t="-281250" r="-300000" b="-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0</a:t>
                          </a:r>
                          <a:endParaRPr lang="id-ID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id-ID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8214" t="-281250" r="-100595" b="-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d-ID" sz="2400" dirty="0" smtClean="0"/>
                            <a:t>0</a:t>
                          </a:r>
                          <a:endParaRPr lang="id-ID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154059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77628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Grafik Fungsi Sinus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12C30-0D74-446E-B644-8BF31BCF3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0373"/>
            <a:ext cx="10515600" cy="4351338"/>
          </a:xfrm>
        </p:spPr>
        <p:txBody>
          <a:bodyPr>
            <a:noAutofit/>
          </a:bodyPr>
          <a:lstStyle/>
          <a:p>
            <a:pPr lvl="0"/>
            <a:r>
              <a:rPr lang="id-ID" dirty="0" smtClean="0"/>
              <a:t>Langkah melukis Fungsi Grafik Sinus</a:t>
            </a:r>
          </a:p>
          <a:p>
            <a:pPr marL="0" lvl="0" indent="0">
              <a:buNone/>
            </a:pPr>
            <a:endParaRPr lang="en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759" y="2615841"/>
            <a:ext cx="7242841" cy="165591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326" y="4426571"/>
            <a:ext cx="6309544" cy="139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838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Contoh Grafik Fungsi Sinus</a:t>
            </a:r>
            <a:endParaRPr lang="en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275" y="4183970"/>
            <a:ext cx="6271291" cy="2471559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557" y="1550721"/>
            <a:ext cx="6490728" cy="263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200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Grafik Cosinus</a:t>
            </a:r>
            <a:endParaRPr lang="en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36" y="3814763"/>
            <a:ext cx="6425237" cy="2447157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537" y="1690688"/>
            <a:ext cx="4971282" cy="239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01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Grafik Fungsi Tangen</a:t>
            </a:r>
            <a:endParaRPr lang="en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7024" y="3496574"/>
            <a:ext cx="5858412" cy="2845232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224" y="1690687"/>
            <a:ext cx="2814799" cy="36975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0610" y="1690687"/>
            <a:ext cx="3284590" cy="160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347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Grafik Fungsi Trigonometri (Sinus)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12C30-0D74-446E-B644-8BF31BCF3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ES" dirty="0" err="1"/>
              <a:t>Grafik</a:t>
            </a:r>
            <a:r>
              <a:rPr lang="es-ES" dirty="0"/>
              <a:t> </a:t>
            </a:r>
            <a:r>
              <a:rPr lang="es-ES" dirty="0" err="1"/>
              <a:t>fungsi</a:t>
            </a:r>
            <a:r>
              <a:rPr lang="es-ES" dirty="0"/>
              <a:t> </a:t>
            </a:r>
            <a:r>
              <a:rPr lang="es-ES" dirty="0" err="1"/>
              <a:t>sinus</a:t>
            </a:r>
            <a:r>
              <a:rPr lang="es-ES" dirty="0"/>
              <a:t> (y = a sin </a:t>
            </a:r>
            <a:r>
              <a:rPr lang="es-ES" dirty="0" err="1"/>
              <a:t>bx</a:t>
            </a:r>
            <a:r>
              <a:rPr lang="es-ES" dirty="0"/>
              <a:t>, x ∈ [0</a:t>
            </a:r>
            <a:r>
              <a:rPr lang="es-ES" baseline="30000" dirty="0"/>
              <a:t>o</a:t>
            </a:r>
            <a:r>
              <a:rPr lang="es-ES" dirty="0"/>
              <a:t>, 360</a:t>
            </a:r>
            <a:r>
              <a:rPr lang="es-ES" baseline="30000" dirty="0"/>
              <a:t>o</a:t>
            </a:r>
            <a:r>
              <a:rPr lang="es-ES" dirty="0"/>
              <a:t>])</a:t>
            </a:r>
          </a:p>
          <a:p>
            <a:pPr marL="0" indent="0">
              <a:buNone/>
            </a:pPr>
            <a:endParaRPr lang="en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81" y="2935697"/>
            <a:ext cx="6276668" cy="267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557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Sifat Grafik Fungsi Sinus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12C30-0D74-446E-B644-8BF31BCF3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id-ID" dirty="0"/>
              <a:t>Simpangan maksimum gelombang atau yang biasa disebut amplitudo adalah 1. Simpangan gelombang adalah jarak dari fungsi </a:t>
            </a:r>
            <a:r>
              <a:rPr lang="id-ID" i="1" dirty="0"/>
              <a:t>x</a:t>
            </a:r>
            <a:r>
              <a:rPr lang="id-ID" dirty="0"/>
              <a:t> ke puncak gelombang.</a:t>
            </a:r>
          </a:p>
          <a:p>
            <a:pPr algn="just"/>
            <a:r>
              <a:rPr lang="id-ID" dirty="0"/>
              <a:t>Gelombang memiliki periode satu putaran penuh.</a:t>
            </a:r>
          </a:p>
          <a:p>
            <a:pPr algn="just"/>
            <a:r>
              <a:rPr lang="id-ID" dirty="0"/>
              <a:t>Grafik </a:t>
            </a:r>
            <a:r>
              <a:rPr lang="id-ID" i="1" dirty="0"/>
              <a:t>y</a:t>
            </a:r>
            <a:r>
              <a:rPr lang="id-ID" dirty="0"/>
              <a:t> = sin </a:t>
            </a:r>
            <a:r>
              <a:rPr lang="id-ID" i="1" dirty="0"/>
              <a:t>x</a:t>
            </a:r>
            <a:r>
              <a:rPr lang="id-ID" dirty="0"/>
              <a:t> memiliki nilai </a:t>
            </a:r>
            <a:r>
              <a:rPr lang="id-ID" i="1" dirty="0"/>
              <a:t>y</a:t>
            </a:r>
            <a:r>
              <a:rPr lang="id-ID" i="1" baseline="-25000" dirty="0"/>
              <a:t>maks</a:t>
            </a:r>
            <a:r>
              <a:rPr lang="id-ID" dirty="0"/>
              <a:t> = 1 dan </a:t>
            </a:r>
            <a:r>
              <a:rPr lang="id-ID" i="1" dirty="0"/>
              <a:t>y</a:t>
            </a:r>
            <a:r>
              <a:rPr lang="id-ID" i="1" baseline="-25000" dirty="0"/>
              <a:t>min</a:t>
            </a:r>
            <a:r>
              <a:rPr lang="id-ID" dirty="0"/>
              <a:t> = -1.</a:t>
            </a:r>
          </a:p>
          <a:p>
            <a:pPr algn="just"/>
            <a:r>
              <a:rPr lang="id-ID" dirty="0"/>
              <a:t>Titik maksimum gelombang adalah adalah (90</a:t>
            </a:r>
            <a:r>
              <a:rPr lang="id-ID" baseline="30000" dirty="0"/>
              <a:t>o</a:t>
            </a:r>
            <a:r>
              <a:rPr lang="id-ID" dirty="0"/>
              <a:t>, 1) dan titik minimumnya (270</a:t>
            </a:r>
            <a:r>
              <a:rPr lang="id-ID" baseline="30000" dirty="0"/>
              <a:t>o</a:t>
            </a:r>
            <a:r>
              <a:rPr lang="id-ID" dirty="0"/>
              <a:t>, -1).</a:t>
            </a:r>
            <a:endParaRPr lang="id-ID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52687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Grafik Fungsi Trigonometri (Cosinus)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12C30-0D74-446E-B644-8BF31BCF3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id-ID" dirty="0"/>
              <a:t>Grafik fungsi kosinus (</a:t>
            </a:r>
            <a:r>
              <a:rPr lang="id-ID" i="1" dirty="0"/>
              <a:t>y</a:t>
            </a:r>
            <a:r>
              <a:rPr lang="id-ID" dirty="0"/>
              <a:t> = cos 2</a:t>
            </a:r>
            <a:r>
              <a:rPr lang="id-ID" i="1" dirty="0"/>
              <a:t>x</a:t>
            </a:r>
            <a:r>
              <a:rPr lang="id-ID" dirty="0"/>
              <a:t>, </a:t>
            </a:r>
            <a:r>
              <a:rPr lang="id-ID" i="1" dirty="0"/>
              <a:t>x</a:t>
            </a:r>
            <a:r>
              <a:rPr lang="id-ID" dirty="0"/>
              <a:t> ∈ [0</a:t>
            </a:r>
            <a:r>
              <a:rPr lang="id-ID" baseline="30000" dirty="0"/>
              <a:t>o</a:t>
            </a:r>
            <a:r>
              <a:rPr lang="id-ID" dirty="0"/>
              <a:t>, 360</a:t>
            </a:r>
            <a:r>
              <a:rPr lang="id-ID" baseline="30000" dirty="0"/>
              <a:t>o</a:t>
            </a:r>
            <a:r>
              <a:rPr lang="id-ID" dirty="0"/>
              <a:t>])</a:t>
            </a:r>
          </a:p>
          <a:p>
            <a:pPr marL="0" indent="0">
              <a:buNone/>
            </a:pPr>
            <a:endParaRPr lang="en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139" y="2353442"/>
            <a:ext cx="5692093" cy="307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5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Grafik Fungsi Trigonometri (Tangen)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12C30-0D74-446E-B644-8BF31BCF3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ES" dirty="0" err="1"/>
              <a:t>Grafik</a:t>
            </a:r>
            <a:r>
              <a:rPr lang="es-ES" dirty="0"/>
              <a:t> </a:t>
            </a:r>
            <a:r>
              <a:rPr lang="es-ES" dirty="0" err="1"/>
              <a:t>fungsi</a:t>
            </a:r>
            <a:r>
              <a:rPr lang="es-ES" dirty="0"/>
              <a:t> </a:t>
            </a:r>
            <a:r>
              <a:rPr lang="es-ES" dirty="0" err="1" smtClean="0"/>
              <a:t>tangen</a:t>
            </a:r>
            <a:r>
              <a:rPr lang="es-ES" dirty="0" smtClean="0"/>
              <a:t> </a:t>
            </a:r>
            <a:r>
              <a:rPr lang="es-ES" dirty="0"/>
              <a:t>(</a:t>
            </a:r>
            <a:r>
              <a:rPr lang="es-ES" i="1" dirty="0" smtClean="0"/>
              <a:t>y</a:t>
            </a:r>
            <a:r>
              <a:rPr lang="es-ES" dirty="0" smtClean="0"/>
              <a:t> </a:t>
            </a:r>
            <a:r>
              <a:rPr lang="es-ES" dirty="0"/>
              <a:t>= tan </a:t>
            </a:r>
            <a:r>
              <a:rPr lang="es-ES" i="1" dirty="0"/>
              <a:t>x</a:t>
            </a:r>
            <a:r>
              <a:rPr lang="es-ES" dirty="0"/>
              <a:t>, </a:t>
            </a:r>
            <a:r>
              <a:rPr lang="es-ES" i="1" dirty="0"/>
              <a:t>x</a:t>
            </a:r>
            <a:r>
              <a:rPr lang="es-ES" dirty="0"/>
              <a:t> ∈ [0</a:t>
            </a:r>
            <a:r>
              <a:rPr lang="es-ES" baseline="30000" dirty="0"/>
              <a:t>o</a:t>
            </a:r>
            <a:r>
              <a:rPr lang="es-ES" dirty="0"/>
              <a:t>, 360</a:t>
            </a:r>
            <a:r>
              <a:rPr lang="es-ES" baseline="30000" dirty="0"/>
              <a:t>o</a:t>
            </a:r>
            <a:r>
              <a:rPr lang="es-ES" dirty="0" smtClean="0"/>
              <a:t>])</a:t>
            </a:r>
            <a:endParaRPr lang="id-ID" dirty="0" smtClean="0"/>
          </a:p>
          <a:p>
            <a:pPr marL="0" indent="0">
              <a:buNone/>
            </a:pPr>
            <a:r>
              <a:rPr lang="id-ID" dirty="0"/>
              <a:t>Adapun ketentuan yang berlaku pada fungsi tangen adalah sebagai berikut.</a:t>
            </a:r>
          </a:p>
          <a:p>
            <a:r>
              <a:rPr lang="id-ID" dirty="0"/>
              <a:t>Saat </a:t>
            </a:r>
            <a:r>
              <a:rPr lang="id-ID" i="1" dirty="0"/>
              <a:t>x</a:t>
            </a:r>
            <a:r>
              <a:rPr lang="id-ID" dirty="0"/>
              <a:t> -&gt; 90</a:t>
            </a:r>
            <a:r>
              <a:rPr lang="id-ID" baseline="30000" dirty="0"/>
              <a:t>o</a:t>
            </a:r>
            <a:r>
              <a:rPr lang="id-ID" dirty="0"/>
              <a:t> dan </a:t>
            </a:r>
            <a:r>
              <a:rPr lang="id-ID" i="1" dirty="0"/>
              <a:t>x</a:t>
            </a:r>
            <a:r>
              <a:rPr lang="id-ID" dirty="0"/>
              <a:t> -&gt; 270</a:t>
            </a:r>
            <a:r>
              <a:rPr lang="id-ID" baseline="30000" dirty="0"/>
              <a:t>o</a:t>
            </a:r>
            <a:r>
              <a:rPr lang="id-ID" dirty="0"/>
              <a:t> (dari kanan), nilai </a:t>
            </a:r>
            <a:r>
              <a:rPr lang="id-ID" i="1" dirty="0"/>
              <a:t>y</a:t>
            </a:r>
            <a:r>
              <a:rPr lang="id-ID" dirty="0"/>
              <a:t> = tan </a:t>
            </a:r>
            <a:r>
              <a:rPr lang="id-ID" i="1" dirty="0"/>
              <a:t>x</a:t>
            </a:r>
            <a:r>
              <a:rPr lang="id-ID" dirty="0"/>
              <a:t> menuju tak terhingga.</a:t>
            </a:r>
          </a:p>
          <a:p>
            <a:r>
              <a:rPr lang="id-ID" dirty="0"/>
              <a:t>Saat </a:t>
            </a:r>
            <a:r>
              <a:rPr lang="id-ID" i="1" dirty="0"/>
              <a:t>x</a:t>
            </a:r>
            <a:r>
              <a:rPr lang="id-ID" dirty="0"/>
              <a:t> -&gt; 90</a:t>
            </a:r>
            <a:r>
              <a:rPr lang="id-ID" baseline="30000" dirty="0"/>
              <a:t>o</a:t>
            </a:r>
            <a:r>
              <a:rPr lang="id-ID" dirty="0"/>
              <a:t> dan </a:t>
            </a:r>
            <a:r>
              <a:rPr lang="id-ID" i="1" dirty="0"/>
              <a:t>x</a:t>
            </a:r>
            <a:r>
              <a:rPr lang="id-ID" dirty="0"/>
              <a:t> -&gt; 270</a:t>
            </a:r>
            <a:r>
              <a:rPr lang="id-ID" baseline="30000" dirty="0"/>
              <a:t>o</a:t>
            </a:r>
            <a:r>
              <a:rPr lang="id-ID" dirty="0"/>
              <a:t> (dari kiri), nilai </a:t>
            </a:r>
            <a:r>
              <a:rPr lang="id-ID" i="1" dirty="0"/>
              <a:t>y</a:t>
            </a:r>
            <a:r>
              <a:rPr lang="id-ID" dirty="0"/>
              <a:t> = tan </a:t>
            </a:r>
            <a:r>
              <a:rPr lang="id-ID" i="1" dirty="0"/>
              <a:t>x</a:t>
            </a:r>
            <a:r>
              <a:rPr lang="id-ID" dirty="0"/>
              <a:t> menuju negatif tak terhingga.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82343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82DB-1C62-452B-A6C3-1250618B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Grafik Fungsi Trigonometri (Tangen)</a:t>
            </a:r>
            <a:endParaRPr lang="en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115" y="2005781"/>
            <a:ext cx="5202065" cy="3130985"/>
          </a:xfrm>
        </p:spPr>
      </p:pic>
    </p:spTree>
    <p:extLst>
      <p:ext uri="{BB962C8B-B14F-4D97-AF65-F5344CB8AC3E}">
        <p14:creationId xmlns:p14="http://schemas.microsoft.com/office/powerpoint/2010/main" val="865819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Latihan Soal 2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id-ID" dirty="0" smtClean="0"/>
              <a:t>Berikan contoh soal dan jawaban dari masing-masing fungsi dan grafiknya minimal dua jenis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481384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7113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2223</TotalTime>
  <Words>1675</Words>
  <Application>Microsoft Office PowerPoint</Application>
  <PresentationFormat>Widescreen</PresentationFormat>
  <Paragraphs>192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Cambria Math</vt:lpstr>
      <vt:lpstr>Office Theme</vt:lpstr>
      <vt:lpstr>PowerPoint Presentation</vt:lpstr>
      <vt:lpstr>KALKULUS DASAR</vt:lpstr>
      <vt:lpstr>Capaian Pembelajaran Mata Kuliah (CPMK)</vt:lpstr>
      <vt:lpstr>Materi Pembelajaran</vt:lpstr>
      <vt:lpstr>Fungsi dan Grafik</vt:lpstr>
      <vt:lpstr>Fungsi</vt:lpstr>
      <vt:lpstr>Contoh</vt:lpstr>
      <vt:lpstr>Latihan Soal 1</vt:lpstr>
      <vt:lpstr>Grafik Fungsi</vt:lpstr>
      <vt:lpstr>Contoh Mencari Intercept-x dan Intercept-y</vt:lpstr>
      <vt:lpstr>Jenis Fungsi</vt:lpstr>
      <vt:lpstr>Fungsi Konstan</vt:lpstr>
      <vt:lpstr>Contoh Fungsi Konstan</vt:lpstr>
      <vt:lpstr>Fungsi Linear</vt:lpstr>
      <vt:lpstr>Contoh Fungsi Linear</vt:lpstr>
      <vt:lpstr>Fungsi Kuadrat</vt:lpstr>
      <vt:lpstr>Grafik Fungsi Kuadrat</vt:lpstr>
      <vt:lpstr>Langkah Pembuatan</vt:lpstr>
      <vt:lpstr>Contoh Fungsi Kuadrat</vt:lpstr>
      <vt:lpstr>Fungsi Polinomial</vt:lpstr>
      <vt:lpstr>Fungsi Eksponensial</vt:lpstr>
      <vt:lpstr>Contoh Fungsi Eksponensial</vt:lpstr>
      <vt:lpstr>Fungsi Logaritma</vt:lpstr>
      <vt:lpstr>Contoh Fungsi Logaritma</vt:lpstr>
      <vt:lpstr>Fungsi Trigonometri</vt:lpstr>
      <vt:lpstr>Nilai Sudut Istimewa</vt:lpstr>
      <vt:lpstr>Contoh Grafik Fungsi Sinus</vt:lpstr>
      <vt:lpstr>Contoh Grafik Fungsi Sinus</vt:lpstr>
      <vt:lpstr>Contoh Grafik Cosinus</vt:lpstr>
      <vt:lpstr>Contoh Grafik Fungsi Tangen</vt:lpstr>
      <vt:lpstr>Grafik Fungsi Trigonometri (Sinus)</vt:lpstr>
      <vt:lpstr>Sifat Grafik Fungsi Sinus </vt:lpstr>
      <vt:lpstr>Grafik Fungsi Trigonometri (Cosinus)</vt:lpstr>
      <vt:lpstr>Grafik Fungsi Trigonometri (Tangen)</vt:lpstr>
      <vt:lpstr>Grafik Fungsi Trigonometri (Tangen)</vt:lpstr>
      <vt:lpstr>Latihan Soal 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Aulia Hamdi</dc:creator>
  <cp:lastModifiedBy>Khairunnisak Nur Isnaini</cp:lastModifiedBy>
  <cp:revision>135</cp:revision>
  <dcterms:created xsi:type="dcterms:W3CDTF">2021-08-16T08:18:43Z</dcterms:created>
  <dcterms:modified xsi:type="dcterms:W3CDTF">2021-10-03T14:28:03Z</dcterms:modified>
</cp:coreProperties>
</file>