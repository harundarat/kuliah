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79" r:id="rId2"/>
    <p:sldId id="515" r:id="rId3"/>
    <p:sldId id="482" r:id="rId4"/>
    <p:sldId id="518" r:id="rId5"/>
    <p:sldId id="583" r:id="rId6"/>
    <p:sldId id="519" r:id="rId7"/>
    <p:sldId id="591" r:id="rId8"/>
    <p:sldId id="568" r:id="rId9"/>
    <p:sldId id="592" r:id="rId10"/>
    <p:sldId id="584" r:id="rId11"/>
    <p:sldId id="585" r:id="rId12"/>
    <p:sldId id="586" r:id="rId13"/>
    <p:sldId id="565" r:id="rId14"/>
    <p:sldId id="587" r:id="rId15"/>
    <p:sldId id="588" r:id="rId16"/>
    <p:sldId id="589" r:id="rId17"/>
    <p:sldId id="590" r:id="rId18"/>
    <p:sldId id="593" r:id="rId19"/>
  </p:sldIdLst>
  <p:sldSz cx="9144000" cy="6858000" type="screen4x3"/>
  <p:notesSz cx="6858000" cy="99456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61D1"/>
    <a:srgbClr val="600000"/>
    <a:srgbClr val="00007A"/>
    <a:srgbClr val="0000FF"/>
    <a:srgbClr val="5B5BFF"/>
    <a:srgbClr val="8B8BFF"/>
    <a:srgbClr val="39471D"/>
    <a:srgbClr val="632A8E"/>
    <a:srgbClr val="261036"/>
    <a:srgbClr val="421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73" autoAdjust="0"/>
    <p:restoredTop sz="48403" autoAdjust="0"/>
  </p:normalViewPr>
  <p:slideViewPr>
    <p:cSldViewPr>
      <p:cViewPr>
        <p:scale>
          <a:sx n="90" d="100"/>
          <a:sy n="90" d="100"/>
        </p:scale>
        <p:origin x="-121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C25B25-5B35-42E4-8962-009378C6C213}" type="doc">
      <dgm:prSet loTypeId="urn:microsoft.com/office/officeart/2008/layout/PictureAccentList" loCatId="picture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0A43E255-2FAF-43E5-940B-CAB8C2A56FBC}">
      <dgm:prSet phldrT="[Text]" custT="1"/>
      <dgm:spPr>
        <a:solidFill>
          <a:srgbClr val="0000FF"/>
        </a:solidFill>
      </dgm:spPr>
      <dgm:t>
        <a:bodyPr/>
        <a:lstStyle/>
        <a:p>
          <a:r>
            <a:rPr lang="en-US" sz="2400" b="1" dirty="0" smtClean="0"/>
            <a:t>JENIS IDEOLOGI DUNIA</a:t>
          </a:r>
          <a:endParaRPr lang="en-US" sz="2400" dirty="0"/>
        </a:p>
      </dgm:t>
    </dgm:pt>
    <dgm:pt modelId="{39809DC0-BD28-428A-8450-909CAF12A25B}" type="parTrans" cxnId="{B011C092-2E93-4B7E-99F4-26AE6599807F}">
      <dgm:prSet/>
      <dgm:spPr/>
      <dgm:t>
        <a:bodyPr/>
        <a:lstStyle/>
        <a:p>
          <a:endParaRPr lang="en-US"/>
        </a:p>
      </dgm:t>
    </dgm:pt>
    <dgm:pt modelId="{30EC2A30-718F-4C8D-A160-FB75C3431445}" type="sibTrans" cxnId="{B011C092-2E93-4B7E-99F4-26AE6599807F}">
      <dgm:prSet/>
      <dgm:spPr/>
      <dgm:t>
        <a:bodyPr/>
        <a:lstStyle/>
        <a:p>
          <a:endParaRPr lang="en-US"/>
        </a:p>
      </dgm:t>
    </dgm:pt>
    <dgm:pt modelId="{75595C61-437F-4C06-ACBF-A3A6157EF4AD}">
      <dgm:prSet phldrT="[Text]" custT="1"/>
      <dgm:spPr>
        <a:solidFill>
          <a:srgbClr val="632A8E"/>
        </a:solidFill>
      </dgm:spPr>
      <dgm:t>
        <a:bodyPr/>
        <a:lstStyle/>
        <a:p>
          <a:pPr algn="l"/>
          <a:r>
            <a:rPr lang="en-US" sz="1600" dirty="0" smtClean="0">
              <a:latin typeface="Franklin Gothic Demi Cond" pitchFamily="34" charset="0"/>
            </a:rPr>
            <a:t>MARXISME-LENINISME</a:t>
          </a:r>
          <a:endParaRPr lang="en-US" sz="1600" dirty="0">
            <a:latin typeface="Franklin Gothic Demi Cond" pitchFamily="34" charset="0"/>
          </a:endParaRPr>
        </a:p>
      </dgm:t>
    </dgm:pt>
    <dgm:pt modelId="{B7192BB1-4ABD-4C67-B62E-E1447C1179EF}" type="parTrans" cxnId="{55943DD9-077F-4A08-A95F-F1D7EE40DFC0}">
      <dgm:prSet/>
      <dgm:spPr/>
      <dgm:t>
        <a:bodyPr/>
        <a:lstStyle/>
        <a:p>
          <a:endParaRPr lang="en-US"/>
        </a:p>
      </dgm:t>
    </dgm:pt>
    <dgm:pt modelId="{233BB8A3-CFAA-423B-B280-9362F494EC1D}" type="sibTrans" cxnId="{55943DD9-077F-4A08-A95F-F1D7EE40DFC0}">
      <dgm:prSet/>
      <dgm:spPr/>
      <dgm:t>
        <a:bodyPr/>
        <a:lstStyle/>
        <a:p>
          <a:endParaRPr lang="en-US"/>
        </a:p>
      </dgm:t>
    </dgm:pt>
    <dgm:pt modelId="{D692CABB-6C47-4EBE-967F-35981864783A}">
      <dgm:prSet phldrT="[Text]" custT="1"/>
      <dgm:spPr>
        <a:solidFill>
          <a:srgbClr val="632A8E"/>
        </a:solidFill>
      </dgm:spPr>
      <dgm:t>
        <a:bodyPr/>
        <a:lstStyle/>
        <a:p>
          <a:pPr algn="l"/>
          <a:r>
            <a:rPr lang="en-US" sz="1600" dirty="0" smtClean="0">
              <a:latin typeface="Franklin Gothic Demi Cond" pitchFamily="34" charset="0"/>
            </a:rPr>
            <a:t>LIBERALISME</a:t>
          </a:r>
          <a:endParaRPr lang="en-US" sz="1600" dirty="0">
            <a:latin typeface="Franklin Gothic Demi Cond" pitchFamily="34" charset="0"/>
          </a:endParaRPr>
        </a:p>
      </dgm:t>
    </dgm:pt>
    <dgm:pt modelId="{69A49AD3-D208-4D33-92ED-1DB3B9F5E086}" type="parTrans" cxnId="{5E9D8475-F954-4331-BE6A-886EFEACD59D}">
      <dgm:prSet/>
      <dgm:spPr/>
      <dgm:t>
        <a:bodyPr/>
        <a:lstStyle/>
        <a:p>
          <a:endParaRPr lang="en-US"/>
        </a:p>
      </dgm:t>
    </dgm:pt>
    <dgm:pt modelId="{E14018B6-1819-4CC5-9D90-FFE3C3179BA9}" type="sibTrans" cxnId="{5E9D8475-F954-4331-BE6A-886EFEACD59D}">
      <dgm:prSet/>
      <dgm:spPr/>
      <dgm:t>
        <a:bodyPr/>
        <a:lstStyle/>
        <a:p>
          <a:endParaRPr lang="en-US"/>
        </a:p>
      </dgm:t>
    </dgm:pt>
    <dgm:pt modelId="{4AD337CC-73A4-41D5-B79D-4E6630031753}">
      <dgm:prSet phldrT="[Text]" custT="1"/>
      <dgm:spPr>
        <a:solidFill>
          <a:srgbClr val="632A8E"/>
        </a:solidFill>
      </dgm:spPr>
      <dgm:t>
        <a:bodyPr/>
        <a:lstStyle/>
        <a:p>
          <a:pPr algn="l"/>
          <a:r>
            <a:rPr lang="en-US" sz="1600" dirty="0" smtClean="0">
              <a:latin typeface="Franklin Gothic Demi Cond" pitchFamily="34" charset="0"/>
            </a:rPr>
            <a:t>SOSIALISME</a:t>
          </a:r>
          <a:endParaRPr lang="en-US" sz="1600" dirty="0">
            <a:latin typeface="Franklin Gothic Demi Cond" pitchFamily="34" charset="0"/>
          </a:endParaRPr>
        </a:p>
      </dgm:t>
    </dgm:pt>
    <dgm:pt modelId="{9EC5ECC2-A568-4372-91FC-E3E99258FAB9}" type="parTrans" cxnId="{2535E662-2372-494D-8F79-B5002FD01D5C}">
      <dgm:prSet/>
      <dgm:spPr/>
      <dgm:t>
        <a:bodyPr/>
        <a:lstStyle/>
        <a:p>
          <a:endParaRPr lang="en-US"/>
        </a:p>
      </dgm:t>
    </dgm:pt>
    <dgm:pt modelId="{86ABEAB8-EDE0-4873-8BD9-2DEF7B75C2D8}" type="sibTrans" cxnId="{2535E662-2372-494D-8F79-B5002FD01D5C}">
      <dgm:prSet/>
      <dgm:spPr/>
      <dgm:t>
        <a:bodyPr/>
        <a:lstStyle/>
        <a:p>
          <a:endParaRPr lang="en-US"/>
        </a:p>
      </dgm:t>
    </dgm:pt>
    <dgm:pt modelId="{84C9F657-FDC2-45AC-8DB8-6CFCD3B92391}">
      <dgm:prSet phldrT="[Text]" custT="1"/>
      <dgm:spPr>
        <a:solidFill>
          <a:srgbClr val="632A8E"/>
        </a:solidFill>
      </dgm:spPr>
      <dgm:t>
        <a:bodyPr/>
        <a:lstStyle/>
        <a:p>
          <a:pPr algn="l"/>
          <a:r>
            <a:rPr lang="en-US" sz="1600" dirty="0" smtClean="0">
              <a:latin typeface="Franklin Gothic Demi Cond" pitchFamily="34" charset="0"/>
            </a:rPr>
            <a:t>KAPITALISME</a:t>
          </a:r>
          <a:endParaRPr lang="en-US" sz="1600" dirty="0">
            <a:latin typeface="Franklin Gothic Demi Cond" pitchFamily="34" charset="0"/>
          </a:endParaRPr>
        </a:p>
      </dgm:t>
    </dgm:pt>
    <dgm:pt modelId="{69BFF9EC-D1AD-418F-956C-A61EFD364C54}" type="parTrans" cxnId="{D31138E8-DF29-4E47-A2E5-14F9EEA3052C}">
      <dgm:prSet/>
      <dgm:spPr/>
      <dgm:t>
        <a:bodyPr/>
        <a:lstStyle/>
        <a:p>
          <a:endParaRPr lang="en-US"/>
        </a:p>
      </dgm:t>
    </dgm:pt>
    <dgm:pt modelId="{DA24E64A-2551-4E87-B6E5-A3CB53C5F2E2}" type="sibTrans" cxnId="{D31138E8-DF29-4E47-A2E5-14F9EEA3052C}">
      <dgm:prSet/>
      <dgm:spPr/>
      <dgm:t>
        <a:bodyPr/>
        <a:lstStyle/>
        <a:p>
          <a:endParaRPr lang="en-US"/>
        </a:p>
      </dgm:t>
    </dgm:pt>
    <dgm:pt modelId="{2567FB97-84ED-4DF5-9989-D035362E82E4}" type="pres">
      <dgm:prSet presAssocID="{94C25B25-5B35-42E4-8962-009378C6C213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A799AF0-144C-419D-BD22-281EAF5461EE}" type="pres">
      <dgm:prSet presAssocID="{0A43E255-2FAF-43E5-940B-CAB8C2A56FBC}" presName="root" presStyleCnt="0">
        <dgm:presLayoutVars>
          <dgm:chMax/>
          <dgm:chPref val="4"/>
        </dgm:presLayoutVars>
      </dgm:prSet>
      <dgm:spPr/>
    </dgm:pt>
    <dgm:pt modelId="{DCDDDCE6-2A8B-440D-A6DF-F79820289D85}" type="pres">
      <dgm:prSet presAssocID="{0A43E255-2FAF-43E5-940B-CAB8C2A56FBC}" presName="rootComposite" presStyleCnt="0">
        <dgm:presLayoutVars/>
      </dgm:prSet>
      <dgm:spPr/>
    </dgm:pt>
    <dgm:pt modelId="{775FF688-62C7-415C-BE02-F57231C5E8A5}" type="pres">
      <dgm:prSet presAssocID="{0A43E255-2FAF-43E5-940B-CAB8C2A56FBC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FE328B75-1DC4-4A05-AEA0-DF024F722BDB}" type="pres">
      <dgm:prSet presAssocID="{0A43E255-2FAF-43E5-940B-CAB8C2A56FBC}" presName="childShape" presStyleCnt="0">
        <dgm:presLayoutVars>
          <dgm:chMax val="0"/>
          <dgm:chPref val="0"/>
        </dgm:presLayoutVars>
      </dgm:prSet>
      <dgm:spPr/>
    </dgm:pt>
    <dgm:pt modelId="{C9CEF49E-4EAE-4110-8F40-3D04339BE2B0}" type="pres">
      <dgm:prSet presAssocID="{75595C61-437F-4C06-ACBF-A3A6157EF4AD}" presName="childComposite" presStyleCnt="0">
        <dgm:presLayoutVars>
          <dgm:chMax val="0"/>
          <dgm:chPref val="0"/>
        </dgm:presLayoutVars>
      </dgm:prSet>
      <dgm:spPr/>
    </dgm:pt>
    <dgm:pt modelId="{57416434-5A60-49D1-8557-DA70DE56C7B1}" type="pres">
      <dgm:prSet presAssocID="{75595C61-437F-4C06-ACBF-A3A6157EF4AD}" presName="Image" presStyleLbl="node1" presStyleIdx="0" presStyleCnt="4"/>
      <dgm:spPr>
        <a:solidFill>
          <a:schemeClr val="bg1"/>
        </a:solidFill>
        <a:ln w="28575">
          <a:solidFill>
            <a:srgbClr val="0000FF"/>
          </a:solidFill>
        </a:ln>
      </dgm:spPr>
      <dgm:t>
        <a:bodyPr/>
        <a:lstStyle/>
        <a:p>
          <a:endParaRPr lang="en-US"/>
        </a:p>
      </dgm:t>
    </dgm:pt>
    <dgm:pt modelId="{88BA09CA-F19F-48EC-A971-1E3C5C2C5E8E}" type="pres">
      <dgm:prSet presAssocID="{75595C61-437F-4C06-ACBF-A3A6157EF4AD}" presName="childText" presStyleLbl="l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2B72DD-8BB7-4624-B630-936CE4549EBF}" type="pres">
      <dgm:prSet presAssocID="{D692CABB-6C47-4EBE-967F-35981864783A}" presName="childComposite" presStyleCnt="0">
        <dgm:presLayoutVars>
          <dgm:chMax val="0"/>
          <dgm:chPref val="0"/>
        </dgm:presLayoutVars>
      </dgm:prSet>
      <dgm:spPr/>
    </dgm:pt>
    <dgm:pt modelId="{E6B08862-D75B-40EA-8AEF-9AA8611B5745}" type="pres">
      <dgm:prSet presAssocID="{D692CABB-6C47-4EBE-967F-35981864783A}" presName="Image" presStyleLbl="node1" presStyleIdx="1" presStyleCnt="4"/>
      <dgm:spPr>
        <a:solidFill>
          <a:schemeClr val="bg1"/>
        </a:solidFill>
        <a:ln w="28575">
          <a:solidFill>
            <a:srgbClr val="0000FF"/>
          </a:solidFill>
        </a:ln>
      </dgm:spPr>
    </dgm:pt>
    <dgm:pt modelId="{340D8577-3DC9-4417-9C0B-EE2D9F8BDDF7}" type="pres">
      <dgm:prSet presAssocID="{D692CABB-6C47-4EBE-967F-35981864783A}" presName="childText" presStyleLbl="l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04D70-9308-4D22-BCCD-23C2920DF503}" type="pres">
      <dgm:prSet presAssocID="{4AD337CC-73A4-41D5-B79D-4E6630031753}" presName="childComposite" presStyleCnt="0">
        <dgm:presLayoutVars>
          <dgm:chMax val="0"/>
          <dgm:chPref val="0"/>
        </dgm:presLayoutVars>
      </dgm:prSet>
      <dgm:spPr/>
    </dgm:pt>
    <dgm:pt modelId="{F9066FB7-B63D-4707-9ABC-8872622F2653}" type="pres">
      <dgm:prSet presAssocID="{4AD337CC-73A4-41D5-B79D-4E6630031753}" presName="Image" presStyleLbl="node1" presStyleIdx="2" presStyleCnt="4"/>
      <dgm:spPr>
        <a:solidFill>
          <a:schemeClr val="bg1"/>
        </a:solidFill>
        <a:ln w="28575">
          <a:solidFill>
            <a:srgbClr val="0000FF"/>
          </a:solidFill>
        </a:ln>
      </dgm:spPr>
    </dgm:pt>
    <dgm:pt modelId="{0C015B9C-07B1-48C8-AA69-5AFEB0F258D3}" type="pres">
      <dgm:prSet presAssocID="{4AD337CC-73A4-41D5-B79D-4E6630031753}" presName="childText" presStyleLbl="l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78E782-4A35-4DFE-8DBF-B92AC35BD6C8}" type="pres">
      <dgm:prSet presAssocID="{84C9F657-FDC2-45AC-8DB8-6CFCD3B92391}" presName="childComposite" presStyleCnt="0">
        <dgm:presLayoutVars>
          <dgm:chMax val="0"/>
          <dgm:chPref val="0"/>
        </dgm:presLayoutVars>
      </dgm:prSet>
      <dgm:spPr/>
    </dgm:pt>
    <dgm:pt modelId="{A464CA62-C295-4A12-91D8-DAF602D22C79}" type="pres">
      <dgm:prSet presAssocID="{84C9F657-FDC2-45AC-8DB8-6CFCD3B92391}" presName="Image" presStyleLbl="node1" presStyleIdx="3" presStyleCnt="4"/>
      <dgm:spPr>
        <a:solidFill>
          <a:schemeClr val="bg1"/>
        </a:solidFill>
        <a:ln w="28575">
          <a:solidFill>
            <a:srgbClr val="0000FF"/>
          </a:solidFill>
        </a:ln>
      </dgm:spPr>
    </dgm:pt>
    <dgm:pt modelId="{145F1D56-2A95-40E8-AA21-8C4331BF32D5}" type="pres">
      <dgm:prSet presAssocID="{84C9F657-FDC2-45AC-8DB8-6CFCD3B92391}" presName="childText" presStyleLbl="l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31138E8-DF29-4E47-A2E5-14F9EEA3052C}" srcId="{0A43E255-2FAF-43E5-940B-CAB8C2A56FBC}" destId="{84C9F657-FDC2-45AC-8DB8-6CFCD3B92391}" srcOrd="3" destOrd="0" parTransId="{69BFF9EC-D1AD-418F-956C-A61EFD364C54}" sibTransId="{DA24E64A-2551-4E87-B6E5-A3CB53C5F2E2}"/>
    <dgm:cxn modelId="{0AD172FC-C75F-401B-B81E-B185847B2DF8}" type="presOf" srcId="{4AD337CC-73A4-41D5-B79D-4E6630031753}" destId="{0C015B9C-07B1-48C8-AA69-5AFEB0F258D3}" srcOrd="0" destOrd="0" presId="urn:microsoft.com/office/officeart/2008/layout/PictureAccentList"/>
    <dgm:cxn modelId="{55943DD9-077F-4A08-A95F-F1D7EE40DFC0}" srcId="{0A43E255-2FAF-43E5-940B-CAB8C2A56FBC}" destId="{75595C61-437F-4C06-ACBF-A3A6157EF4AD}" srcOrd="0" destOrd="0" parTransId="{B7192BB1-4ABD-4C67-B62E-E1447C1179EF}" sibTransId="{233BB8A3-CFAA-423B-B280-9362F494EC1D}"/>
    <dgm:cxn modelId="{12E10626-8332-4EE4-99E7-5CB352D5B325}" type="presOf" srcId="{0A43E255-2FAF-43E5-940B-CAB8C2A56FBC}" destId="{775FF688-62C7-415C-BE02-F57231C5E8A5}" srcOrd="0" destOrd="0" presId="urn:microsoft.com/office/officeart/2008/layout/PictureAccentList"/>
    <dgm:cxn modelId="{B011C092-2E93-4B7E-99F4-26AE6599807F}" srcId="{94C25B25-5B35-42E4-8962-009378C6C213}" destId="{0A43E255-2FAF-43E5-940B-CAB8C2A56FBC}" srcOrd="0" destOrd="0" parTransId="{39809DC0-BD28-428A-8450-909CAF12A25B}" sibTransId="{30EC2A30-718F-4C8D-A160-FB75C3431445}"/>
    <dgm:cxn modelId="{7CC8C989-E5CD-4A98-88C4-90A34F6BB591}" type="presOf" srcId="{94C25B25-5B35-42E4-8962-009378C6C213}" destId="{2567FB97-84ED-4DF5-9989-D035362E82E4}" srcOrd="0" destOrd="0" presId="urn:microsoft.com/office/officeart/2008/layout/PictureAccentList"/>
    <dgm:cxn modelId="{494199E0-FCE5-42EC-95C8-01C5DB060ED8}" type="presOf" srcId="{84C9F657-FDC2-45AC-8DB8-6CFCD3B92391}" destId="{145F1D56-2A95-40E8-AA21-8C4331BF32D5}" srcOrd="0" destOrd="0" presId="urn:microsoft.com/office/officeart/2008/layout/PictureAccentList"/>
    <dgm:cxn modelId="{2535E662-2372-494D-8F79-B5002FD01D5C}" srcId="{0A43E255-2FAF-43E5-940B-CAB8C2A56FBC}" destId="{4AD337CC-73A4-41D5-B79D-4E6630031753}" srcOrd="2" destOrd="0" parTransId="{9EC5ECC2-A568-4372-91FC-E3E99258FAB9}" sibTransId="{86ABEAB8-EDE0-4873-8BD9-2DEF7B75C2D8}"/>
    <dgm:cxn modelId="{5E9D8475-F954-4331-BE6A-886EFEACD59D}" srcId="{0A43E255-2FAF-43E5-940B-CAB8C2A56FBC}" destId="{D692CABB-6C47-4EBE-967F-35981864783A}" srcOrd="1" destOrd="0" parTransId="{69A49AD3-D208-4D33-92ED-1DB3B9F5E086}" sibTransId="{E14018B6-1819-4CC5-9D90-FFE3C3179BA9}"/>
    <dgm:cxn modelId="{5F3F89A9-53EE-4ED6-BF2A-EF7EAFDA23EC}" type="presOf" srcId="{D692CABB-6C47-4EBE-967F-35981864783A}" destId="{340D8577-3DC9-4417-9C0B-EE2D9F8BDDF7}" srcOrd="0" destOrd="0" presId="urn:microsoft.com/office/officeart/2008/layout/PictureAccentList"/>
    <dgm:cxn modelId="{9F08DB4F-F397-4475-94FB-CB9F9E8AC429}" type="presOf" srcId="{75595C61-437F-4C06-ACBF-A3A6157EF4AD}" destId="{88BA09CA-F19F-48EC-A971-1E3C5C2C5E8E}" srcOrd="0" destOrd="0" presId="urn:microsoft.com/office/officeart/2008/layout/PictureAccentList"/>
    <dgm:cxn modelId="{E28FA5E6-D068-4320-93F0-C6A51FE47607}" type="presParOf" srcId="{2567FB97-84ED-4DF5-9989-D035362E82E4}" destId="{5A799AF0-144C-419D-BD22-281EAF5461EE}" srcOrd="0" destOrd="0" presId="urn:microsoft.com/office/officeart/2008/layout/PictureAccentList"/>
    <dgm:cxn modelId="{C588118E-EBD7-4FAA-B8E0-21DC40AAF063}" type="presParOf" srcId="{5A799AF0-144C-419D-BD22-281EAF5461EE}" destId="{DCDDDCE6-2A8B-440D-A6DF-F79820289D85}" srcOrd="0" destOrd="0" presId="urn:microsoft.com/office/officeart/2008/layout/PictureAccentList"/>
    <dgm:cxn modelId="{9F9B6B10-54D0-41D7-8119-BB0FDB7B57D8}" type="presParOf" srcId="{DCDDDCE6-2A8B-440D-A6DF-F79820289D85}" destId="{775FF688-62C7-415C-BE02-F57231C5E8A5}" srcOrd="0" destOrd="0" presId="urn:microsoft.com/office/officeart/2008/layout/PictureAccentList"/>
    <dgm:cxn modelId="{DC850CBC-B2C8-40B2-9CB3-2B2BB8413634}" type="presParOf" srcId="{5A799AF0-144C-419D-BD22-281EAF5461EE}" destId="{FE328B75-1DC4-4A05-AEA0-DF024F722BDB}" srcOrd="1" destOrd="0" presId="urn:microsoft.com/office/officeart/2008/layout/PictureAccentList"/>
    <dgm:cxn modelId="{9B300097-90E5-4042-9F06-EEB044EBED96}" type="presParOf" srcId="{FE328B75-1DC4-4A05-AEA0-DF024F722BDB}" destId="{C9CEF49E-4EAE-4110-8F40-3D04339BE2B0}" srcOrd="0" destOrd="0" presId="urn:microsoft.com/office/officeart/2008/layout/PictureAccentList"/>
    <dgm:cxn modelId="{AC33AEC3-0F2E-4ABC-89A4-896261FA0C87}" type="presParOf" srcId="{C9CEF49E-4EAE-4110-8F40-3D04339BE2B0}" destId="{57416434-5A60-49D1-8557-DA70DE56C7B1}" srcOrd="0" destOrd="0" presId="urn:microsoft.com/office/officeart/2008/layout/PictureAccentList"/>
    <dgm:cxn modelId="{B61E709A-EB61-4B82-B861-01A198E2991C}" type="presParOf" srcId="{C9CEF49E-4EAE-4110-8F40-3D04339BE2B0}" destId="{88BA09CA-F19F-48EC-A971-1E3C5C2C5E8E}" srcOrd="1" destOrd="0" presId="urn:microsoft.com/office/officeart/2008/layout/PictureAccentList"/>
    <dgm:cxn modelId="{00CA983D-53F4-42D0-9889-F8DD6C387130}" type="presParOf" srcId="{FE328B75-1DC4-4A05-AEA0-DF024F722BDB}" destId="{B72B72DD-8BB7-4624-B630-936CE4549EBF}" srcOrd="1" destOrd="0" presId="urn:microsoft.com/office/officeart/2008/layout/PictureAccentList"/>
    <dgm:cxn modelId="{BCD40072-5836-4C0E-AF3D-6FE9DB4258C7}" type="presParOf" srcId="{B72B72DD-8BB7-4624-B630-936CE4549EBF}" destId="{E6B08862-D75B-40EA-8AEF-9AA8611B5745}" srcOrd="0" destOrd="0" presId="urn:microsoft.com/office/officeart/2008/layout/PictureAccentList"/>
    <dgm:cxn modelId="{87C8604A-C5E5-45AB-A080-DD04076B5892}" type="presParOf" srcId="{B72B72DD-8BB7-4624-B630-936CE4549EBF}" destId="{340D8577-3DC9-4417-9C0B-EE2D9F8BDDF7}" srcOrd="1" destOrd="0" presId="urn:microsoft.com/office/officeart/2008/layout/PictureAccentList"/>
    <dgm:cxn modelId="{F8C5058D-8DE6-4E51-89E9-F99200F0E094}" type="presParOf" srcId="{FE328B75-1DC4-4A05-AEA0-DF024F722BDB}" destId="{13704D70-9308-4D22-BCCD-23C2920DF503}" srcOrd="2" destOrd="0" presId="urn:microsoft.com/office/officeart/2008/layout/PictureAccentList"/>
    <dgm:cxn modelId="{12299591-F574-49A9-ADC5-EEBED9BDD624}" type="presParOf" srcId="{13704D70-9308-4D22-BCCD-23C2920DF503}" destId="{F9066FB7-B63D-4707-9ABC-8872622F2653}" srcOrd="0" destOrd="0" presId="urn:microsoft.com/office/officeart/2008/layout/PictureAccentList"/>
    <dgm:cxn modelId="{3E9B258C-C7AE-4B3E-A987-284D94D6503C}" type="presParOf" srcId="{13704D70-9308-4D22-BCCD-23C2920DF503}" destId="{0C015B9C-07B1-48C8-AA69-5AFEB0F258D3}" srcOrd="1" destOrd="0" presId="urn:microsoft.com/office/officeart/2008/layout/PictureAccentList"/>
    <dgm:cxn modelId="{7F095334-9EC4-4E6C-AAFD-B8D962D54B63}" type="presParOf" srcId="{FE328B75-1DC4-4A05-AEA0-DF024F722BDB}" destId="{A778E782-4A35-4DFE-8DBF-B92AC35BD6C8}" srcOrd="3" destOrd="0" presId="urn:microsoft.com/office/officeart/2008/layout/PictureAccentList"/>
    <dgm:cxn modelId="{A35B0483-2B74-4F2A-AC0E-6298FCDC3ED9}" type="presParOf" srcId="{A778E782-4A35-4DFE-8DBF-B92AC35BD6C8}" destId="{A464CA62-C295-4A12-91D8-DAF602D22C79}" srcOrd="0" destOrd="0" presId="urn:microsoft.com/office/officeart/2008/layout/PictureAccentList"/>
    <dgm:cxn modelId="{64E1B8EB-8DA3-443B-9DE2-687C99BFFDC4}" type="presParOf" srcId="{A778E782-4A35-4DFE-8DBF-B92AC35BD6C8}" destId="{145F1D56-2A95-40E8-AA21-8C4331BF32D5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FF688-62C7-415C-BE02-F57231C5E8A5}">
      <dsp:nvSpPr>
        <dsp:cNvPr id="0" name=""/>
        <dsp:cNvSpPr/>
      </dsp:nvSpPr>
      <dsp:spPr>
        <a:xfrm>
          <a:off x="611259" y="1125"/>
          <a:ext cx="3169969" cy="857450"/>
        </a:xfrm>
        <a:prstGeom prst="roundRect">
          <a:avLst>
            <a:gd name="adj" fmla="val 10000"/>
          </a:avLst>
        </a:prstGeom>
        <a:solidFill>
          <a:srgbClr val="0000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JENIS IDEOLOGI DUNIA</a:t>
          </a:r>
          <a:endParaRPr lang="en-US" sz="2400" kern="1200" dirty="0"/>
        </a:p>
      </dsp:txBody>
      <dsp:txXfrm>
        <a:off x="636373" y="26239"/>
        <a:ext cx="3119741" cy="807222"/>
      </dsp:txXfrm>
    </dsp:sp>
    <dsp:sp modelId="{57416434-5A60-49D1-8557-DA70DE56C7B1}">
      <dsp:nvSpPr>
        <dsp:cNvPr id="0" name=""/>
        <dsp:cNvSpPr/>
      </dsp:nvSpPr>
      <dsp:spPr>
        <a:xfrm>
          <a:off x="611259" y="1012917"/>
          <a:ext cx="857450" cy="857450"/>
        </a:xfrm>
        <a:prstGeom prst="roundRect">
          <a:avLst>
            <a:gd name="adj" fmla="val 16670"/>
          </a:avLst>
        </a:prstGeom>
        <a:solidFill>
          <a:schemeClr val="bg1"/>
        </a:solidFill>
        <a:ln w="28575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A09CA-F19F-48EC-A971-1E3C5C2C5E8E}">
      <dsp:nvSpPr>
        <dsp:cNvPr id="0" name=""/>
        <dsp:cNvSpPr/>
      </dsp:nvSpPr>
      <dsp:spPr>
        <a:xfrm>
          <a:off x="1520157" y="1012917"/>
          <a:ext cx="2261071" cy="857450"/>
        </a:xfrm>
        <a:prstGeom prst="roundRect">
          <a:avLst>
            <a:gd name="adj" fmla="val 16670"/>
          </a:avLst>
        </a:prstGeom>
        <a:solidFill>
          <a:srgbClr val="632A8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Franklin Gothic Demi Cond" pitchFamily="34" charset="0"/>
            </a:rPr>
            <a:t>MARXISME-LENINISME</a:t>
          </a:r>
          <a:endParaRPr lang="en-US" sz="1600" kern="1200" dirty="0">
            <a:latin typeface="Franklin Gothic Demi Cond" pitchFamily="34" charset="0"/>
          </a:endParaRPr>
        </a:p>
      </dsp:txBody>
      <dsp:txXfrm>
        <a:off x="1562022" y="1054782"/>
        <a:ext cx="2177341" cy="773720"/>
      </dsp:txXfrm>
    </dsp:sp>
    <dsp:sp modelId="{E6B08862-D75B-40EA-8AEF-9AA8611B5745}">
      <dsp:nvSpPr>
        <dsp:cNvPr id="0" name=""/>
        <dsp:cNvSpPr/>
      </dsp:nvSpPr>
      <dsp:spPr>
        <a:xfrm>
          <a:off x="611259" y="1973262"/>
          <a:ext cx="857450" cy="857450"/>
        </a:xfrm>
        <a:prstGeom prst="roundRect">
          <a:avLst>
            <a:gd name="adj" fmla="val 16670"/>
          </a:avLst>
        </a:prstGeom>
        <a:solidFill>
          <a:schemeClr val="bg1"/>
        </a:solidFill>
        <a:ln w="28575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D8577-3DC9-4417-9C0B-EE2D9F8BDDF7}">
      <dsp:nvSpPr>
        <dsp:cNvPr id="0" name=""/>
        <dsp:cNvSpPr/>
      </dsp:nvSpPr>
      <dsp:spPr>
        <a:xfrm>
          <a:off x="1520157" y="1973262"/>
          <a:ext cx="2261071" cy="857450"/>
        </a:xfrm>
        <a:prstGeom prst="roundRect">
          <a:avLst>
            <a:gd name="adj" fmla="val 16670"/>
          </a:avLst>
        </a:prstGeom>
        <a:solidFill>
          <a:srgbClr val="632A8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Franklin Gothic Demi Cond" pitchFamily="34" charset="0"/>
            </a:rPr>
            <a:t>LIBERALISME</a:t>
          </a:r>
          <a:endParaRPr lang="en-US" sz="1600" kern="1200" dirty="0">
            <a:latin typeface="Franklin Gothic Demi Cond" pitchFamily="34" charset="0"/>
          </a:endParaRPr>
        </a:p>
      </dsp:txBody>
      <dsp:txXfrm>
        <a:off x="1562022" y="2015127"/>
        <a:ext cx="2177341" cy="773720"/>
      </dsp:txXfrm>
    </dsp:sp>
    <dsp:sp modelId="{F9066FB7-B63D-4707-9ABC-8872622F2653}">
      <dsp:nvSpPr>
        <dsp:cNvPr id="0" name=""/>
        <dsp:cNvSpPr/>
      </dsp:nvSpPr>
      <dsp:spPr>
        <a:xfrm>
          <a:off x="611259" y="2933606"/>
          <a:ext cx="857450" cy="857450"/>
        </a:xfrm>
        <a:prstGeom prst="roundRect">
          <a:avLst>
            <a:gd name="adj" fmla="val 16670"/>
          </a:avLst>
        </a:prstGeom>
        <a:solidFill>
          <a:schemeClr val="bg1"/>
        </a:solidFill>
        <a:ln w="28575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15B9C-07B1-48C8-AA69-5AFEB0F258D3}">
      <dsp:nvSpPr>
        <dsp:cNvPr id="0" name=""/>
        <dsp:cNvSpPr/>
      </dsp:nvSpPr>
      <dsp:spPr>
        <a:xfrm>
          <a:off x="1520157" y="2933606"/>
          <a:ext cx="2261071" cy="857450"/>
        </a:xfrm>
        <a:prstGeom prst="roundRect">
          <a:avLst>
            <a:gd name="adj" fmla="val 16670"/>
          </a:avLst>
        </a:prstGeom>
        <a:solidFill>
          <a:srgbClr val="632A8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Franklin Gothic Demi Cond" pitchFamily="34" charset="0"/>
            </a:rPr>
            <a:t>SOSIALISME</a:t>
          </a:r>
          <a:endParaRPr lang="en-US" sz="1600" kern="1200" dirty="0">
            <a:latin typeface="Franklin Gothic Demi Cond" pitchFamily="34" charset="0"/>
          </a:endParaRPr>
        </a:p>
      </dsp:txBody>
      <dsp:txXfrm>
        <a:off x="1562022" y="2975471"/>
        <a:ext cx="2177341" cy="773720"/>
      </dsp:txXfrm>
    </dsp:sp>
    <dsp:sp modelId="{A464CA62-C295-4A12-91D8-DAF602D22C79}">
      <dsp:nvSpPr>
        <dsp:cNvPr id="0" name=""/>
        <dsp:cNvSpPr/>
      </dsp:nvSpPr>
      <dsp:spPr>
        <a:xfrm>
          <a:off x="611259" y="3893951"/>
          <a:ext cx="857450" cy="857450"/>
        </a:xfrm>
        <a:prstGeom prst="roundRect">
          <a:avLst>
            <a:gd name="adj" fmla="val 16670"/>
          </a:avLst>
        </a:prstGeom>
        <a:solidFill>
          <a:schemeClr val="bg1"/>
        </a:solidFill>
        <a:ln w="28575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F1D56-2A95-40E8-AA21-8C4331BF32D5}">
      <dsp:nvSpPr>
        <dsp:cNvPr id="0" name=""/>
        <dsp:cNvSpPr/>
      </dsp:nvSpPr>
      <dsp:spPr>
        <a:xfrm>
          <a:off x="1520157" y="3893951"/>
          <a:ext cx="2261071" cy="857450"/>
        </a:xfrm>
        <a:prstGeom prst="roundRect">
          <a:avLst>
            <a:gd name="adj" fmla="val 16670"/>
          </a:avLst>
        </a:prstGeom>
        <a:solidFill>
          <a:srgbClr val="632A8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Franklin Gothic Demi Cond" pitchFamily="34" charset="0"/>
            </a:rPr>
            <a:t>KAPITALISME</a:t>
          </a:r>
          <a:endParaRPr lang="en-US" sz="1600" kern="1200" dirty="0">
            <a:latin typeface="Franklin Gothic Demi Cond" pitchFamily="34" charset="0"/>
          </a:endParaRPr>
        </a:p>
      </dsp:txBody>
      <dsp:txXfrm>
        <a:off x="1562022" y="3935816"/>
        <a:ext cx="2177341" cy="773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46125"/>
            <a:ext cx="497522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10/18/2021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4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3947196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43756" y="3295353"/>
            <a:ext cx="6912768" cy="1501799"/>
          </a:xfrm>
          <a:prstGeom prst="roundRect">
            <a:avLst>
              <a:gd name="adj" fmla="val 4962"/>
            </a:avLst>
          </a:prstGeom>
          <a:solidFill>
            <a:srgbClr val="FFFF00"/>
          </a:solidFill>
          <a:ln w="28575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32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MENJADI </a:t>
            </a:r>
            <a:r>
              <a:rPr lang="en-US" sz="32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IDEOLOGI NEGARA</a:t>
            </a:r>
            <a:endParaRPr lang="id-ID" sz="32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 rot="16200000">
            <a:off x="312897" y="3727401"/>
            <a:ext cx="1501799" cy="637703"/>
          </a:xfrm>
          <a:prstGeom prst="roundRect">
            <a:avLst>
              <a:gd name="adj" fmla="val 9164"/>
            </a:avLst>
          </a:prstGeom>
          <a:solidFill>
            <a:srgbClr val="421C5E"/>
          </a:solidFill>
          <a:ln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BAB IV</a:t>
            </a:r>
            <a:endParaRPr lang="en-US" sz="36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5486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1556792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3516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5486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7647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4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69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600000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409851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79486" y="2348880"/>
            <a:ext cx="67969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id-ID" sz="1600" dirty="0">
                <a:solidFill>
                  <a:srgbClr val="FFFF00"/>
                </a:solidFill>
                <a:latin typeface="Arial Black" pitchFamily="34" charset="0"/>
              </a:rPr>
              <a:t>Mampu menjelaskan dan menerapkan Pancasila sebagai Ideologi Negara </a:t>
            </a:r>
          </a:p>
        </p:txBody>
      </p:sp>
      <p:sp>
        <p:nvSpPr>
          <p:cNvPr id="17" name="Oval 16"/>
          <p:cNvSpPr/>
          <p:nvPr/>
        </p:nvSpPr>
        <p:spPr>
          <a:xfrm>
            <a:off x="1475656" y="2456131"/>
            <a:ext cx="403830" cy="39680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400" dirty="0" smtClean="0">
              <a:solidFill>
                <a:srgbClr val="3E1B59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70209" y="2168099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73976" y="1749699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79485" y="3645287"/>
            <a:ext cx="6649997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>
                <a:solidFill>
                  <a:srgbClr val="A161D1"/>
                </a:solidFill>
                <a:latin typeface="Franklin Gothic Demi Cond" pitchFamily="34" charset="0"/>
              </a:rPr>
              <a:t>MENELUSURI KONSEP DAN URGENSI PANCASILA SEBAGAI IDEOLOGI NEGARA</a:t>
            </a:r>
          </a:p>
          <a:p>
            <a:pPr marL="0" lvl="1" algn="just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A161D1"/>
                </a:solidFill>
                <a:latin typeface="Franklin Gothic Demi Cond" pitchFamily="34" charset="0"/>
              </a:rPr>
              <a:t>DIPERLUKANNYA </a:t>
            </a:r>
            <a:r>
              <a:rPr lang="en-US" sz="1600" dirty="0" smtClean="0">
                <a:solidFill>
                  <a:srgbClr val="A161D1"/>
                </a:solidFill>
                <a:latin typeface="Franklin Gothic Demi Cond" pitchFamily="34" charset="0"/>
              </a:rPr>
              <a:t>KAJIAN PANCASILA </a:t>
            </a:r>
            <a:r>
              <a:rPr lang="en-US" sz="1600" dirty="0">
                <a:solidFill>
                  <a:srgbClr val="A161D1"/>
                </a:solidFill>
                <a:latin typeface="Franklin Gothic Demi Cond" pitchFamily="34" charset="0"/>
              </a:rPr>
              <a:t>SEBAGAI IDEOLOGI </a:t>
            </a:r>
            <a:r>
              <a:rPr lang="en-US" sz="1600" dirty="0" smtClean="0">
                <a:solidFill>
                  <a:srgbClr val="A161D1"/>
                </a:solidFill>
                <a:latin typeface="Franklin Gothic Demi Cond" pitchFamily="34" charset="0"/>
              </a:rPr>
              <a:t>NEGARA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dirty="0" smtClean="0">
                <a:solidFill>
                  <a:srgbClr val="A161D1"/>
                </a:solidFill>
                <a:latin typeface="Franklin Gothic Demi Cond" pitchFamily="34" charset="0"/>
              </a:rPr>
              <a:t>SUMBER HISTORIS, SOSIOLOGIS, POLITIS PANCASILA SBG IDEOLOGI NEGARA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 smtClean="0">
                <a:solidFill>
                  <a:srgbClr val="A161D1"/>
                </a:solidFill>
                <a:latin typeface="Franklin Gothic Demi Cond" pitchFamily="34" charset="0"/>
              </a:rPr>
              <a:t>DINAMIKA DAN TANTANGAN PANCASILA SEBAGAI IDEOLOGI NEGARA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spc="150" dirty="0" smtClean="0">
                <a:ln w="11430">
                  <a:noFill/>
                </a:ln>
                <a:solidFill>
                  <a:srgbClr val="A161D1"/>
                </a:solidFill>
                <a:latin typeface="Franklin Gothic Demi Cond" pitchFamily="34" charset="0"/>
              </a:rPr>
              <a:t>ESENSI DAN URGENSI PANCASILA SBG IDEOLOGI NEGARA</a:t>
            </a:r>
            <a:endParaRPr lang="en-US" sz="1600" spc="150" dirty="0">
              <a:ln w="11430">
                <a:noFill/>
              </a:ln>
              <a:solidFill>
                <a:srgbClr val="A161D1"/>
              </a:solidFill>
              <a:latin typeface="Franklin Gothic Demi Cond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170208" y="3491802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73975" y="3073402"/>
            <a:ext cx="7413866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7609" y="1736590"/>
            <a:ext cx="529840" cy="493686"/>
          </a:xfrm>
          <a:prstGeom prst="roundRect">
            <a:avLst/>
          </a:prstGeom>
          <a:solidFill>
            <a:srgbClr val="210E3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5617" y="1798767"/>
            <a:ext cx="3848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dirty="0" smtClean="0">
                <a:solidFill>
                  <a:prstClr val="white"/>
                </a:solidFill>
                <a:latin typeface="Franklin Gothic Demi Cond" pitchFamily="34" charset="0"/>
              </a:rPr>
              <a:t>KEMAMPUAN AKHIR YG DIHARAPKAN</a:t>
            </a:r>
            <a:endParaRPr lang="id-ID" dirty="0">
              <a:solidFill>
                <a:prstClr val="white"/>
              </a:solidFill>
              <a:latin typeface="Franklin Gothic Demi Cond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8108" y="3068960"/>
            <a:ext cx="529840" cy="493686"/>
          </a:xfrm>
          <a:prstGeom prst="roundRect">
            <a:avLst/>
          </a:prstGeom>
          <a:solidFill>
            <a:srgbClr val="210E3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6000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15616" y="3122470"/>
            <a:ext cx="3848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dirty="0" smtClean="0">
                <a:solidFill>
                  <a:prstClr val="white"/>
                </a:solidFill>
                <a:latin typeface="Franklin Gothic Demi Cond" pitchFamily="34" charset="0"/>
              </a:rPr>
              <a:t>POKOK BAHASAN</a:t>
            </a:r>
            <a:endParaRPr lang="id-ID" dirty="0">
              <a:solidFill>
                <a:prstClr val="white"/>
              </a:solidFill>
              <a:latin typeface="Franklin Gothic Demi Cond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547664" y="3653498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A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51019" y="409038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547664" y="4026330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547664" y="4473857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C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47664" y="4877370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47664" y="5266109"/>
            <a:ext cx="360040" cy="3383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E1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E</a:t>
            </a:r>
            <a:endParaRPr lang="id-ID" sz="16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091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15" grpId="0"/>
      <p:bldP spid="31" grpId="0" animBg="1"/>
      <p:bldP spid="27" grpId="0"/>
      <p:bldP spid="32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15616" y="261859"/>
            <a:ext cx="6912768" cy="502846"/>
          </a:xfrm>
          <a:prstGeom prst="roundRect">
            <a:avLst>
              <a:gd name="adj" fmla="val 4962"/>
            </a:avLst>
          </a:prstGeom>
          <a:noFill/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fi-FI" sz="3200" u="sng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latin typeface="Bernard MT Condensed" pitchFamily="18" charset="0"/>
              </a:rPr>
              <a:t>PANCASILA MENJADI </a:t>
            </a:r>
            <a:r>
              <a:rPr lang="en-US" sz="3200" u="sng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latin typeface="Bernard MT Condensed" pitchFamily="18" charset="0"/>
              </a:rPr>
              <a:t>IDEOLOGI NEGARA</a:t>
            </a:r>
            <a:endParaRPr lang="id-ID" sz="3200" u="sng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9592" y="1052736"/>
            <a:ext cx="3168352" cy="576064"/>
          </a:xfrm>
          <a:prstGeom prst="roundRect">
            <a:avLst>
              <a:gd name="adj" fmla="val 11130"/>
            </a:avLst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150" dirty="0">
                <a:ln w="11430"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Bernard MT Condensed" pitchFamily="18" charset="0"/>
              </a:rPr>
              <a:t>IDEOLOGI</a:t>
            </a:r>
            <a:endParaRPr lang="en-US" dirty="0">
              <a:ln w="11430">
                <a:solidFill>
                  <a:schemeClr val="bg2">
                    <a:lumMod val="10000"/>
                  </a:schemeClr>
                </a:solidFill>
              </a:ln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899592" y="1700808"/>
            <a:ext cx="3168352" cy="792088"/>
          </a:xfrm>
          <a:prstGeom prst="downArrow">
            <a:avLst>
              <a:gd name="adj1" fmla="val 88764"/>
              <a:gd name="adj2" fmla="val 38287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terbentuk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melalui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proses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panjang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algn="ctr"/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melibatkan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SUMBER</a:t>
            </a:r>
          </a:p>
          <a:p>
            <a:pPr algn="ctr"/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1691680" y="2543637"/>
            <a:ext cx="1329145" cy="1411197"/>
          </a:xfrm>
          <a:prstGeom prst="roundRect">
            <a:avLst>
              <a:gd name="adj" fmla="val 11067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Franklin Gothic Demi Cond" pitchFamily="34" charset="0"/>
              </a:rPr>
              <a:t>KEBUDAYAAN </a:t>
            </a:r>
            <a:endParaRPr lang="en-US" sz="1400" dirty="0">
              <a:ln w="11430">
                <a:solidFill>
                  <a:schemeClr val="bg2">
                    <a:lumMod val="10000"/>
                  </a:schemeClr>
                </a:solidFill>
              </a:ln>
              <a:solidFill>
                <a:schemeClr val="tx1"/>
              </a:solidFill>
              <a:latin typeface="Franklin Gothic Demi Cond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691680" y="5517232"/>
            <a:ext cx="1329145" cy="917894"/>
          </a:xfrm>
          <a:prstGeom prst="roundRect">
            <a:avLst>
              <a:gd name="adj" fmla="val 8558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Franklin Gothic Demi Cond" pitchFamily="34" charset="0"/>
              </a:rPr>
              <a:t>PEMIKIRAN PARA TOKOH</a:t>
            </a:r>
            <a:endParaRPr lang="en-US" sz="1400" dirty="0">
              <a:ln w="11430">
                <a:solidFill>
                  <a:schemeClr val="bg2">
                    <a:lumMod val="10000"/>
                  </a:schemeClr>
                </a:solidFill>
              </a:ln>
              <a:solidFill>
                <a:schemeClr val="tx1"/>
              </a:solidFill>
              <a:latin typeface="Franklin Gothic Demi Con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1927" y="2492896"/>
            <a:ext cx="5622039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berbagai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komponen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budaya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yg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meliputi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: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sistem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religi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upacara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keagamaan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,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sist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organisasi kemasy., sist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pengetahuan, bahasa, kesenian,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sist </a:t>
            </a: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mata </a:t>
            </a: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pencaharian hidup, </a:t>
            </a: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sist </a:t>
            </a: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teknologi dan peralatan</a:t>
            </a:r>
            <a:r>
              <a:rPr lang="sv-SE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memengaruhi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berperan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dlm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mbtk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id.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bangsa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  <a:cs typeface="Arial" pitchFamily="34" charset="0"/>
              </a:rPr>
              <a:t>.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ketika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bertitik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tolak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komponen-komponen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budaya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berasal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sifat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dasar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itu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sendiri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maka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pelaku-pelaku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yakni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warga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mudah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melaksanakannya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Para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pelaku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merasa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sudah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akrab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tidak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asing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lagi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nilai-nilai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yg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terdapat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dlm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diperkenalkan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diajukan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kpd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mereka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  <a:cs typeface="Arial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92782" y="4221088"/>
            <a:ext cx="1329145" cy="1012468"/>
          </a:xfrm>
          <a:prstGeom prst="roundRect">
            <a:avLst>
              <a:gd name="adj" fmla="val 12466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Franklin Gothic Demi Cond" pitchFamily="34" charset="0"/>
              </a:rPr>
              <a:t>AGAMA</a:t>
            </a:r>
            <a:endParaRPr lang="en-US" sz="1400" dirty="0">
              <a:ln w="11430">
                <a:solidFill>
                  <a:schemeClr val="bg2">
                    <a:lumMod val="10000"/>
                  </a:schemeClr>
                </a:solidFill>
              </a:ln>
              <a:solidFill>
                <a:schemeClr val="tx1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21927" y="4064005"/>
            <a:ext cx="562203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saat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bersumber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agama,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maka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bentuk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teokrasi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yakni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sistem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pemerintahan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berlandaskan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pada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agama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tertentu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Apabila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bercorak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teokrasi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maka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pada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umumnya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segala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peraturan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hukum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berlaku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tersebut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berasal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doktrin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agama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tertentu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Demikian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pula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halnya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dg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pemimpin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teokrasi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pd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umumnya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adl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pemimpin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agama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0824" y="5365665"/>
            <a:ext cx="562314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Marxisme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termasuk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salah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di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antara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aliran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berasal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pemikiran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tokoh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filsuf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Karl Marx.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Courier New" pitchFamily="49" charset="0"/>
              <a:buChar char="o"/>
            </a:pP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</a:rPr>
              <a:t>Korea </a:t>
            </a: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</a:rPr>
              <a:t>Utara, Kuba, Vietnam. </a:t>
            </a:r>
            <a:endParaRPr lang="sv-SE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Cina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&amp;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Rusia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pernah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berjaya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menggunakan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Marxis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meskipun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sekarang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bergeser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menjadi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semiliberal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4489956"/>
            <a:ext cx="1243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15888" algn="r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Negara </a:t>
            </a:r>
            <a:r>
              <a:rPr lang="en-US" sz="1400" u="sng" dirty="0" err="1" smtClean="0">
                <a:solidFill>
                  <a:srgbClr val="FFFF00"/>
                </a:solidFill>
                <a:latin typeface="Franklin Gothic Demi Cond" pitchFamily="34" charset="0"/>
              </a:rPr>
              <a:t>Vatikan</a:t>
            </a:r>
            <a:endParaRPr lang="en-US" sz="1400" u="sng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955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56018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6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331641" y="415298"/>
            <a:ext cx="7560840" cy="774574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MENELUSURI KONSEP  DAN  URGENSI PANCASILA</a:t>
            </a:r>
          </a:p>
          <a:p>
            <a:pPr marL="404813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SEBAGAI IDEOLOGI NEGARA</a:t>
            </a:r>
            <a:endParaRPr lang="en-US" sz="5400" b="1" spc="1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43608" y="404664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A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7504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72746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763689" y="2294386"/>
            <a:ext cx="3384375" cy="1134614"/>
          </a:xfrm>
          <a:prstGeom prst="roundRect">
            <a:avLst>
              <a:gd name="adj" fmla="val 14166"/>
            </a:avLst>
          </a:prstGeom>
          <a:solidFill>
            <a:srgbClr val="A161D1"/>
          </a:solidFill>
          <a:ln>
            <a:solidFill>
              <a:srgbClr val="60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     MENLUSURI KONSEP  PANCASILA SEBAGAI </a:t>
            </a:r>
          </a:p>
          <a:p>
            <a:pPr marL="404813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IDEOLOGI NEGARA</a:t>
            </a:r>
            <a:endParaRPr lang="en-US" sz="4800" spc="150" dirty="0">
              <a:ln w="11430">
                <a:solidFill>
                  <a:srgbClr val="600000"/>
                </a:solidFill>
              </a:ln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780457" y="3518522"/>
            <a:ext cx="3384375" cy="1134614"/>
          </a:xfrm>
          <a:prstGeom prst="roundRect">
            <a:avLst>
              <a:gd name="adj" fmla="val 14166"/>
            </a:avLst>
          </a:prstGeom>
          <a:solidFill>
            <a:srgbClr val="A161D1"/>
          </a:solidFill>
          <a:ln>
            <a:solidFill>
              <a:srgbClr val="60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MENELUSURI URGENSI PANCASILA SEBAGAI </a:t>
            </a:r>
          </a:p>
          <a:p>
            <a:pPr marL="404813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IDEOLOGI NEGARA</a:t>
            </a:r>
            <a:endParaRPr lang="en-US" sz="4800" spc="150" dirty="0">
              <a:ln w="11430">
                <a:solidFill>
                  <a:srgbClr val="600000"/>
                </a:solidFill>
              </a:ln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590564" y="2564904"/>
            <a:ext cx="317140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rgbClr val="A161D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590564" y="3796891"/>
            <a:ext cx="317140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rgbClr val="A161D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8064" y="2348880"/>
            <a:ext cx="295232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PENGERTIAN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NILAI DASAR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KONSEP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48064" y="3522712"/>
            <a:ext cx="295232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BUDAYA GLOBAL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KARAKTERISTIK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b="1" dirty="0" smtClean="0">
                <a:latin typeface="Arial Black" pitchFamily="34" charset="0"/>
              </a:rPr>
              <a:t>URGENSI</a:t>
            </a:r>
            <a:endParaRPr lang="en-US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4286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56018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7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25365" y="415298"/>
            <a:ext cx="5554947" cy="774574"/>
          </a:xfrm>
          <a:prstGeom prst="roundRect">
            <a:avLst>
              <a:gd name="adj" fmla="val 14166"/>
            </a:avLst>
          </a:prstGeom>
          <a:solidFill>
            <a:srgbClr val="A161D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     MENELUSURI KONSEP  PANCASILA</a:t>
            </a:r>
          </a:p>
          <a:p>
            <a:pPr marL="404813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SEBAGAI IDEOLOGI NEGARA</a:t>
            </a:r>
            <a:endParaRPr lang="en-US" sz="5400" spc="150" dirty="0">
              <a:ln w="11430">
                <a:solidFill>
                  <a:srgbClr val="600000"/>
                </a:solidFill>
              </a:ln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413980" y="404664"/>
            <a:ext cx="781757" cy="792088"/>
          </a:xfrm>
          <a:prstGeom prst="roundRect">
            <a:avLst/>
          </a:prstGeom>
          <a:solidFill>
            <a:srgbClr val="600000"/>
          </a:solidFill>
          <a:ln w="28575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en-US" sz="3600" b="1" spc="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580112" y="1533980"/>
            <a:ext cx="1607356" cy="742892"/>
          </a:xfrm>
          <a:prstGeom prst="rightArrow">
            <a:avLst>
              <a:gd name="adj1" fmla="val 62207"/>
              <a:gd name="adj2" fmla="val 23282"/>
            </a:avLst>
          </a:prstGeom>
          <a:solidFill>
            <a:schemeClr val="bg2">
              <a:lumMod val="25000"/>
            </a:schemeClr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dirty="0">
              <a:latin typeface="Franklin Gothic Demi Cond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17464" y="1556792"/>
            <a:ext cx="1512167" cy="760730"/>
          </a:xfrm>
          <a:prstGeom prst="roundRect">
            <a:avLst>
              <a:gd name="adj" fmla="val 1225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ETIMOLOGI</a:t>
            </a:r>
            <a:endParaRPr lang="id-ID" dirty="0" smtClean="0">
              <a:solidFill>
                <a:schemeClr val="bg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23561" y="3537011"/>
            <a:ext cx="317140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a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09928" y="4077072"/>
            <a:ext cx="330153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b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223561" y="4437112"/>
            <a:ext cx="317140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7504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72746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7504" y="1556792"/>
            <a:ext cx="1527986" cy="1800200"/>
          </a:xfrm>
          <a:prstGeom prst="roundRect">
            <a:avLst>
              <a:gd name="adj" fmla="val 8160"/>
            </a:avLst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2400" b="1" spc="150" dirty="0">
                <a:ln w="11430">
                  <a:noFill/>
                </a:ln>
                <a:solidFill>
                  <a:srgbClr val="600000"/>
                </a:solidFill>
                <a:latin typeface="Bernard MT Condensed" pitchFamily="18" charset="0"/>
              </a:rPr>
              <a:t>IDEOLOGI</a:t>
            </a:r>
            <a:endParaRPr lang="en-US" sz="2400" b="1" dirty="0">
              <a:ln w="11430">
                <a:noFill/>
              </a:ln>
              <a:solidFill>
                <a:srgbClr val="6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03848" y="1522819"/>
            <a:ext cx="2390456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>
              <a:buFont typeface="Wingdings" pitchFamily="2" charset="2"/>
              <a:buChar char="§"/>
              <a:tabLst>
                <a:tab pos="627063" algn="l"/>
              </a:tabLst>
            </a:pPr>
            <a:r>
              <a:rPr lang="es-ES" sz="1400" i="1" dirty="0" smtClean="0">
                <a:solidFill>
                  <a:srgbClr val="FFFF00"/>
                </a:solidFill>
                <a:latin typeface="Franklin Gothic Demi Cond" pitchFamily="34" charset="0"/>
              </a:rPr>
              <a:t>Idea</a:t>
            </a:r>
            <a:r>
              <a:rPr lang="es-ES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  </a:t>
            </a:r>
            <a:r>
              <a:rPr lang="es-ES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= </a:t>
            </a:r>
            <a:r>
              <a:rPr lang="es-ES" sz="1200" dirty="0" err="1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gagasan</a:t>
            </a:r>
            <a:r>
              <a:rPr lang="es-ES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, </a:t>
            </a:r>
            <a:r>
              <a:rPr lang="es-ES" sz="1200" dirty="0" err="1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konsep</a:t>
            </a:r>
            <a:r>
              <a:rPr lang="es-ES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, </a:t>
            </a:r>
            <a:r>
              <a:rPr lang="es-ES" sz="1200" dirty="0" err="1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nilai</a:t>
            </a:r>
            <a:r>
              <a:rPr lang="es-ES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/	</a:t>
            </a:r>
            <a:r>
              <a:rPr lang="es-ES" sz="1200" dirty="0" err="1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pengertian</a:t>
            </a:r>
            <a:r>
              <a:rPr lang="es-ES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 </a:t>
            </a:r>
            <a:r>
              <a:rPr lang="es-ES" sz="1200" dirty="0" err="1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dasar</a:t>
            </a:r>
            <a:r>
              <a:rPr lang="es-ES" sz="1200" dirty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, </a:t>
            </a:r>
            <a:r>
              <a:rPr lang="es-ES" sz="12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cita-cita</a:t>
            </a:r>
          </a:p>
          <a:p>
            <a:pPr marL="169863" indent="-169863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logos</a:t>
            </a:r>
            <a:r>
              <a:rPr lang="en-US" sz="1200" i="1" dirty="0" smtClean="0">
                <a:solidFill>
                  <a:schemeClr val="bg1"/>
                </a:solidFill>
                <a:latin typeface="Franklin Gothic Demi Cond" pitchFamily="34" charset="0"/>
              </a:rPr>
              <a:t>  =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ilmu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87468" y="1484784"/>
            <a:ext cx="17770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ILMU TENTANG IDE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IDE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i="1" dirty="0" err="1" smtClean="0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200" i="1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</a:p>
          <a:p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AJARAN TENTANG </a:t>
            </a:r>
            <a:r>
              <a:rPr lang="en-US" sz="1200" u="sng" dirty="0" smtClean="0">
                <a:solidFill>
                  <a:schemeClr val="bg1"/>
                </a:solidFill>
                <a:latin typeface="Franklin Gothic Demi Cond" pitchFamily="34" charset="0"/>
              </a:rPr>
              <a:t>PENGERTIAN/NILAI DASAR</a:t>
            </a:r>
            <a:endParaRPr lang="en-US" sz="1200" u="sng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717463" y="2708920"/>
            <a:ext cx="1512167" cy="648072"/>
          </a:xfrm>
          <a:prstGeom prst="roundRect">
            <a:avLst>
              <a:gd name="adj" fmla="val 1225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KBBI</a:t>
            </a:r>
          </a:p>
          <a:p>
            <a:pPr algn="ctr"/>
            <a:r>
              <a:rPr lang="en-US" sz="800" dirty="0" err="1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Kamus</a:t>
            </a:r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800" dirty="0" err="1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Besar</a:t>
            </a:r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800" dirty="0" err="1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Bahasa</a:t>
            </a:r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 Indonesia</a:t>
            </a:r>
            <a:endParaRPr lang="id-ID" sz="800" dirty="0" smtClean="0">
              <a:solidFill>
                <a:schemeClr val="bg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5580112" y="3619788"/>
            <a:ext cx="936103" cy="1097505"/>
          </a:xfrm>
          <a:prstGeom prst="rightArrow">
            <a:avLst>
              <a:gd name="adj1" fmla="val 68003"/>
              <a:gd name="adj2" fmla="val 12361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600000"/>
                </a:solidFill>
                <a:latin typeface="Franklin Gothic Demi Cond" pitchFamily="34" charset="0"/>
              </a:rPr>
              <a:t>KOMPONEN PENTING IDEOLOGI</a:t>
            </a:r>
            <a:endParaRPr lang="id-ID" sz="11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40701" y="3429000"/>
            <a:ext cx="3039411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kumpulan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konsep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SISTEM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dijadikan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asas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pendapat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memberikan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ARAH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TUJUAN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kelangsungan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hidup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</a:p>
          <a:p>
            <a:pPr algn="just">
              <a:spcBef>
                <a:spcPts val="600"/>
              </a:spcBef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CARA BERPIKIR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seseorang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golongan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paham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teori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tujuan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PROGRAM SOSIAL POLITIK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72200" y="3484165"/>
            <a:ext cx="12574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SISTEM,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ARAH, 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TUJUAN, 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CARA BERPIKIR, 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PROGRAM, 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SOSIAL,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</a:p>
          <a:p>
            <a:pPr marL="117475" indent="-117475">
              <a:buFont typeface="Wingdings" pitchFamily="2" charset="2"/>
              <a:buChar char="§"/>
            </a:pP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POLITIK.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2" name="Down Arrow 31"/>
          <p:cNvSpPr/>
          <p:nvPr/>
        </p:nvSpPr>
        <p:spPr>
          <a:xfrm>
            <a:off x="7236296" y="2295715"/>
            <a:ext cx="1872207" cy="2968474"/>
          </a:xfrm>
          <a:prstGeom prst="downArrow">
            <a:avLst>
              <a:gd name="adj1" fmla="val 65902"/>
              <a:gd name="adj2" fmla="val 11504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Nilai-nilai dasar </a:t>
            </a:r>
            <a:endParaRPr lang="sv-SE" sz="11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algn="ctr"/>
            <a:r>
              <a:rPr lang="sv-SE" sz="1100" dirty="0" smtClean="0">
                <a:solidFill>
                  <a:srgbClr val="600000"/>
                </a:solidFill>
                <a:latin typeface="Franklin Gothic Demi Cond" pitchFamily="34" charset="0"/>
              </a:rPr>
              <a:t>yg </a:t>
            </a:r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digali dan diangkat dari </a:t>
            </a:r>
            <a:r>
              <a:rPr lang="sv-SE" sz="1100" dirty="0" smtClean="0">
                <a:solidFill>
                  <a:srgbClr val="600000"/>
                </a:solidFill>
                <a:latin typeface="Franklin Gothic Demi Cond" pitchFamily="34" charset="0"/>
              </a:rPr>
              <a:t>nilai-nilai </a:t>
            </a:r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adat istiadat, </a:t>
            </a:r>
            <a:endParaRPr lang="id-ID" sz="1100" dirty="0">
              <a:solidFill>
                <a:srgbClr val="600000"/>
              </a:solidFill>
              <a:latin typeface="Franklin Gothic Demi Cond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nilai kebudayaan serta nilai religius yang dimiliki bangsa Indonesia </a:t>
            </a:r>
            <a:r>
              <a:rPr lang="sv-SE" sz="1100" i="1" dirty="0">
                <a:solidFill>
                  <a:srgbClr val="600000"/>
                </a:solidFill>
                <a:latin typeface="Franklin Gothic Demi Cond" pitchFamily="34" charset="0"/>
              </a:rPr>
              <a:t>atau </a:t>
            </a:r>
            <a:endParaRPr lang="id-ID" sz="1100" i="1" dirty="0">
              <a:solidFill>
                <a:srgbClr val="600000"/>
              </a:solidFill>
              <a:latin typeface="Franklin Gothic Demi Cond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diambil dari pandangan hidup masyarakat Indonesia </a:t>
            </a:r>
            <a:endParaRPr lang="sv-SE" sz="11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sv-SE" sz="1100" dirty="0" smtClean="0">
                <a:solidFill>
                  <a:srgbClr val="600000"/>
                </a:solidFill>
                <a:latin typeface="Franklin Gothic Demi Cond" pitchFamily="34" charset="0"/>
              </a:rPr>
              <a:t>yang kemudian dijadikan </a:t>
            </a:r>
          </a:p>
          <a:p>
            <a:pPr algn="ctr">
              <a:lnSpc>
                <a:spcPct val="80000"/>
              </a:lnSpc>
            </a:pPr>
            <a:r>
              <a:rPr lang="sv-SE" sz="1100" dirty="0" smtClean="0">
                <a:solidFill>
                  <a:srgbClr val="600000"/>
                </a:solidFill>
                <a:latin typeface="Franklin Gothic Demi Cond" pitchFamily="34" charset="0"/>
              </a:rPr>
              <a:t>NILAI NILA DASAR PANCASILA  </a:t>
            </a:r>
          </a:p>
          <a:p>
            <a:pPr algn="ctr">
              <a:lnSpc>
                <a:spcPct val="80000"/>
              </a:lnSpc>
            </a:pPr>
            <a:r>
              <a:rPr lang="sv-SE" sz="1100" dirty="0" smtClean="0">
                <a:solidFill>
                  <a:srgbClr val="600000"/>
                </a:solidFill>
                <a:latin typeface="Franklin Gothic Demi Cond" pitchFamily="34" charset="0"/>
              </a:rPr>
              <a:t>adalah </a:t>
            </a:r>
            <a:r>
              <a:rPr lang="sv-SE" sz="1100" dirty="0">
                <a:solidFill>
                  <a:srgbClr val="600000"/>
                </a:solidFill>
                <a:latin typeface="Franklin Gothic Demi Cond" pitchFamily="34" charset="0"/>
              </a:rPr>
              <a:t>:</a:t>
            </a:r>
            <a:endParaRPr lang="en-US" sz="11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5724128" y="5296088"/>
            <a:ext cx="3242783" cy="1045131"/>
          </a:xfrm>
          <a:prstGeom prst="roundRect">
            <a:avLst>
              <a:gd name="adj" fmla="val 5265"/>
            </a:avLst>
          </a:prstGeom>
          <a:solidFill>
            <a:srgbClr val="FFFF00"/>
          </a:solidFill>
          <a:ln w="9525">
            <a:solidFill>
              <a:srgbClr val="60000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117475" indent="-117475"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600000"/>
                </a:solidFill>
                <a:latin typeface="Franklin Gothic Demi Cond" pitchFamily="34" charset="0"/>
              </a:rPr>
              <a:t>PENGERTIAN DASAR/NILAI DASAR KETUHANAN.</a:t>
            </a:r>
            <a:endParaRPr lang="en-US" sz="12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600000"/>
                </a:solidFill>
                <a:latin typeface="Franklin Gothic Demi Cond" pitchFamily="34" charset="0"/>
              </a:rPr>
              <a:t>PENGERTIAN DASAR/NILAI DSAR KEMANUSIAAN.</a:t>
            </a:r>
            <a:endParaRPr lang="en-US" sz="12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600000"/>
                </a:solidFill>
                <a:latin typeface="Franklin Gothic Demi Cond" pitchFamily="34" charset="0"/>
              </a:rPr>
              <a:t>PENGERTIAN DASAR/NILAI DASAR PERSATUAN.</a:t>
            </a:r>
            <a:endParaRPr lang="en-US" sz="12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600000"/>
                </a:solidFill>
                <a:latin typeface="Franklin Gothic Demi Cond" pitchFamily="34" charset="0"/>
              </a:rPr>
              <a:t>PENGERTIAN DASAR/NILAI DASAR KERAKYATAN.</a:t>
            </a:r>
            <a:endParaRPr lang="en-US" sz="1200" dirty="0" smtClean="0">
              <a:solidFill>
                <a:srgbClr val="6000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sv-SE" sz="1200" dirty="0" smtClean="0">
                <a:solidFill>
                  <a:srgbClr val="600000"/>
                </a:solidFill>
                <a:latin typeface="Franklin Gothic Demi Cond" pitchFamily="34" charset="0"/>
              </a:rPr>
              <a:t>PENGERTIAN DASAR/NILAI DASAR KEADILAN.</a:t>
            </a:r>
            <a:endParaRPr lang="sv-SE" sz="12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4" name="Left Arrow 33"/>
          <p:cNvSpPr/>
          <p:nvPr/>
        </p:nvSpPr>
        <p:spPr>
          <a:xfrm>
            <a:off x="4572000" y="5301210"/>
            <a:ext cx="1079665" cy="1040009"/>
          </a:xfrm>
          <a:prstGeom prst="leftArrow">
            <a:avLst>
              <a:gd name="adj1" fmla="val 79443"/>
              <a:gd name="adj2" fmla="val 21171"/>
            </a:avLst>
          </a:prstGeom>
          <a:solidFill>
            <a:srgbClr val="FFFF00"/>
          </a:solidFill>
          <a:ln w="12700"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rgbClr val="600000"/>
                </a:solidFill>
                <a:latin typeface="Franklin Gothic Demi Cond" pitchFamily="34" charset="0"/>
              </a:rPr>
              <a:t>Diyakini</a:t>
            </a:r>
            <a:r>
              <a:rPr lang="en-US" sz="1050" dirty="0" smtClean="0">
                <a:solidFill>
                  <a:srgbClr val="600000"/>
                </a:solidFill>
                <a:latin typeface="Franklin Gothic Demi Cond" pitchFamily="34" charset="0"/>
              </a:rPr>
              <a:t> paling </a:t>
            </a:r>
            <a:r>
              <a:rPr lang="en-US" sz="1050" dirty="0" err="1" smtClean="0">
                <a:solidFill>
                  <a:srgbClr val="600000"/>
                </a:solidFill>
                <a:latin typeface="Franklin Gothic Demi Cond" pitchFamily="34" charset="0"/>
              </a:rPr>
              <a:t>benar</a:t>
            </a:r>
            <a:r>
              <a:rPr lang="en-US" sz="1050" dirty="0" smtClean="0">
                <a:solidFill>
                  <a:srgbClr val="600000"/>
                </a:solidFill>
                <a:latin typeface="Franklin Gothic Demi Cond" pitchFamily="34" charset="0"/>
              </a:rPr>
              <a:t>, paling </a:t>
            </a:r>
            <a:r>
              <a:rPr lang="en-US" sz="1050" dirty="0" err="1" smtClean="0">
                <a:solidFill>
                  <a:srgbClr val="600000"/>
                </a:solidFill>
                <a:latin typeface="Franklin Gothic Demi Cond" pitchFamily="34" charset="0"/>
              </a:rPr>
              <a:t>tepat</a:t>
            </a:r>
            <a:r>
              <a:rPr lang="en-US" sz="1050" dirty="0" smtClean="0">
                <a:solidFill>
                  <a:srgbClr val="600000"/>
                </a:solidFill>
                <a:latin typeface="Franklin Gothic Demi Cond" pitchFamily="34" charset="0"/>
              </a:rPr>
              <a:t> &amp; paling </a:t>
            </a:r>
            <a:r>
              <a:rPr lang="en-US" sz="1050" dirty="0" err="1" smtClean="0">
                <a:solidFill>
                  <a:srgbClr val="600000"/>
                </a:solidFill>
                <a:latin typeface="Franklin Gothic Demi Cond" pitchFamily="34" charset="0"/>
              </a:rPr>
              <a:t>sesuai</a:t>
            </a:r>
            <a:r>
              <a:rPr lang="en-US" sz="1050" dirty="0" smtClean="0">
                <a:solidFill>
                  <a:srgbClr val="600000"/>
                </a:solidFill>
                <a:latin typeface="Franklin Gothic Demi Cond" pitchFamily="34" charset="0"/>
              </a:rPr>
              <a:t> </a:t>
            </a:r>
            <a:endParaRPr lang="id-ID" sz="105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9" name="Bent-Up Arrow 8"/>
          <p:cNvSpPr/>
          <p:nvPr/>
        </p:nvSpPr>
        <p:spPr>
          <a:xfrm rot="16200000" flipH="1">
            <a:off x="5521861" y="3854027"/>
            <a:ext cx="497323" cy="2397044"/>
          </a:xfrm>
          <a:prstGeom prst="bentUpArrow">
            <a:avLst>
              <a:gd name="adj1" fmla="val 50000"/>
              <a:gd name="adj2" fmla="val 42706"/>
              <a:gd name="adj3" fmla="val 25000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79512" y="4941168"/>
            <a:ext cx="4359790" cy="1152128"/>
          </a:xfrm>
          <a:prstGeom prst="roundRect">
            <a:avLst>
              <a:gd name="adj" fmla="val 812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SUATU PAHAM YG DIYAKINI</a:t>
            </a:r>
          </a:p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PALING BENAR, PALING TEPAT, DAN PALING SESUAI </a:t>
            </a:r>
          </a:p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UNTUK DIJADIKAN ARAH SISTEM CARA BERFIKIR BANGSA INDONESIA (WARGA NEGARA DAN PENYELENGGARA NEGARA) </a:t>
            </a:r>
          </a:p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DALAM MENJALANKAN PROGRAM </a:t>
            </a:r>
            <a:r>
              <a:rPr lang="en-US" sz="1200" dirty="0">
                <a:solidFill>
                  <a:srgbClr val="600000"/>
                </a:solidFill>
                <a:latin typeface="Franklin Gothic Demi Cond" pitchFamily="34" charset="0"/>
              </a:rPr>
              <a:t>SOSIAL </a:t>
            </a:r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POLITIKNYA GUNA MENCAPAI  TUJUAN NEGARA</a:t>
            </a:r>
            <a:endParaRPr lang="en-US" sz="12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7505" y="3828968"/>
            <a:ext cx="1697354" cy="680152"/>
          </a:xfrm>
          <a:prstGeom prst="roundRect">
            <a:avLst>
              <a:gd name="adj" fmla="val 11801"/>
            </a:avLst>
          </a:prstGeom>
          <a:solidFill>
            <a:srgbClr val="A161D1"/>
          </a:solidFill>
          <a:ln w="12700">
            <a:solidFill>
              <a:srgbClr val="60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   KONSEP PANCASILA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SEBAGAI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IDEOLOGI NEGARA</a:t>
            </a:r>
            <a:endParaRPr lang="en-US" sz="2800" spc="150" dirty="0">
              <a:ln w="11430">
                <a:solidFill>
                  <a:srgbClr val="600000"/>
                </a:solidFill>
              </a:ln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266397" y="3436814"/>
            <a:ext cx="1210200" cy="320109"/>
          </a:xfrm>
          <a:prstGeom prst="downArrow">
            <a:avLst/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 rot="10800000">
            <a:off x="251520" y="4559862"/>
            <a:ext cx="1210200" cy="320109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198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50696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8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2958252"/>
              </p:ext>
            </p:extLst>
          </p:nvPr>
        </p:nvGraphicFramePr>
        <p:xfrm>
          <a:off x="-36512" y="332656"/>
          <a:ext cx="439248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Rectangle 13"/>
          <p:cNvSpPr/>
          <p:nvPr/>
        </p:nvSpPr>
        <p:spPr>
          <a:xfrm>
            <a:off x="3744416" y="1196752"/>
            <a:ext cx="51480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nb-NO" sz="1400" dirty="0">
                <a:solidFill>
                  <a:schemeClr val="bg1"/>
                </a:solidFill>
                <a:latin typeface="Franklin Gothic Demi Cond" pitchFamily="34" charset="0"/>
              </a:rPr>
              <a:t>paham yang meletakkan ideologi </a:t>
            </a:r>
            <a:r>
              <a:rPr lang="nb-NO" sz="1400" dirty="0" smtClean="0">
                <a:solidFill>
                  <a:schemeClr val="bg1"/>
                </a:solidFill>
                <a:latin typeface="Franklin Gothic Demi Cond" pitchFamily="34" charset="0"/>
              </a:rPr>
              <a:t>dalam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perspektif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evolusi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sejarah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yang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didasarkan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pada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dua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prinsip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4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algn="just"/>
            <a:r>
              <a:rPr lang="en-US" sz="1400" i="1" dirty="0" err="1" smtClean="0">
                <a:solidFill>
                  <a:srgbClr val="FFFF00"/>
                </a:solidFill>
                <a:latin typeface="Franklin Gothic Demi Cond" pitchFamily="34" charset="0"/>
              </a:rPr>
              <a:t>pertama</a:t>
            </a:r>
            <a:r>
              <a:rPr lang="en-US" sz="1400" i="1" dirty="0" smtClean="0">
                <a:solidFill>
                  <a:schemeClr val="bg1"/>
                </a:solidFill>
                <a:latin typeface="Franklin Gothic Demi Cond" pitchFamily="34" charset="0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penentu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akhir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perubahan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sosial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adalah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perubahan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dari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cara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produksi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;</a:t>
            </a:r>
          </a:p>
          <a:p>
            <a:pPr algn="just"/>
            <a:r>
              <a:rPr lang="en-US" sz="1400" i="1" dirty="0" err="1">
                <a:solidFill>
                  <a:srgbClr val="FFFF00"/>
                </a:solidFill>
                <a:latin typeface="Franklin Gothic Demi Cond" pitchFamily="34" charset="0"/>
              </a:rPr>
              <a:t>kedua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proses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perubahan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sosial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bersifat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dialektis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4416" y="2420308"/>
            <a:ext cx="5148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paham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meletakkan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perspektif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kebebasan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individual,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artinya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mengutamakan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hak-hak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individu</a:t>
            </a:r>
            <a:endParaRPr lang="en-US" sz="14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744416" y="3356412"/>
            <a:ext cx="51480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paham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meletakkan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perspektif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kepentingan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artinya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wajib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menyejahterakan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seluruh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atau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dikenal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dengan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kosep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Franklin Gothic Demi Cond" pitchFamily="34" charset="0"/>
              </a:rPr>
              <a:t>welfare state.</a:t>
            </a:r>
            <a:endParaRPr lang="en-US" sz="14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44416" y="4345940"/>
            <a:ext cx="5148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paham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memberi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kebebasan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kepada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setiap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individu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untuk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menguasai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sistem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pereknomian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kemampuan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modal 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ia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miliki</a:t>
            </a:r>
            <a:endParaRPr lang="en-US" sz="14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9552" y="5651956"/>
            <a:ext cx="8447606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b="1" dirty="0" smtClean="0">
                <a:solidFill>
                  <a:schemeClr val="bg1"/>
                </a:solidFill>
              </a:rPr>
              <a:t>dimana posisi </a:t>
            </a:r>
            <a:r>
              <a:rPr lang="it-IT" b="1" dirty="0">
                <a:solidFill>
                  <a:schemeClr val="bg1"/>
                </a:solidFill>
              </a:rPr>
              <a:t>ideologi Pancasila di antara ideologi besar </a:t>
            </a:r>
            <a:r>
              <a:rPr lang="it-IT" b="1" dirty="0" smtClean="0">
                <a:solidFill>
                  <a:schemeClr val="bg1"/>
                </a:solidFill>
              </a:rPr>
              <a:t>dunia diatas ????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8815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56018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9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25365" y="415298"/>
            <a:ext cx="5554947" cy="774574"/>
          </a:xfrm>
          <a:prstGeom prst="roundRect">
            <a:avLst>
              <a:gd name="adj" fmla="val 14166"/>
            </a:avLst>
          </a:prstGeom>
          <a:solidFill>
            <a:srgbClr val="A161D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     MENELUSURI URGENSI  PANCASILA</a:t>
            </a:r>
          </a:p>
          <a:p>
            <a:pPr marL="404813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50" dirty="0" smtClean="0">
                <a:ln w="11430">
                  <a:solidFill>
                    <a:srgbClr val="600000"/>
                  </a:solidFill>
                </a:ln>
                <a:solidFill>
                  <a:srgbClr val="600000"/>
                </a:solidFill>
                <a:latin typeface="Franklin Gothic Demi Cond" pitchFamily="34" charset="0"/>
              </a:rPr>
              <a:t>SEBAGAI IDEOLOGI NEGARA</a:t>
            </a:r>
            <a:endParaRPr lang="en-US" sz="5400" spc="150" dirty="0">
              <a:ln w="11430">
                <a:solidFill>
                  <a:srgbClr val="600000"/>
                </a:solidFill>
              </a:ln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413980" y="404664"/>
            <a:ext cx="781757" cy="792088"/>
          </a:xfrm>
          <a:prstGeom prst="roundRect">
            <a:avLst/>
          </a:prstGeom>
          <a:solidFill>
            <a:srgbClr val="600000"/>
          </a:solidFill>
          <a:ln w="28575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en-US" sz="3600" b="1" spc="50" dirty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2235005" y="1653398"/>
            <a:ext cx="1256875" cy="742892"/>
          </a:xfrm>
          <a:prstGeom prst="rightArrow">
            <a:avLst>
              <a:gd name="adj1" fmla="val 62207"/>
              <a:gd name="adj2" fmla="val 16126"/>
            </a:avLst>
          </a:prstGeom>
          <a:solidFill>
            <a:srgbClr val="FFFF00"/>
          </a:solidFill>
          <a:ln w="19050"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KARAKTERISTIK</a:t>
            </a:r>
            <a:endParaRPr lang="id-ID" sz="12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7504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72746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7503" y="1556792"/>
            <a:ext cx="2088233" cy="936104"/>
          </a:xfrm>
          <a:prstGeom prst="roundRect">
            <a:avLst>
              <a:gd name="adj" fmla="val 8160"/>
            </a:avLst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2400" b="1" spc="150" dirty="0" smtClean="0">
                <a:ln w="11430">
                  <a:noFill/>
                </a:ln>
                <a:solidFill>
                  <a:srgbClr val="600000"/>
                </a:solidFill>
                <a:latin typeface="Bernard MT Condensed" pitchFamily="18" charset="0"/>
              </a:rPr>
              <a:t>KEBUDAYAAN GLOBAL</a:t>
            </a:r>
            <a:endParaRPr lang="en-US" sz="2400" b="1" dirty="0">
              <a:ln w="11430">
                <a:noFill/>
              </a:ln>
              <a:solidFill>
                <a:srgbClr val="60000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1540" y="3000717"/>
            <a:ext cx="1512167" cy="648072"/>
          </a:xfrm>
          <a:prstGeom prst="roundRect">
            <a:avLst>
              <a:gd name="adj" fmla="val 12257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GLOBALISASI</a:t>
            </a:r>
            <a:endParaRPr lang="id-ID" sz="700" dirty="0" smtClean="0">
              <a:solidFill>
                <a:schemeClr val="bg1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251520" y="2521163"/>
            <a:ext cx="1872208" cy="414414"/>
          </a:xfrm>
          <a:prstGeom prst="downArrow">
            <a:avLst>
              <a:gd name="adj1" fmla="val 69309"/>
              <a:gd name="adj2" fmla="val 50000"/>
            </a:avLst>
          </a:prstGeom>
          <a:solidFill>
            <a:srgbClr val="FFFF00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600000"/>
                </a:solidFill>
                <a:latin typeface="Franklin Gothic Demi Cond" pitchFamily="34" charset="0"/>
              </a:rPr>
              <a:t>MELAHIRKAN</a:t>
            </a:r>
            <a:endParaRPr lang="en-US" sz="1200" dirty="0">
              <a:solidFill>
                <a:srgbClr val="600000"/>
              </a:solidFill>
              <a:latin typeface="Franklin Gothic Demi Cond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91879" y="1449358"/>
            <a:ext cx="5475031" cy="1890221"/>
          </a:xfrm>
          <a:prstGeom prst="roundRect">
            <a:avLst>
              <a:gd name="adj" fmla="val 4177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BERBAGAI BANGSA DAN KEBUDAYAAN MENJADI LEBIH TERBUKA THD PENGARUH TIMBAL BALIK.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fi-FI" sz="1000" dirty="0" smtClean="0">
                <a:solidFill>
                  <a:schemeClr val="bg1"/>
                </a:solidFill>
                <a:latin typeface="Franklin Gothic Demi Cond" pitchFamily="34" charset="0"/>
              </a:rPr>
              <a:t>PENGAKUAN AKAN IDENTITAS DAN KEANEKARAGAMAN MASYARAKAT DALAM 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BERBAGAI KELOMPOK DENGAN PLURALISME ETNIS DAN RELIGIUS.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MASYARAKAT YG MEMILIKI IDEOLOGI DAN SISTEM NILAI YG BERBEDA BEKERJASAMA DAN BERSAING SEHINGGA TIDAK ADA SATU PUN IDEOLOGI YANG DOMINAN.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KEBUDAYAAN GLOBAL MERUPAKAN SESUATU YANG KHAS SECARA UTUH, TETAPI </a:t>
            </a:r>
            <a:r>
              <a:rPr lang="nl-NL" sz="1000" dirty="0" smtClean="0">
                <a:solidFill>
                  <a:schemeClr val="bg1"/>
                </a:solidFill>
                <a:latin typeface="Franklin Gothic Demi Cond" pitchFamily="34" charset="0"/>
              </a:rPr>
              <a:t>TETAP BERSIFAT PLURAL DAN HETEROGEN.</a:t>
            </a:r>
          </a:p>
          <a:p>
            <a:pPr marL="171450" indent="-1714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fi-FI" sz="1000" dirty="0" smtClean="0">
                <a:solidFill>
                  <a:schemeClr val="bg1"/>
                </a:solidFill>
                <a:latin typeface="Franklin Gothic Demi Cond" pitchFamily="34" charset="0"/>
              </a:rPr>
              <a:t>NILAI-NILAI HAK ASASI MANUSIA (HAM), KEBEBASAN, DEMOKRASI MENJADI NILAINILAI 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YANG DIHAYATI BERSAMA, TETAPI DG INTERPRETASI YANG BERBEDA-BEDA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1169" y="3645024"/>
            <a:ext cx="20246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= era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saling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keterhubungan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antara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sv-SE" sz="1000" dirty="0" smtClean="0">
                <a:solidFill>
                  <a:srgbClr val="FFFF00"/>
                </a:solidFill>
                <a:latin typeface="Franklin Gothic Demi Cond" pitchFamily="34" charset="0"/>
              </a:rPr>
              <a:t>masy </a:t>
            </a:r>
            <a:r>
              <a:rPr lang="sv-SE" sz="1000" dirty="0">
                <a:solidFill>
                  <a:srgbClr val="FFFF00"/>
                </a:solidFill>
                <a:latin typeface="Franklin Gothic Demi Cond" pitchFamily="34" charset="0"/>
              </a:rPr>
              <a:t>suatu bangsa dan </a:t>
            </a:r>
            <a:r>
              <a:rPr lang="sv-SE" sz="1000" dirty="0" smtClean="0">
                <a:solidFill>
                  <a:srgbClr val="FFFF00"/>
                </a:solidFill>
                <a:latin typeface="Franklin Gothic Demi Cond" pitchFamily="34" charset="0"/>
              </a:rPr>
              <a:t>masy </a:t>
            </a:r>
            <a:r>
              <a:rPr lang="sv-SE" sz="1000" dirty="0">
                <a:solidFill>
                  <a:srgbClr val="FFFF00"/>
                </a:solidFill>
                <a:latin typeface="Franklin Gothic Demi Cond" pitchFamily="34" charset="0"/>
              </a:rPr>
              <a:t>bangsa yang lain </a:t>
            </a:r>
            <a:r>
              <a:rPr lang="sv-SE" sz="1000" dirty="0" smtClean="0">
                <a:solidFill>
                  <a:srgbClr val="FFFF00"/>
                </a:solidFill>
                <a:latin typeface="Franklin Gothic Demi Cond" pitchFamily="34" charset="0"/>
              </a:rPr>
              <a:t>sehingga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masy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dunia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menjadi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terbuka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demikian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kebudayaan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 global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terbentuk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pertemuan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beragam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kepentingan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mendekatkan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dunia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5306016" y="3407556"/>
            <a:ext cx="1210200" cy="320109"/>
          </a:xfrm>
          <a:prstGeom prst="downArrow">
            <a:avLst>
              <a:gd name="adj1" fmla="val 64057"/>
              <a:gd name="adj2" fmla="val 50000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 rot="16200000">
            <a:off x="2915819" y="3479743"/>
            <a:ext cx="792088" cy="1512168"/>
          </a:xfrm>
          <a:prstGeom prst="downArrow">
            <a:avLst>
              <a:gd name="adj1" fmla="val 64057"/>
              <a:gd name="adj2" fmla="val 16611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4283968" y="3789040"/>
            <a:ext cx="3240360" cy="936104"/>
          </a:xfrm>
          <a:prstGeom prst="roundRect">
            <a:avLst>
              <a:gd name="adj" fmla="val 8160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1400" dirty="0" smtClean="0">
                <a:solidFill>
                  <a:srgbClr val="FFFF00"/>
                </a:solidFill>
                <a:latin typeface="Arial Black" pitchFamily="34" charset="0"/>
              </a:rPr>
              <a:t>SATU TANTANGAN </a:t>
            </a:r>
          </a:p>
          <a:p>
            <a:pPr algn="ctr"/>
            <a:r>
              <a:rPr lang="en-US" sz="1400" dirty="0" smtClean="0">
                <a:solidFill>
                  <a:srgbClr val="FFFF00"/>
                </a:solidFill>
                <a:latin typeface="Arial Black" pitchFamily="34" charset="0"/>
              </a:rPr>
              <a:t>YANG PALING DOMINAN DEWASA INI</a:t>
            </a:r>
            <a:endParaRPr lang="en-US" sz="1400" b="1" dirty="0">
              <a:ln w="11430">
                <a:noFill/>
              </a:ln>
              <a:solidFill>
                <a:srgbClr val="FFFF00"/>
              </a:solidFill>
              <a:latin typeface="Arial Black" pitchFamily="34" charset="0"/>
            </a:endParaRPr>
          </a:p>
        </p:txBody>
      </p:sp>
      <p:pic>
        <p:nvPicPr>
          <p:cNvPr id="41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2080" y="5161058"/>
            <a:ext cx="1296144" cy="1416943"/>
          </a:xfrm>
          <a:prstGeom prst="rect">
            <a:avLst/>
          </a:prstGeom>
          <a:solidFill>
            <a:srgbClr val="FF3300"/>
          </a:solidFill>
          <a:ln w="38100">
            <a:solidFill>
              <a:srgbClr val="FF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  <p:sp>
        <p:nvSpPr>
          <p:cNvPr id="42" name="Down Arrow 41"/>
          <p:cNvSpPr/>
          <p:nvPr/>
        </p:nvSpPr>
        <p:spPr>
          <a:xfrm rot="10800000">
            <a:off x="5313786" y="4762156"/>
            <a:ext cx="1210200" cy="320109"/>
          </a:xfrm>
          <a:prstGeom prst="downArrow">
            <a:avLst>
              <a:gd name="adj1" fmla="val 64057"/>
              <a:gd name="adj2" fmla="val 50000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655070" y="5167661"/>
            <a:ext cx="23650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u="sng" dirty="0" smtClean="0">
                <a:solidFill>
                  <a:srgbClr val="FFFF00"/>
                </a:solidFill>
                <a:latin typeface="Franklin Gothic Demi Cond" pitchFamily="34" charset="0"/>
              </a:rPr>
              <a:t>PENELUSURAN URGENSI/PENTINGNYA PANCASILA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SEBAGAI IDEOLOGI TERBUKA PANCASILA DIPERLUKAN UNTUK MENGHADAPI TANTANGAN KEBUDAYAAN GLOBAL YANG DOMINAN SEKARANG INI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44" name="Down Arrow 43"/>
          <p:cNvSpPr/>
          <p:nvPr/>
        </p:nvSpPr>
        <p:spPr>
          <a:xfrm rot="10800000">
            <a:off x="7812360" y="3339578"/>
            <a:ext cx="792088" cy="2033636"/>
          </a:xfrm>
          <a:prstGeom prst="downArrow">
            <a:avLst>
              <a:gd name="adj1" fmla="val 64057"/>
              <a:gd name="adj2" fmla="val 16611"/>
            </a:avLst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 rot="5400000">
            <a:off x="7196626" y="4090070"/>
            <a:ext cx="1210200" cy="320109"/>
          </a:xfrm>
          <a:prstGeom prst="downArrow">
            <a:avLst>
              <a:gd name="adj1" fmla="val 64057"/>
              <a:gd name="adj2" fmla="val 50000"/>
            </a:avLst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508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84010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rgbClr val="39471D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10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25365" y="487306"/>
            <a:ext cx="5554947" cy="774574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1"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</a:t>
            </a:r>
            <a:r>
              <a:rPr lang="en-US" sz="2400" dirty="0" smtClean="0">
                <a:ln>
                  <a:solidFill>
                    <a:srgbClr val="A161D1"/>
                  </a:solidFill>
                </a:ln>
                <a:solidFill>
                  <a:srgbClr val="A161D1"/>
                </a:solidFill>
                <a:latin typeface="Franklin Gothic Demi Cond" pitchFamily="34" charset="0"/>
              </a:rPr>
              <a:t>PERLUNYA </a:t>
            </a:r>
            <a:r>
              <a:rPr lang="en-US" sz="2400" dirty="0">
                <a:ln>
                  <a:solidFill>
                    <a:srgbClr val="A161D1"/>
                  </a:solidFill>
                </a:ln>
                <a:solidFill>
                  <a:srgbClr val="A161D1"/>
                </a:solidFill>
                <a:latin typeface="Franklin Gothic Demi Cond" pitchFamily="34" charset="0"/>
              </a:rPr>
              <a:t>KAJIAN PANCASILA SEBAGAI IDEOLOGI NEGARA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3980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B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82014" y="4329547"/>
            <a:ext cx="2232247" cy="1475717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latin typeface="Franklin Gothic Demi Cond" pitchFamily="34" charset="0"/>
              </a:rPr>
              <a:t>PENYELENGGARA NEGARA MEMAHAMI DAN MELAKSANAKAN PANCASILA SEBAGAI</a:t>
            </a:r>
          </a:p>
          <a:p>
            <a:pPr algn="ctr"/>
            <a:r>
              <a:rPr lang="en-US" sz="1400" dirty="0" smtClean="0">
                <a:latin typeface="Franklin Gothic Demi Cond" pitchFamily="34" charset="0"/>
              </a:rPr>
              <a:t>IDEOLOGI NEGARA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987825" y="2605907"/>
            <a:ext cx="2232247" cy="1475717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latin typeface="Franklin Gothic Demi Cond" pitchFamily="34" charset="0"/>
              </a:rPr>
              <a:t>WARGA NEGARA MEMAHAMI DAN MELAKSANAKAN PANCASILA SEBAGAI IDEOLOGI</a:t>
            </a:r>
          </a:p>
          <a:p>
            <a:pPr algn="ctr"/>
            <a:r>
              <a:rPr lang="en-US" sz="1400" dirty="0" smtClean="0">
                <a:latin typeface="Franklin Gothic Demi Cond" pitchFamily="34" charset="0"/>
              </a:rPr>
              <a:t>NEGARA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24198" y="2426146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24198" y="415363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777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51019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29" name="Down Arrow 28"/>
          <p:cNvSpPr/>
          <p:nvPr/>
        </p:nvSpPr>
        <p:spPr>
          <a:xfrm>
            <a:off x="2982015" y="1412776"/>
            <a:ext cx="2232246" cy="1013370"/>
          </a:xfrm>
          <a:prstGeom prst="downArrow">
            <a:avLst>
              <a:gd name="adj1" fmla="val 62384"/>
              <a:gd name="adj2" fmla="val 20703"/>
            </a:avLst>
          </a:prstGeom>
          <a:solidFill>
            <a:srgbClr val="A161D1"/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600000"/>
                </a:solidFill>
              </a:rPr>
              <a:t>SUPAYA</a:t>
            </a:r>
            <a:endParaRPr lang="en-US" b="1" dirty="0">
              <a:solidFill>
                <a:srgbClr val="6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8766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5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84010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rgbClr val="600000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9163" y="584425"/>
            <a:ext cx="6993157" cy="68433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Franklin Gothic Demi Cond" pitchFamily="34" charset="0"/>
              </a:rPr>
              <a:t>WARGA NEGARA MEMAHAMI DAN MELAKSANAKAN </a:t>
            </a:r>
          </a:p>
          <a:p>
            <a:pPr algn="ctr"/>
            <a:r>
              <a:rPr lang="en-US" sz="1400" dirty="0" smtClean="0">
                <a:latin typeface="Franklin Gothic Demi Cond" pitchFamily="34" charset="0"/>
              </a:rPr>
              <a:t>PANCASILA SEBAGAI IDEOLOGI NEGARA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95536" y="628539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777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51019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467544" y="1340768"/>
            <a:ext cx="3364617" cy="1008112"/>
          </a:xfrm>
          <a:prstGeom prst="downArrow">
            <a:avLst>
              <a:gd name="adj1" fmla="val 80510"/>
              <a:gd name="adj2" fmla="val 31293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Franklin Gothic Demi Cond" pitchFamily="34" charset="0"/>
              </a:rPr>
              <a:t>KITA SBG WARGA NEGARA PERLU MEMAHAMI 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  <a:latin typeface="Franklin Gothic Demi Cond" pitchFamily="34" charset="0"/>
              </a:rPr>
              <a:t>KEDUDUKAN PANCASILA SBG </a:t>
            </a:r>
            <a:r>
              <a:rPr lang="en-US" sz="1050" dirty="0">
                <a:solidFill>
                  <a:schemeClr val="tx1"/>
                </a:solidFill>
                <a:latin typeface="Franklin Gothic Demi Cond" pitchFamily="34" charset="0"/>
              </a:rPr>
              <a:t>IDEOLOGI NEGARA </a:t>
            </a:r>
            <a:endParaRPr lang="en-US" sz="1050" dirty="0" smtClean="0">
              <a:solidFill>
                <a:schemeClr val="tx1"/>
              </a:solidFill>
              <a:latin typeface="Franklin Gothic Demi Cond" pitchFamily="34" charset="0"/>
            </a:endParaRPr>
          </a:p>
          <a:p>
            <a:pPr algn="ctr"/>
            <a:r>
              <a:rPr lang="en-US" sz="1050" dirty="0" smtClean="0">
                <a:solidFill>
                  <a:schemeClr val="tx1"/>
                </a:solidFill>
                <a:latin typeface="Franklin Gothic Demi Cond" pitchFamily="34" charset="0"/>
              </a:rPr>
              <a:t>KARENA </a:t>
            </a:r>
          </a:p>
          <a:p>
            <a:pPr algn="ctr"/>
            <a:r>
              <a:rPr lang="en-US" sz="1050" dirty="0" smtClean="0">
                <a:solidFill>
                  <a:schemeClr val="tx1"/>
                </a:solidFill>
                <a:latin typeface="Franklin Gothic Demi Cond" pitchFamily="34" charset="0"/>
              </a:rPr>
              <a:t>IDEOLOGI </a:t>
            </a:r>
            <a:r>
              <a:rPr lang="en-US" sz="1050" dirty="0">
                <a:solidFill>
                  <a:schemeClr val="tx1"/>
                </a:solidFill>
                <a:latin typeface="Franklin Gothic Demi Cond" pitchFamily="34" charset="0"/>
              </a:rPr>
              <a:t>PANCASILA </a:t>
            </a:r>
            <a:r>
              <a:rPr lang="en-US" sz="1050" dirty="0" smtClean="0">
                <a:solidFill>
                  <a:schemeClr val="tx1"/>
                </a:solidFill>
                <a:latin typeface="Franklin Gothic Demi Cond" pitchFamily="34" charset="0"/>
              </a:rPr>
              <a:t>MENGHADAPI </a:t>
            </a:r>
            <a:r>
              <a:rPr lang="en-US" sz="1050" dirty="0">
                <a:solidFill>
                  <a:schemeClr val="tx1"/>
                </a:solidFill>
                <a:latin typeface="Franklin Gothic Demi Cond" pitchFamily="34" charset="0"/>
              </a:rPr>
              <a:t>TANTANGAN DARI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2487" y="2452357"/>
            <a:ext cx="2318448" cy="1045349"/>
          </a:xfrm>
          <a:prstGeom prst="roundRect">
            <a:avLst>
              <a:gd name="adj" fmla="val 11581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BERBAGAI IDEOLOGI DUNIA DALAM </a:t>
            </a:r>
            <a:endParaRPr lang="en-US" sz="1200" dirty="0" smtClean="0">
              <a:solidFill>
                <a:srgbClr val="0000FF"/>
              </a:solidFill>
              <a:latin typeface="Franklin Gothic Demi Cond" pitchFamily="34" charset="0"/>
            </a:endParaRPr>
          </a:p>
          <a:p>
            <a:pPr algn="r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KEBUDAYAAN </a:t>
            </a:r>
            <a:r>
              <a:rPr lang="en-US" sz="1200" dirty="0">
                <a:solidFill>
                  <a:srgbClr val="FF0000"/>
                </a:solidFill>
                <a:latin typeface="Franklin Gothic Demi Cond" pitchFamily="34" charset="0"/>
              </a:rPr>
              <a:t>GLOBAL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413" y="4324566"/>
            <a:ext cx="2318448" cy="1045349"/>
          </a:xfrm>
          <a:prstGeom prst="roundRect">
            <a:avLst>
              <a:gd name="adj" fmla="val 9547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SIKAP DAN </a:t>
            </a:r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</a:rPr>
              <a:t>PERILAKU KEHIDUPAN </a:t>
            </a:r>
            <a:r>
              <a:rPr lang="en-US" sz="1200" dirty="0">
                <a:solidFill>
                  <a:srgbClr val="FF0000"/>
                </a:solidFill>
                <a:latin typeface="Franklin Gothic Demi Cond" pitchFamily="34" charset="0"/>
              </a:rPr>
              <a:t>YANG MENYIMPANG 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DARI </a:t>
            </a:r>
            <a:endParaRPr lang="en-US" sz="1200" dirty="0" smtClean="0">
              <a:solidFill>
                <a:srgbClr val="0000FF"/>
              </a:solidFill>
              <a:latin typeface="Franklin Gothic Demi Cond" pitchFamily="34" charset="0"/>
            </a:endParaRPr>
          </a:p>
          <a:p>
            <a:pPr algn="r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</a:rPr>
              <a:t>NORMA-NORMA 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MASYARAKAT UMUM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9036" y="2348880"/>
            <a:ext cx="573746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ATEISME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terdapat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Marxisme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komunisme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sv-SE" sz="1200" dirty="0" smtClean="0">
                <a:solidFill>
                  <a:schemeClr val="bg1"/>
                </a:solidFill>
                <a:latin typeface="Franklin Gothic Demi Cond" pitchFamily="34" charset="0"/>
              </a:rPr>
              <a:t>bertentangan</a:t>
            </a: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</a:rPr>
              <a:t>dengan sila Ketuhanan Yang Maha Esa.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INDIVIDUALISME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liberalisme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sesuai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prinsip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gotong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royong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Keadilan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sosial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bagi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seluruh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rakyat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Indonesia.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KAPITALISME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memberikan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kebebasan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individu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menguasai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sistem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perekonomian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sesuai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prinsip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ekonomi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kerakyatan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9130" y="3933056"/>
            <a:ext cx="1440160" cy="603209"/>
          </a:xfrm>
          <a:prstGeom prst="roundRect">
            <a:avLst>
              <a:gd name="adj" fmla="val 1434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TERORISME</a:t>
            </a:r>
            <a:endParaRPr 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3369130" y="4596516"/>
            <a:ext cx="1440160" cy="603209"/>
          </a:xfrm>
          <a:prstGeom prst="roundRect">
            <a:avLst>
              <a:gd name="adj" fmla="val 1434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RADIKALISME</a:t>
            </a:r>
            <a:endParaRPr lang="en-US"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3366707" y="5266887"/>
            <a:ext cx="1440160" cy="603209"/>
          </a:xfrm>
          <a:prstGeom prst="roundRect">
            <a:avLst>
              <a:gd name="adj" fmla="val 1434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NARKOBA</a:t>
            </a:r>
            <a:endParaRPr lang="en-US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3366707" y="5940979"/>
            <a:ext cx="1440160" cy="603209"/>
          </a:xfrm>
          <a:prstGeom prst="roundRect">
            <a:avLst>
              <a:gd name="adj" fmla="val 1434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KABAR BOHONG (HOAX)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756125" y="3954322"/>
            <a:ext cx="406434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Mengancam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 </a:t>
            </a:r>
            <a:r>
              <a:rPr lang="fi-FI" sz="1000" dirty="0" smtClean="0">
                <a:solidFill>
                  <a:schemeClr val="bg1"/>
                </a:solidFill>
                <a:latin typeface="Franklin Gothic Demi Cond" pitchFamily="34" charset="0"/>
              </a:rPr>
              <a:t>keamanan negara dan masyarakat pada umumnya.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Ancaman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terhadap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nn-NO" sz="1000" dirty="0" smtClean="0">
                <a:solidFill>
                  <a:schemeClr val="bg1"/>
                </a:solidFill>
                <a:latin typeface="Franklin Gothic Demi Cond" pitchFamily="34" charset="0"/>
              </a:rPr>
              <a:t>kesatuan bangsa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Mengganggu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pertumbuhan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perekonomian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2528" y="5251266"/>
            <a:ext cx="40447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Merusak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masa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depan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BANGSA,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keberlangsungan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hidup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bernegara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Merusak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reputasi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indonesia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dg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nilai-nilai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Merugikan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sistem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perekonomian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dll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756125" y="5971346"/>
            <a:ext cx="40447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MENGANCAM PERSATUAN BANGSA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MERUSAK KEHIDUPAN BERBANGSA DAN BERNEGARA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PEMBUNUHAN KARAKTER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PEMBELOKAN OPINI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56125" y="4603194"/>
            <a:ext cx="40643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Kerusakan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infrastruktur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Mengancam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stabilitas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keamanan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Merusak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persatuan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dll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140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84010" y="224644"/>
            <a:ext cx="8536462" cy="6408712"/>
          </a:xfrm>
          <a:prstGeom prst="roundRect">
            <a:avLst>
              <a:gd name="adj" fmla="val 3636"/>
            </a:avLst>
          </a:prstGeom>
          <a:solidFill>
            <a:srgbClr val="600000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12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3352" y="404664"/>
            <a:ext cx="6854952" cy="544165"/>
          </a:xfrm>
          <a:prstGeom prst="roundRect">
            <a:avLst>
              <a:gd name="adj" fmla="val 12257"/>
            </a:avLst>
          </a:prstGeom>
          <a:solidFill>
            <a:schemeClr val="bg2">
              <a:lumMod val="1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 smtClean="0">
                <a:latin typeface="Franklin Gothic Demi Cond" pitchFamily="34" charset="0"/>
              </a:rPr>
              <a:t>PENYELENGGARA NEGARA MEMAHAMI DAN MELAKSANAKAN </a:t>
            </a:r>
          </a:p>
          <a:p>
            <a:pPr algn="ctr"/>
            <a:r>
              <a:rPr lang="en-US" sz="1400" dirty="0" smtClean="0">
                <a:latin typeface="Franklin Gothic Demi Cond" pitchFamily="34" charset="0"/>
              </a:rPr>
              <a:t>PANCASILA SEBAGAI IDEOLOGI NEGARA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5536" y="47667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777" y="45437"/>
            <a:ext cx="423664" cy="282845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51019" y="44624"/>
            <a:ext cx="3344268" cy="283253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PANCASILA </a:t>
            </a:r>
            <a:r>
              <a:rPr lang="en-US" sz="1050" spc="150" dirty="0" smtClean="0">
                <a:ln w="11430">
                  <a:noFill/>
                </a:ln>
                <a:solidFill>
                  <a:srgbClr val="421C5E"/>
                </a:solidFill>
                <a:latin typeface="Bernard MT Condensed" pitchFamily="18" charset="0"/>
              </a:rPr>
              <a:t>MENJADI IDEOLOGI NEGARA</a:t>
            </a:r>
            <a:endParaRPr lang="id-ID" sz="1050" spc="150" dirty="0">
              <a:ln w="11430">
                <a:noFill/>
              </a:ln>
              <a:solidFill>
                <a:srgbClr val="421C5E"/>
              </a:solidFill>
              <a:latin typeface="Bernard MT Condensed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67944" y="1167135"/>
            <a:ext cx="41764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Artinya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dijabarkan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berbagai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endParaRPr lang="en-US" sz="12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peraturan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perundang-undangan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8460" y="1052736"/>
            <a:ext cx="3427476" cy="914400"/>
          </a:xfrm>
          <a:prstGeom prst="roundRect">
            <a:avLst>
              <a:gd name="adj" fmla="val 12016"/>
            </a:avLst>
          </a:prstGeom>
          <a:solidFill>
            <a:srgbClr val="0000FF"/>
          </a:solidFill>
          <a:ln>
            <a:solidFill>
              <a:srgbClr val="8B8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BAGI PENYELENGGARA NEGARA </a:t>
            </a:r>
          </a:p>
          <a:p>
            <a:pPr algn="ctr"/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PANCASILA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merupakan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ORIENTASI KEHIDUPAN 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KONSTITUSIONAL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pPr algn="ctr"/>
            <a:endParaRPr lang="en-US" sz="1200" dirty="0"/>
          </a:p>
        </p:txBody>
      </p:sp>
      <p:sp>
        <p:nvSpPr>
          <p:cNvPr id="5" name="Down Arrow 4"/>
          <p:cNvSpPr/>
          <p:nvPr/>
        </p:nvSpPr>
        <p:spPr>
          <a:xfrm>
            <a:off x="585777" y="1700808"/>
            <a:ext cx="3410159" cy="906400"/>
          </a:xfrm>
          <a:prstGeom prst="downArrow">
            <a:avLst>
              <a:gd name="adj1" fmla="val 70672"/>
              <a:gd name="adj2" fmla="val 31003"/>
            </a:avLst>
          </a:prstGeom>
          <a:solidFill>
            <a:srgbClr val="8B8B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unsur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penting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dalam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kedudukan</a:t>
            </a:r>
            <a:endParaRPr lang="en-US" sz="1200" dirty="0">
              <a:solidFill>
                <a:srgbClr val="0000FF"/>
              </a:solidFill>
              <a:latin typeface="Franklin Gothic Demi Cond" pitchFamily="34" charset="0"/>
            </a:endParaRPr>
          </a:p>
          <a:p>
            <a:pPr algn="ctr"/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orientasi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kehidupan</a:t>
            </a:r>
            <a:r>
              <a:rPr lang="en-US" sz="1200" dirty="0">
                <a:solidFill>
                  <a:srgbClr val="0000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Franklin Gothic Demi Cond" pitchFamily="34" charset="0"/>
              </a:rPr>
              <a:t>konstitusional</a:t>
            </a:r>
            <a:endParaRPr lang="en-US" sz="1200" dirty="0">
              <a:solidFill>
                <a:srgbClr val="0000FF"/>
              </a:solidFill>
              <a:latin typeface="Franklin Gothic Demi Cond" pitchFamily="34" charset="0"/>
            </a:endParaRPr>
          </a:p>
          <a:p>
            <a:pPr algn="ctr"/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3568" y="2666616"/>
            <a:ext cx="2440861" cy="906400"/>
          </a:xfrm>
          <a:prstGeom prst="roundRect">
            <a:avLst>
              <a:gd name="adj" fmla="val 10802"/>
            </a:avLst>
          </a:prstGeom>
          <a:solidFill>
            <a:srgbClr val="8B8B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  <a:cs typeface="Arial" pitchFamily="34" charset="0"/>
              </a:rPr>
              <a:t>KESEDIAAN UNTUK </a:t>
            </a:r>
          </a:p>
          <a:p>
            <a:pPr algn="ctr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  <a:cs typeface="Arial" pitchFamily="34" charset="0"/>
              </a:rPr>
              <a:t>SALING MENGHARGAI </a:t>
            </a:r>
          </a:p>
          <a:p>
            <a:pPr algn="ctr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  <a:cs typeface="Arial" pitchFamily="34" charset="0"/>
              </a:rPr>
              <a:t>DALAM KEKHASAN </a:t>
            </a:r>
          </a:p>
          <a:p>
            <a:pPr algn="ctr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  <a:cs typeface="Arial" pitchFamily="34" charset="0"/>
              </a:rPr>
              <a:t>MASING-MASING</a:t>
            </a:r>
            <a:endParaRPr lang="en-US" sz="1200" dirty="0">
              <a:solidFill>
                <a:srgbClr val="0000FF"/>
              </a:solidFill>
              <a:latin typeface="Franklin Gothic Demi Cond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4429" y="2557353"/>
            <a:ext cx="58400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kesepakatan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utk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bersama-sama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membangun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neg. Indonesia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tanpa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diskriminasi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menutup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pintu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semua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eksklusif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mau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menyeragamkan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menurut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gagasannya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sendiri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pluralisme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adalah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nilai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dasar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mewujudkan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Bhinneka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Tunggal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Ika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. </a:t>
            </a:r>
            <a:endParaRPr lang="en-US" sz="12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harus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diletakkan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terbuka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3568" y="3933056"/>
            <a:ext cx="2440861" cy="906400"/>
          </a:xfrm>
          <a:prstGeom prst="roundRect">
            <a:avLst>
              <a:gd name="adj" fmla="val 8456"/>
            </a:avLst>
          </a:prstGeom>
          <a:solidFill>
            <a:srgbClr val="8B8B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 smtClean="0">
                <a:solidFill>
                  <a:srgbClr val="0000FF"/>
                </a:solidFill>
                <a:latin typeface="Franklin Gothic Demi Cond" pitchFamily="34" charset="0"/>
              </a:rPr>
              <a:t>AKTUALISASI LIMA SILA PANCASILA </a:t>
            </a:r>
          </a:p>
          <a:p>
            <a:pPr algn="ctr"/>
            <a:r>
              <a:rPr lang="en-US" sz="1000" dirty="0" err="1" smtClean="0">
                <a:solidFill>
                  <a:srgbClr val="0000FF"/>
                </a:solidFill>
                <a:latin typeface="Arial Narrow" pitchFamily="34" charset="0"/>
              </a:rPr>
              <a:t>sila-sila</a:t>
            </a:r>
            <a:r>
              <a:rPr lang="en-US" sz="1000" dirty="0" smtClean="0">
                <a:solidFill>
                  <a:srgbClr val="0000FF"/>
                </a:solidFill>
                <a:latin typeface="Arial Narrow" pitchFamily="34" charset="0"/>
              </a:rPr>
              <a:t> </a:t>
            </a:r>
            <a:r>
              <a:rPr lang="en-US" sz="1000" dirty="0" err="1" smtClean="0">
                <a:solidFill>
                  <a:srgbClr val="0000FF"/>
                </a:solidFill>
                <a:latin typeface="Arial Narrow" pitchFamily="34" charset="0"/>
              </a:rPr>
              <a:t>dilaks</a:t>
            </a:r>
            <a:r>
              <a:rPr lang="en-US" sz="1000" dirty="0" smtClean="0">
                <a:solidFill>
                  <a:srgbClr val="0000FF"/>
                </a:solidFill>
                <a:latin typeface="Arial Narrow" pitchFamily="34" charset="0"/>
              </a:rPr>
              <a:t>. </a:t>
            </a:r>
            <a:r>
              <a:rPr lang="en-US" sz="1000" dirty="0" err="1" smtClean="0">
                <a:solidFill>
                  <a:srgbClr val="0000FF"/>
                </a:solidFill>
                <a:latin typeface="Arial Narrow" pitchFamily="34" charset="0"/>
              </a:rPr>
              <a:t>Dlm</a:t>
            </a:r>
            <a:r>
              <a:rPr lang="en-US" sz="1000" dirty="0" smtClean="0">
                <a:solidFill>
                  <a:srgbClr val="0000FF"/>
                </a:solidFill>
                <a:latin typeface="Arial Narrow" pitchFamily="34" charset="0"/>
              </a:rPr>
              <a:t> </a:t>
            </a:r>
            <a:r>
              <a:rPr lang="en-US" sz="1000" dirty="0" err="1" smtClean="0">
                <a:solidFill>
                  <a:srgbClr val="0000FF"/>
                </a:solidFill>
                <a:latin typeface="Arial Narrow" pitchFamily="34" charset="0"/>
              </a:rPr>
              <a:t>kehidupan</a:t>
            </a:r>
            <a:r>
              <a:rPr lang="en-US" sz="1000" dirty="0" smtClean="0">
                <a:solidFill>
                  <a:srgbClr val="0000FF"/>
                </a:solidFill>
                <a:latin typeface="Arial Narrow" pitchFamily="34" charset="0"/>
              </a:rPr>
              <a:t> </a:t>
            </a:r>
            <a:r>
              <a:rPr lang="en-US" sz="1000" dirty="0" err="1" smtClean="0">
                <a:solidFill>
                  <a:srgbClr val="0000FF"/>
                </a:solidFill>
                <a:latin typeface="Arial Narrow" pitchFamily="34" charset="0"/>
              </a:rPr>
              <a:t>bernegara</a:t>
            </a:r>
            <a:endParaRPr lang="en-US" sz="1000" b="1" dirty="0">
              <a:solidFill>
                <a:srgbClr val="0000FF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0230" y="3848561"/>
            <a:ext cx="584005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algn="just">
              <a:spcBef>
                <a:spcPts val="600"/>
              </a:spcBef>
            </a:pPr>
            <a:r>
              <a:rPr lang="fi-FI" sz="1200" dirty="0" smtClean="0">
                <a:solidFill>
                  <a:srgbClr val="8B8BFF"/>
                </a:solidFill>
                <a:latin typeface="Franklin Gothic Demi Cond" pitchFamily="34" charset="0"/>
              </a:rPr>
              <a:t>1. </a:t>
            </a:r>
            <a:r>
              <a:rPr lang="fi-FI" sz="1200" dirty="0">
                <a:solidFill>
                  <a:srgbClr val="8B8BFF"/>
                </a:solidFill>
                <a:latin typeface="Franklin Gothic Demi Cond" pitchFamily="34" charset="0"/>
              </a:rPr>
              <a:t>Sila Ketuhanan Yang Maha Esa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dirumuskan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utk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menjamin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tdk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adanya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diskriminasi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atas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dasar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agama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shg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harus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nn-NO" sz="1200" dirty="0" smtClean="0">
                <a:solidFill>
                  <a:srgbClr val="FFFF00"/>
                </a:solidFill>
                <a:latin typeface="Franklin Gothic Demi Cond" pitchFamily="34" charset="0"/>
              </a:rPr>
              <a:t>menjamin </a:t>
            </a:r>
            <a:r>
              <a:rPr lang="nn-NO" sz="1200" dirty="0">
                <a:solidFill>
                  <a:srgbClr val="FFFF00"/>
                </a:solidFill>
                <a:latin typeface="Franklin Gothic Demi Cond" pitchFamily="34" charset="0"/>
              </a:rPr>
              <a:t>kebebasan beragama dan pluralisme ekspresi keagamaan.</a:t>
            </a:r>
          </a:p>
          <a:p>
            <a:pPr marL="169863" indent="-169863" algn="just">
              <a:spcBef>
                <a:spcPts val="600"/>
              </a:spcBef>
            </a:pPr>
            <a:r>
              <a:rPr lang="en-US" sz="1200" dirty="0" smtClean="0">
                <a:solidFill>
                  <a:srgbClr val="8B8BFF"/>
                </a:solidFill>
                <a:latin typeface="Franklin Gothic Demi Cond" pitchFamily="34" charset="0"/>
              </a:rPr>
              <a:t>2.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Kemanusiaan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Adil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Beradab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menjadi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operasional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jaminan </a:t>
            </a:r>
            <a:r>
              <a:rPr lang="fi-FI" sz="1200" dirty="0">
                <a:solidFill>
                  <a:srgbClr val="FFFF00"/>
                </a:solidFill>
                <a:latin typeface="Franklin Gothic Demi Cond" pitchFamily="34" charset="0"/>
              </a:rPr>
              <a:t>pelaksanaan hak-hak asasi manusia karena hal itu </a:t>
            </a:r>
            <a:r>
              <a:rPr lang="fi-FI" sz="1200" dirty="0" smtClean="0">
                <a:solidFill>
                  <a:srgbClr val="FFFF00"/>
                </a:solidFill>
                <a:latin typeface="Franklin Gothic Demi Cond" pitchFamily="34" charset="0"/>
              </a:rPr>
              <a:t>merupakan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tolok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ukur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keberadaban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serta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solidaritas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suatu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setiap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warga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  <a:endParaRPr lang="en-US" sz="12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37087" y="4914453"/>
            <a:ext cx="7503202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algn="just">
              <a:spcBef>
                <a:spcPts val="600"/>
              </a:spcBef>
            </a:pPr>
            <a:r>
              <a:rPr lang="en-US" sz="1200" dirty="0" smtClean="0">
                <a:solidFill>
                  <a:srgbClr val="8B8BFF"/>
                </a:solidFill>
                <a:latin typeface="Franklin Gothic Demi Cond" pitchFamily="34" charset="0"/>
              </a:rPr>
              <a:t>3.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Persatuan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menegaskan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bahwa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rasa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cinta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tidak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dilakukan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menutup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menolak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mereka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di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luar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Indonesia,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tetapi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membangun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hubungan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timbal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</a:rPr>
              <a:t>balik </a:t>
            </a:r>
            <a:r>
              <a:rPr lang="sv-SE" sz="1200" dirty="0">
                <a:solidFill>
                  <a:srgbClr val="FFFF00"/>
                </a:solidFill>
                <a:latin typeface="Franklin Gothic Demi Cond" pitchFamily="34" charset="0"/>
              </a:rPr>
              <a:t>atas dasar kesamaan kedudukan dan tekad untuk </a:t>
            </a:r>
            <a:r>
              <a:rPr lang="sv-SE" sz="1200" dirty="0" smtClean="0">
                <a:solidFill>
                  <a:srgbClr val="FFFF00"/>
                </a:solidFill>
                <a:latin typeface="Franklin Gothic Demi Cond" pitchFamily="34" charset="0"/>
              </a:rPr>
              <a:t>menjalin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kerjasama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menjamin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kesejahteraan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martabat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Indonesia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  <a:p>
            <a:pPr marL="169863" indent="-169863" algn="just">
              <a:spcBef>
                <a:spcPts val="600"/>
              </a:spcBef>
            </a:pPr>
            <a:r>
              <a:rPr lang="fi-FI" sz="1200" dirty="0" smtClean="0">
                <a:solidFill>
                  <a:srgbClr val="8B8BFF"/>
                </a:solidFill>
                <a:latin typeface="Franklin Gothic Demi Cond" pitchFamily="34" charset="0"/>
              </a:rPr>
              <a:t>4. </a:t>
            </a:r>
            <a:r>
              <a:rPr lang="fi-FI" sz="1200" dirty="0">
                <a:solidFill>
                  <a:srgbClr val="8B8BFF"/>
                </a:solidFill>
                <a:latin typeface="Franklin Gothic Demi Cond" pitchFamily="34" charset="0"/>
              </a:rPr>
              <a:t>Sila Kerakyatan yang Dipimpin oleh Hikmat Kebijaksanaan </a:t>
            </a:r>
            <a:r>
              <a:rPr lang="fi-FI" sz="1200" dirty="0" smtClean="0">
                <a:solidFill>
                  <a:srgbClr val="8B8BFF"/>
                </a:solidFill>
                <a:latin typeface="Franklin Gothic Demi Cond" pitchFamily="34" charset="0"/>
              </a:rPr>
              <a:t>dalam </a:t>
            </a:r>
            <a:r>
              <a:rPr lang="en-US" sz="1200" dirty="0" err="1" smtClean="0">
                <a:solidFill>
                  <a:srgbClr val="8B8BFF"/>
                </a:solidFill>
                <a:latin typeface="Franklin Gothic Demi Cond" pitchFamily="34" charset="0"/>
              </a:rPr>
              <a:t>Permusyawaratan</a:t>
            </a:r>
            <a:r>
              <a:rPr lang="en-US" sz="1200" dirty="0" smtClean="0">
                <a:solidFill>
                  <a:srgbClr val="8B8BFF"/>
                </a:solidFill>
                <a:latin typeface="Franklin Gothic Demi Cond" pitchFamily="34" charset="0"/>
              </a:rPr>
              <a:t>/</a:t>
            </a:r>
            <a:r>
              <a:rPr lang="en-US" sz="1200" dirty="0" err="1" smtClean="0">
                <a:solidFill>
                  <a:srgbClr val="8B8BFF"/>
                </a:solidFill>
                <a:latin typeface="Franklin Gothic Demi Cond" pitchFamily="34" charset="0"/>
              </a:rPr>
              <a:t>Perwakilan</a:t>
            </a:r>
            <a:r>
              <a:rPr lang="en-US" sz="1200" dirty="0" smtClean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berarti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komitmen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demokrasi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wajib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disukseskan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  <a:p>
            <a:pPr marL="169863" indent="-169863" algn="just">
              <a:spcBef>
                <a:spcPts val="600"/>
              </a:spcBef>
            </a:pPr>
            <a:r>
              <a:rPr lang="en-US" sz="1200" dirty="0" smtClean="0">
                <a:solidFill>
                  <a:srgbClr val="8B8BFF"/>
                </a:solidFill>
                <a:latin typeface="Franklin Gothic Demi Cond" pitchFamily="34" charset="0"/>
              </a:rPr>
              <a:t>5.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Sila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Keadilan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Sosial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bagi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8B8BFF"/>
                </a:solidFill>
                <a:latin typeface="Franklin Gothic Demi Cond" pitchFamily="34" charset="0"/>
              </a:rPr>
              <a:t>Seluruh</a:t>
            </a:r>
            <a:r>
              <a:rPr lang="en-US" sz="1200" dirty="0">
                <a:solidFill>
                  <a:srgbClr val="8B8BFF"/>
                </a:solidFill>
                <a:latin typeface="Franklin Gothic Demi Cond" pitchFamily="34" charset="0"/>
              </a:rPr>
              <a:t> Rakyat Indonesia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berarti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pengentasan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kemiskinan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diskriminasi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minoritas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kelompokkelompok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rgbClr val="FFFF00"/>
                </a:solidFill>
                <a:latin typeface="Franklin Gothic Demi Cond" pitchFamily="34" charset="0"/>
              </a:rPr>
              <a:t>lemah</a:t>
            </a:r>
            <a:r>
              <a:rPr lang="en-US" sz="12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perlu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dihapus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Franklin Gothic Demi Cond" pitchFamily="34" charset="0"/>
              </a:rPr>
              <a:t>bumi</a:t>
            </a:r>
            <a:r>
              <a:rPr lang="en-US" sz="1200" dirty="0">
                <a:solidFill>
                  <a:srgbClr val="FFFF00"/>
                </a:solidFill>
                <a:latin typeface="Franklin Gothic Demi Cond" pitchFamily="34" charset="0"/>
              </a:rPr>
              <a:t> Indonesia</a:t>
            </a:r>
          </a:p>
        </p:txBody>
      </p:sp>
    </p:spTree>
    <p:extLst>
      <p:ext uri="{BB962C8B-B14F-4D97-AF65-F5344CB8AC3E}">
        <p14:creationId xmlns:p14="http://schemas.microsoft.com/office/powerpoint/2010/main" val="3497215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13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0" y="548680"/>
            <a:ext cx="799037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MENGGALI SUMBER  HISTORIS, SOSIOLOGIS, POLITIS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61665" y="1675179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</a:t>
            </a: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MENJADI IDEOLOGI NEGARA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1662" y="2924944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SOSIOLOGIS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</a:t>
            </a: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MENJADI IDEOLOGI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NEGARA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41662" y="4160778"/>
            <a:ext cx="1814391" cy="1140430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POLITIS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</a:t>
            </a:r>
            <a:endParaRPr lang="en-US" sz="1400" dirty="0" smtClean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MENJADI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IDEOLOGI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NEGARA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19629558">
            <a:off x="3102357" y="195874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3088165" y="3212356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9629558">
            <a:off x="3088165" y="4459182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25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79512" y="224644"/>
            <a:ext cx="8464454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14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0" y="548680"/>
            <a:ext cx="799037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MENGGALI SUMBER  HISTORIS, SOSIOLOGIS, POLITIS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3220" y="1484784"/>
            <a:ext cx="7281188" cy="360040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MENJADI IDEOLOGI NEGARA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803912" y="148416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9553" y="1844824"/>
            <a:ext cx="8104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kedudukan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oleh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penyelenggara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berkuasa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sepanjang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sejarah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Indonesia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395536" y="3736456"/>
            <a:ext cx="8624548" cy="916680"/>
          </a:xfrm>
          <a:prstGeom prst="rightArrow">
            <a:avLst>
              <a:gd name="adj1" fmla="val 50000"/>
              <a:gd name="adj2" fmla="val 31442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39552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PRESIDEN SOEKARNO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75805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SOEHARTO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14481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HABIBIE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50734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ABDDURAHMAN WAHID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86987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MEGAWATI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225663" y="3717032"/>
            <a:ext cx="1296144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9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9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900" dirty="0" smtClean="0">
                <a:solidFill>
                  <a:srgbClr val="00007A"/>
                </a:solidFill>
                <a:latin typeface="Franklin Gothic Demi Cond" pitchFamily="34" charset="0"/>
              </a:rPr>
              <a:t>SUSILO BAMBANG YODHOYONO</a:t>
            </a:r>
            <a:endParaRPr lang="en-US" sz="9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51520" y="2518063"/>
            <a:ext cx="2559798" cy="1054953"/>
          </a:xfrm>
          <a:prstGeom prst="roundRect">
            <a:avLst>
              <a:gd name="adj" fmla="val 7628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1945--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1960 :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ditegaskan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sv-SE" sz="1000" dirty="0" smtClean="0">
                <a:solidFill>
                  <a:srgbClr val="FFFF00"/>
                </a:solidFill>
                <a:latin typeface="Franklin Gothic Demi Cond" pitchFamily="34" charset="0"/>
              </a:rPr>
              <a:t>pemersatu </a:t>
            </a:r>
            <a:r>
              <a:rPr lang="sv-SE" sz="1000" dirty="0">
                <a:solidFill>
                  <a:srgbClr val="FFFF00"/>
                </a:solidFill>
                <a:latin typeface="Franklin Gothic Demi Cond" pitchFamily="34" charset="0"/>
              </a:rPr>
              <a:t>bangsa. </a:t>
            </a:r>
            <a:endParaRPr lang="sv-SE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1960--1965,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Soekarno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mementingkan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konsep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Nasakom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(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Nasionalisme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, Agama,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Komunisme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)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landasan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politik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Indonesia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  <a:endParaRPr lang="sv-SE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6282" y="4822120"/>
            <a:ext cx="3101622" cy="1662767"/>
          </a:xfrm>
          <a:prstGeom prst="roundRect">
            <a:avLst>
              <a:gd name="adj" fmla="val 4285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dijadikan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asas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000" dirty="0" smtClean="0">
                <a:solidFill>
                  <a:srgbClr val="FFFF00"/>
                </a:solidFill>
                <a:latin typeface="Franklin Gothic Demi Cond" pitchFamily="34" charset="0"/>
              </a:rPr>
              <a:t>tunggal </a:t>
            </a:r>
            <a:r>
              <a:rPr lang="fi-FI" sz="1000" dirty="0">
                <a:solidFill>
                  <a:srgbClr val="FFFF00"/>
                </a:solidFill>
                <a:latin typeface="Franklin Gothic Demi Cond" pitchFamily="34" charset="0"/>
              </a:rPr>
              <a:t>bagi Organisasi Politik dan Organisasi Kemasyarakatan. </a:t>
            </a:r>
            <a:endParaRPr lang="fi-FI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fi-FI" sz="1000" dirty="0" smtClean="0">
                <a:solidFill>
                  <a:srgbClr val="FFFF00"/>
                </a:solidFill>
                <a:latin typeface="Franklin Gothic Demi Cond" pitchFamily="34" charset="0"/>
              </a:rPr>
              <a:t>Periode ini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diawali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keluarnya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TAP MPR No. II/1978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pemasyarakatan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nilainilai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 TAP MPR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ini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menjadi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landasan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dilaksanakannya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penataran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P-4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semua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lapisan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Akibat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cara-cara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rezim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memasyarakatkan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memberi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kesan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bahwa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tafsir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adalah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produk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rezim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Orde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Baru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(mono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tafsir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) yang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berkuasa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pada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waktu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itu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43808" y="2410255"/>
            <a:ext cx="2934072" cy="1203484"/>
          </a:xfrm>
          <a:prstGeom prst="roundRect">
            <a:avLst>
              <a:gd name="adj" fmla="val 5775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17475" indent="-117475">
              <a:buFont typeface="Wingdings" pitchFamily="2" charset="2"/>
              <a:buChar char="§"/>
            </a:pP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resonansi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kurang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bergema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lembaga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bertanggungjawab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sosialisasi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nilai-nilai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dibubarkan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berdasarkan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Keppres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No. 27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tahun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1999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pencabutan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Keppres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No. 10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tahun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1979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Badan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Pembinaan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000" dirty="0" smtClean="0">
                <a:solidFill>
                  <a:srgbClr val="FFFF00"/>
                </a:solidFill>
                <a:latin typeface="Franklin Gothic Demi Cond" pitchFamily="34" charset="0"/>
              </a:rPr>
              <a:t>Pendidikan </a:t>
            </a:r>
            <a:r>
              <a:rPr lang="fi-FI" sz="1000" dirty="0">
                <a:solidFill>
                  <a:srgbClr val="FFFF00"/>
                </a:solidFill>
                <a:latin typeface="Franklin Gothic Demi Cond" pitchFamily="34" charset="0"/>
              </a:rPr>
              <a:t>Pelaksanaan Pedoman Penghayatan dan Pengamalan </a:t>
            </a:r>
            <a:r>
              <a:rPr lang="fi-FI" sz="1000" dirty="0" smtClean="0">
                <a:solidFill>
                  <a:srgbClr val="FFFF00"/>
                </a:solidFill>
                <a:latin typeface="Franklin Gothic Demi Cond" pitchFamily="34" charset="0"/>
              </a:rPr>
              <a:t>Pancasila 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(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BP-7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)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79912" y="4869160"/>
            <a:ext cx="2545946" cy="1214795"/>
          </a:xfrm>
          <a:prstGeom prst="roundRect">
            <a:avLst>
              <a:gd name="adj" fmla="val 6631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117475" indent="-117475">
              <a:buFont typeface="Wingdings" pitchFamily="2" charset="2"/>
              <a:buChar char="§"/>
            </a:pP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muncul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wacana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penghapusan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TAP NO.XXV/MPRS/1966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pelarangan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PKI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penyebarluasan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ajaran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komunisme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17475" indent="-117475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Di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masa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ini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, yang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lebih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dominan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adalah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kebebasan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berpendapat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sehingga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perhatian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terhadap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cenderung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melemah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8144" y="2378497"/>
            <a:ext cx="2706356" cy="1074599"/>
          </a:xfrm>
          <a:prstGeom prst="roundRect">
            <a:avLst>
              <a:gd name="adj" fmla="val 9879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semakin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kehilangan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formalitasnya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dengan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disahkannya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Undang-Undang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SISDIKNAS No. 20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tahun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2003 yang</a:t>
            </a:r>
          </a:p>
          <a:p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tidak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mencantumkan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pendidikan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mata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pelajaran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wajib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dari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  <a:p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tingkat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Sekolah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Dasar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sampai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perguruan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tinggi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2200" y="4904149"/>
            <a:ext cx="2520280" cy="886778"/>
          </a:xfrm>
          <a:prstGeom prst="roundRect">
            <a:avLst>
              <a:gd name="adj" fmla="val 6397"/>
            </a:avLst>
          </a:prstGeom>
          <a:solidFill>
            <a:srgbClr val="00007A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Mendekati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akhir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masa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jabatannya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Presiden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SBY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menandatangani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Undang-Undang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RI No. 12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tahun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2012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tentang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Pendidikan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Tinggi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mencantumkan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mata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kuliah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mata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rgbClr val="FFFF00"/>
                </a:solidFill>
                <a:latin typeface="Franklin Gothic Demi Cond" pitchFamily="34" charset="0"/>
              </a:rPr>
              <a:t>kuliah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rgbClr val="FFFF00"/>
                </a:solidFill>
                <a:latin typeface="Franklin Gothic Demi Cond" pitchFamily="34" charset="0"/>
              </a:rPr>
              <a:t>wajib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s-ES" sz="1000" dirty="0" smtClean="0">
                <a:solidFill>
                  <a:srgbClr val="FFFF00"/>
                </a:solidFill>
                <a:latin typeface="Franklin Gothic Demi Cond" pitchFamily="34" charset="0"/>
              </a:rPr>
              <a:t>pada </a:t>
            </a:r>
            <a:r>
              <a:rPr lang="es-ES" sz="1000" dirty="0" err="1">
                <a:solidFill>
                  <a:srgbClr val="FFFF00"/>
                </a:solidFill>
                <a:latin typeface="Franklin Gothic Demi Cond" pitchFamily="34" charset="0"/>
              </a:rPr>
              <a:t>pasal</a:t>
            </a:r>
            <a:r>
              <a:rPr lang="es-ES" sz="1000" dirty="0">
                <a:solidFill>
                  <a:srgbClr val="FFFF00"/>
                </a:solidFill>
                <a:latin typeface="Franklin Gothic Demi Cond" pitchFamily="34" charset="0"/>
              </a:rPr>
              <a:t> 35 </a:t>
            </a:r>
            <a:r>
              <a:rPr lang="es-ES" sz="1000" dirty="0" err="1">
                <a:solidFill>
                  <a:srgbClr val="FFFF00"/>
                </a:solidFill>
                <a:latin typeface="Franklin Gothic Demi Cond" pitchFamily="34" charset="0"/>
              </a:rPr>
              <a:t>ayat</a:t>
            </a:r>
            <a:r>
              <a:rPr lang="es-ES" sz="1000" dirty="0">
                <a:solidFill>
                  <a:srgbClr val="FFFF00"/>
                </a:solidFill>
                <a:latin typeface="Franklin Gothic Demi Cond" pitchFamily="34" charset="0"/>
              </a:rPr>
              <a:t> (3</a:t>
            </a:r>
            <a:r>
              <a:rPr lang="es-ES" sz="1000" dirty="0" smtClean="0">
                <a:solidFill>
                  <a:srgbClr val="FFFF00"/>
                </a:solidFill>
                <a:latin typeface="Franklin Gothic Demi Cond" pitchFamily="34" charset="0"/>
              </a:rPr>
              <a:t>).</a:t>
            </a:r>
            <a:r>
              <a:rPr lang="en-US" sz="10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</a:p>
        </p:txBody>
      </p:sp>
      <p:sp>
        <p:nvSpPr>
          <p:cNvPr id="17" name="Up Arrow 16"/>
          <p:cNvSpPr/>
          <p:nvPr/>
        </p:nvSpPr>
        <p:spPr>
          <a:xfrm>
            <a:off x="811930" y="3520999"/>
            <a:ext cx="847851" cy="299940"/>
          </a:xfrm>
          <a:prstGeom prst="upArrow">
            <a:avLst/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Up Arrow 29"/>
          <p:cNvSpPr/>
          <p:nvPr/>
        </p:nvSpPr>
        <p:spPr>
          <a:xfrm>
            <a:off x="3457383" y="3541117"/>
            <a:ext cx="847851" cy="299940"/>
          </a:xfrm>
          <a:prstGeom prst="upArrow">
            <a:avLst/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 Arrow 30"/>
          <p:cNvSpPr/>
          <p:nvPr/>
        </p:nvSpPr>
        <p:spPr>
          <a:xfrm>
            <a:off x="6102836" y="3407734"/>
            <a:ext cx="847851" cy="432175"/>
          </a:xfrm>
          <a:prstGeom prst="upArrow">
            <a:avLst>
              <a:gd name="adj1" fmla="val 50000"/>
              <a:gd name="adj2" fmla="val 32778"/>
            </a:avLst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 Arrow 31"/>
          <p:cNvSpPr/>
          <p:nvPr/>
        </p:nvSpPr>
        <p:spPr>
          <a:xfrm rot="10800000">
            <a:off x="2177659" y="4581128"/>
            <a:ext cx="847851" cy="299940"/>
          </a:xfrm>
          <a:prstGeom prst="upArrow">
            <a:avLst/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Up Arrow 32"/>
          <p:cNvSpPr/>
          <p:nvPr/>
        </p:nvSpPr>
        <p:spPr>
          <a:xfrm rot="10800000">
            <a:off x="4823112" y="4601246"/>
            <a:ext cx="847851" cy="299940"/>
          </a:xfrm>
          <a:prstGeom prst="upArrow">
            <a:avLst/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Up Arrow 33"/>
          <p:cNvSpPr/>
          <p:nvPr/>
        </p:nvSpPr>
        <p:spPr>
          <a:xfrm rot="10800000">
            <a:off x="7468565" y="4579852"/>
            <a:ext cx="847851" cy="432175"/>
          </a:xfrm>
          <a:prstGeom prst="upArrow">
            <a:avLst>
              <a:gd name="adj1" fmla="val 50000"/>
              <a:gd name="adj2" fmla="val 32778"/>
            </a:avLst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35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79512" y="224644"/>
            <a:ext cx="8464454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15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0" y="548680"/>
            <a:ext cx="799037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MENGGALI SUMBER  HISTORIS, SOSIOLOGIS, POLITIS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3220" y="1484784"/>
            <a:ext cx="7281188" cy="360040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HISTORIS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MENJADI IDEOLOGI NEGARA</a:t>
            </a:r>
          </a:p>
        </p:txBody>
      </p:sp>
      <p:sp>
        <p:nvSpPr>
          <p:cNvPr id="19" name="Rounded Rectangle 18"/>
          <p:cNvSpPr/>
          <p:nvPr/>
        </p:nvSpPr>
        <p:spPr>
          <a:xfrm rot="19629558">
            <a:off x="803912" y="1484165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 smtClean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9553" y="1844824"/>
            <a:ext cx="8104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kedudukan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oleh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para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penyelenggara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berkuasa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sepanjang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Franklin Gothic Demi Cond" pitchFamily="34" charset="0"/>
              </a:rPr>
              <a:t>sejarah</a:t>
            </a:r>
            <a:r>
              <a:rPr lang="en-US" sz="12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200" dirty="0" smtClean="0">
                <a:solidFill>
                  <a:schemeClr val="bg1"/>
                </a:solidFill>
                <a:latin typeface="Franklin Gothic Demi Cond" pitchFamily="34" charset="0"/>
              </a:rPr>
              <a:t> Indonesia</a:t>
            </a:r>
            <a:endParaRPr lang="en-US" sz="12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179512" y="2728344"/>
            <a:ext cx="8624548" cy="916680"/>
          </a:xfrm>
          <a:prstGeom prst="rightArrow">
            <a:avLst>
              <a:gd name="adj1" fmla="val 50000"/>
              <a:gd name="adj2" fmla="val 31442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323528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PRESIDEN SOEKARNO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82382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SOEHARTO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433026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HABIBIE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81247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ABDDURAHMAN WAHID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40101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MEGAWATI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590745" y="2708920"/>
            <a:ext cx="1018745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rgbClr val="00007A"/>
                </a:solidFill>
                <a:latin typeface="Franklin Gothic Demi Cond" pitchFamily="34" charset="0"/>
              </a:rPr>
              <a:t>pemerintahan</a:t>
            </a:r>
            <a:r>
              <a:rPr lang="en-US" sz="800" dirty="0">
                <a:solidFill>
                  <a:srgbClr val="00007A"/>
                </a:solidFill>
                <a:latin typeface="Franklin Gothic Demi Cond" pitchFamily="34" charset="0"/>
              </a:rPr>
              <a:t> PRESIDEN </a:t>
            </a:r>
            <a:r>
              <a:rPr lang="en-US" sz="800" dirty="0" smtClean="0">
                <a:solidFill>
                  <a:srgbClr val="00007A"/>
                </a:solidFill>
                <a:latin typeface="Franklin Gothic Demi Cond" pitchFamily="34" charset="0"/>
              </a:rPr>
              <a:t>SUSILO BAMBANG YODHOYONO</a:t>
            </a:r>
            <a:endParaRPr lang="en-US" sz="800" dirty="0">
              <a:solidFill>
                <a:srgbClr val="00007A"/>
              </a:solidFill>
              <a:latin typeface="Franklin Gothic Demi Cond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49599" y="2719553"/>
            <a:ext cx="1810833" cy="91440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Franklin Gothic Demi Cond" pitchFamily="34" charset="0"/>
              </a:rPr>
              <a:t>masa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endParaRPr lang="en-US" sz="8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algn="ctr"/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</a:rPr>
              <a:t>PEMERINTAHAN SEKARANG </a:t>
            </a:r>
          </a:p>
          <a:p>
            <a:pPr algn="ctr"/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800" dirty="0">
                <a:solidFill>
                  <a:schemeClr val="bg1"/>
                </a:solidFill>
                <a:latin typeface="Franklin Gothic Demi Cond" pitchFamily="34" charset="0"/>
              </a:rPr>
              <a:t>PRESIDEN </a:t>
            </a:r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</a:rPr>
              <a:t>DJOKO WIDODO</a:t>
            </a:r>
          </a:p>
          <a:p>
            <a:pPr algn="ctr"/>
            <a:r>
              <a:rPr lang="en-US" sz="800" dirty="0" smtClean="0">
                <a:solidFill>
                  <a:schemeClr val="bg1"/>
                </a:solidFill>
                <a:latin typeface="Franklin Gothic Demi Cond" pitchFamily="34" charset="0"/>
              </a:rPr>
              <a:t>(DJOKOWI)</a:t>
            </a:r>
            <a:endParaRPr lang="en-US" sz="8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27526" y="3861048"/>
            <a:ext cx="2520280" cy="1995249"/>
          </a:xfrm>
          <a:prstGeom prst="roundRect">
            <a:avLst>
              <a:gd name="adj" fmla="val 6397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SANGAT TEGAS DALAM HAL MENGAMANKAN PANCASILA SBG IDEOLOGI NEGARA :</a:t>
            </a:r>
          </a:p>
          <a:p>
            <a:pPr marL="117475" indent="-11747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PENERBITAN PERPRES NO 7 TH 2018 TTG BADAN PEMBINA IDEOLOGI PANCASILA (BPIP), UTK MENANGKAL GERAKAN RADIKAL YG BERUSAHA MENGGANTI IDEOLOGI PANCASILA DG IDEOLOGI LAIN</a:t>
            </a:r>
          </a:p>
          <a:p>
            <a:pPr marL="117475" indent="-11747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PEMBUBARAN 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BBRP ORMAS RADIKAL YG BERUSAHA MENGGANTI IDEOLOGI PANCASILA DG IDEOLOGI LAIN</a:t>
            </a:r>
          </a:p>
          <a:p>
            <a:pPr algn="just"/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21" name="Up Arrow 20"/>
          <p:cNvSpPr/>
          <p:nvPr/>
        </p:nvSpPr>
        <p:spPr>
          <a:xfrm rot="10800000">
            <a:off x="7108525" y="3573016"/>
            <a:ext cx="847851" cy="299940"/>
          </a:xfrm>
          <a:prstGeom prst="upArrow">
            <a:avLst/>
          </a:prstGeom>
          <a:solidFill>
            <a:srgbClr val="C0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122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14283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16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0" y="548680"/>
            <a:ext cx="799037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MENGGALI SUMBER  HISTORIS, SOSIOLOGIS, POLITIS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1465" y="1412776"/>
            <a:ext cx="3974631" cy="638982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4538"/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SOSIOLOGIS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marL="744538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MENJADI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IDEOLOGI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NEGARA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307968" y="1556173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2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47664" y="2963847"/>
            <a:ext cx="6513763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Ketuhanan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Maha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Esa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dapat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kehidupan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beragama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masyarakat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Indonesia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berbagai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bentuk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kepercayaan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keyakinan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terhadap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adanya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kekuatan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gaib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Kemanusiaan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Adil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Beradab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hal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saling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menghargai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menghormati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hak-hak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orang lain,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tidak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bersikap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sewenang-wenang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Persatuan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Indonesia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bentuk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solidaritas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rasa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setia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kawan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rasa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cinta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tanah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air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berwujud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pada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mencintai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produk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negeri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fi-FI" sz="1400" dirty="0" smtClean="0">
                <a:solidFill>
                  <a:srgbClr val="FFFF00"/>
                </a:solidFill>
                <a:latin typeface="Franklin Gothic Demi Cond" pitchFamily="34" charset="0"/>
              </a:rPr>
              <a:t>Sila </a:t>
            </a:r>
            <a:r>
              <a:rPr lang="fi-FI" sz="1400" dirty="0">
                <a:solidFill>
                  <a:srgbClr val="FFFF00"/>
                </a:solidFill>
                <a:latin typeface="Franklin Gothic Demi Cond" pitchFamily="34" charset="0"/>
              </a:rPr>
              <a:t>Kerakyatan yang Dipimpin oleh Hikmat Kebijaksanaan </a:t>
            </a:r>
            <a:r>
              <a:rPr lang="fi-FI" sz="1400" dirty="0" smtClean="0">
                <a:solidFill>
                  <a:srgbClr val="FFFF00"/>
                </a:solidFill>
                <a:latin typeface="Franklin Gothic Demi Cond" pitchFamily="34" charset="0"/>
              </a:rPr>
              <a:t>dalam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Permusyawaratan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/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Perwakilan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ditemukan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bentuk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menghargai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pendapat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orang lain,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semangat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musyawarah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mengambil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keputusan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Keadilan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Sosial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bagi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Seluruh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Rakyat Indonesia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tercermin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sikap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suka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menolong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menjalankan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gaya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hidup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sederhana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tidak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menyolok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atau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berlebihan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</a:p>
        </p:txBody>
      </p:sp>
      <p:sp>
        <p:nvSpPr>
          <p:cNvPr id="3" name="Oval 2"/>
          <p:cNvSpPr/>
          <p:nvPr/>
        </p:nvSpPr>
        <p:spPr>
          <a:xfrm>
            <a:off x="1507555" y="2963847"/>
            <a:ext cx="360040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515765" y="3683927"/>
            <a:ext cx="360040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523975" y="4177350"/>
            <a:ext cx="360040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532185" y="4670773"/>
            <a:ext cx="360040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540395" y="5361377"/>
            <a:ext cx="360040" cy="36004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441814" y="1470657"/>
            <a:ext cx="2880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Pancasila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sebagai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ideologi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berakar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kehidupan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masyarakat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. </a:t>
            </a:r>
          </a:p>
        </p:txBody>
      </p:sp>
      <p:sp>
        <p:nvSpPr>
          <p:cNvPr id="4" name="Down Arrow 3"/>
          <p:cNvSpPr/>
          <p:nvPr/>
        </p:nvSpPr>
        <p:spPr>
          <a:xfrm>
            <a:off x="1867594" y="1946536"/>
            <a:ext cx="1984326" cy="978408"/>
          </a:xfrm>
          <a:prstGeom prst="downArrow">
            <a:avLst>
              <a:gd name="adj1" fmla="val 77054"/>
              <a:gd name="adj2" fmla="val 39133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Unsur-unsur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sosiologis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membentuk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meliputi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hal-hal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sbb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928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17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920" y="548680"/>
            <a:ext cx="799037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MENGGALI SUMBER  HISTORIS, SOSIOLOGIS, POLITIS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5536" y="47667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C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533473" y="1484784"/>
            <a:ext cx="5198767" cy="638982"/>
          </a:xfrm>
          <a:prstGeom prst="roundRect">
            <a:avLst>
              <a:gd name="adj" fmla="val 12257"/>
            </a:avLst>
          </a:prstGeom>
          <a:solidFill>
            <a:schemeClr val="bg1">
              <a:lumMod val="95000"/>
            </a:schemeClr>
          </a:solidFill>
          <a:ln>
            <a:solidFill>
              <a:srgbClr val="6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4538"/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SUMBER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POLITIS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marL="744538"/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MENJADI </a:t>
            </a:r>
            <a:r>
              <a:rPr lang="en-US" sz="1400" dirty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IDEOLOGI </a:t>
            </a:r>
            <a:r>
              <a:rPr lang="en-US" sz="1400" dirty="0" smtClean="0">
                <a:solidFill>
                  <a:srgbClr val="600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NEGARA</a:t>
            </a:r>
            <a:endParaRPr lang="en-US" sz="1400" dirty="0">
              <a:solidFill>
                <a:srgbClr val="600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19629558">
            <a:off x="1379976" y="1628181"/>
            <a:ext cx="345848" cy="280181"/>
          </a:xfrm>
          <a:prstGeom prst="roundRect">
            <a:avLst>
              <a:gd name="adj" fmla="val 19664"/>
            </a:avLst>
          </a:prstGeom>
          <a:solidFill>
            <a:srgbClr val="600000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1400" b="1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3</a:t>
            </a:r>
            <a:endParaRPr lang="id-ID" sz="1400" b="1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1867594" y="2018544"/>
            <a:ext cx="1984326" cy="978408"/>
          </a:xfrm>
          <a:prstGeom prst="downArrow">
            <a:avLst>
              <a:gd name="adj1" fmla="val 77054"/>
              <a:gd name="adj2" fmla="val 39133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Unsur-unsur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POLITIS yang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membentuk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Pancasila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sebagai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ideologi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negara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meliputi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Franklin Gothic Demi Cond" pitchFamily="34" charset="0"/>
              </a:rPr>
              <a:t>hal-hal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  <a:latin typeface="Franklin Gothic Demi Cond" pitchFamily="34" charset="0"/>
              </a:rPr>
              <a:t>sbb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2900" y="3068960"/>
            <a:ext cx="70216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Ketuhanan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Maha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Esa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diwujudkan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bentuk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semangat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toleransi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antarumat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beragama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Kemanusiaan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Adil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Beradab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diwujudkan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penghargaan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fi-FI" sz="1400" dirty="0" smtClean="0">
                <a:solidFill>
                  <a:srgbClr val="FFFF00"/>
                </a:solidFill>
                <a:latin typeface="Franklin Gothic Demi Cond" pitchFamily="34" charset="0"/>
              </a:rPr>
              <a:t>terhadap </a:t>
            </a:r>
            <a:r>
              <a:rPr lang="fi-FI" sz="1400" dirty="0">
                <a:solidFill>
                  <a:srgbClr val="FFFF00"/>
                </a:solidFill>
                <a:latin typeface="Franklin Gothic Demi Cond" pitchFamily="34" charset="0"/>
              </a:rPr>
              <a:t>pelaksanaan Hak Asasi Manusia (HAM) di Indonesia.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it-IT" sz="1400" dirty="0" smtClean="0">
                <a:solidFill>
                  <a:schemeClr val="bg1"/>
                </a:solidFill>
                <a:latin typeface="Franklin Gothic Demi Cond" pitchFamily="34" charset="0"/>
              </a:rPr>
              <a:t>Sila </a:t>
            </a:r>
            <a:r>
              <a:rPr lang="it-IT" sz="1400" dirty="0">
                <a:solidFill>
                  <a:schemeClr val="bg1"/>
                </a:solidFill>
                <a:latin typeface="Franklin Gothic Demi Cond" pitchFamily="34" charset="0"/>
              </a:rPr>
              <a:t>Persatuan Indonesia </a:t>
            </a:r>
            <a:r>
              <a:rPr lang="it-IT" sz="1400" dirty="0">
                <a:solidFill>
                  <a:srgbClr val="FFFF00"/>
                </a:solidFill>
                <a:latin typeface="Franklin Gothic Demi Cond" pitchFamily="34" charset="0"/>
              </a:rPr>
              <a:t>diwujudkan dalam mendahulukan </a:t>
            </a:r>
            <a:r>
              <a:rPr lang="it-IT" sz="1400" dirty="0" smtClean="0">
                <a:solidFill>
                  <a:srgbClr val="FFFF00"/>
                </a:solidFill>
                <a:latin typeface="Franklin Gothic Demi Cond" pitchFamily="34" charset="0"/>
              </a:rPr>
              <a:t>kepentingan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bangsa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negara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daripada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kepentingan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kelompok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golongan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,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termasuk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partai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fi-FI" sz="1400" dirty="0" smtClean="0">
                <a:solidFill>
                  <a:schemeClr val="bg1"/>
                </a:solidFill>
                <a:latin typeface="Franklin Gothic Demi Cond" pitchFamily="34" charset="0"/>
              </a:rPr>
              <a:t>Sila </a:t>
            </a:r>
            <a:r>
              <a:rPr lang="fi-FI" sz="1400" dirty="0">
                <a:solidFill>
                  <a:schemeClr val="bg1"/>
                </a:solidFill>
                <a:latin typeface="Franklin Gothic Demi Cond" pitchFamily="34" charset="0"/>
              </a:rPr>
              <a:t>Kerakyatan yang Dipimpin oleh Hikmat Kebijaksanaan </a:t>
            </a:r>
            <a:r>
              <a:rPr lang="fi-FI" sz="1400" dirty="0" smtClean="0">
                <a:solidFill>
                  <a:schemeClr val="bg1"/>
                </a:solidFill>
                <a:latin typeface="Franklin Gothic Demi Cond" pitchFamily="34" charset="0"/>
              </a:rPr>
              <a:t>dalam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Permusyawaratan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/ </a:t>
            </a: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Perwakilan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diwujudkan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mendahulukan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pengambilan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keputusan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berdasarkan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musyawarah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daripada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voting.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 err="1" smtClean="0">
                <a:solidFill>
                  <a:schemeClr val="bg1"/>
                </a:solidFill>
                <a:latin typeface="Franklin Gothic Demi Cond" pitchFamily="34" charset="0"/>
              </a:rPr>
              <a:t>Sila</a:t>
            </a:r>
            <a:r>
              <a:rPr lang="en-US" sz="14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Keadilan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Sosial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bagi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Franklin Gothic Demi Cond" pitchFamily="34" charset="0"/>
              </a:rPr>
              <a:t>Seluruh</a:t>
            </a:r>
            <a:r>
              <a:rPr lang="en-US" sz="1400" dirty="0">
                <a:solidFill>
                  <a:schemeClr val="bg1"/>
                </a:solidFill>
                <a:latin typeface="Franklin Gothic Demi Cond" pitchFamily="34" charset="0"/>
              </a:rPr>
              <a:t> Rakyat Indonesia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diwujudkan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dalam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bentuk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tidak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menyalahgunakan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kekuasaan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(</a:t>
            </a:r>
            <a:r>
              <a:rPr lang="en-US" sz="1400" i="1" dirty="0">
                <a:solidFill>
                  <a:srgbClr val="FFFF00"/>
                </a:solidFill>
                <a:latin typeface="Franklin Gothic Demi Cond" pitchFamily="34" charset="0"/>
              </a:rPr>
              <a:t>abuse of power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)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untuk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memperkaya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diri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atau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kelompok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karena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penyalahgunaan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kekuasaan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 smtClean="0">
                <a:solidFill>
                  <a:srgbClr val="FFFF00"/>
                </a:solidFill>
                <a:latin typeface="Franklin Gothic Demi Cond" pitchFamily="34" charset="0"/>
              </a:rPr>
              <a:t>itulah</a:t>
            </a:r>
            <a:r>
              <a:rPr lang="en-US" sz="14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yang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menjadi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faktor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pemicu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terjadinya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en-US" sz="1400" dirty="0" err="1">
                <a:solidFill>
                  <a:srgbClr val="FFFF00"/>
                </a:solidFill>
                <a:latin typeface="Franklin Gothic Demi Cond" pitchFamily="34" charset="0"/>
              </a:rPr>
              <a:t>korupsi</a:t>
            </a:r>
            <a:r>
              <a:rPr lang="en-US" sz="1400" dirty="0">
                <a:solidFill>
                  <a:srgbClr val="FFFF00"/>
                </a:solidFill>
                <a:latin typeface="Franklin Gothic Demi Cond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30966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rgbClr val="0000FF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18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777" y="117445"/>
            <a:ext cx="423664" cy="359521"/>
          </a:xfrm>
          <a:prstGeom prst="roundRect">
            <a:avLst>
              <a:gd name="adj" fmla="val 19664"/>
            </a:avLst>
          </a:prstGeom>
          <a:solidFill>
            <a:srgbClr val="632A8E"/>
          </a:solidFill>
          <a:ln w="31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endParaRPr lang="id-ID" sz="10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018" y="116632"/>
            <a:ext cx="3592989" cy="360039"/>
          </a:xfrm>
          <a:prstGeom prst="roundRect">
            <a:avLst>
              <a:gd name="adj" fmla="val 12480"/>
            </a:avLst>
          </a:prstGeom>
          <a:solidFill>
            <a:srgbClr val="FFFF00"/>
          </a:solidFill>
          <a:ln w="12700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 DALAM </a:t>
            </a:r>
            <a:r>
              <a:rPr lang="en-US" sz="10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</a:t>
            </a:r>
            <a:r>
              <a:rPr lang="en-US" sz="1000" b="1" spc="150" dirty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SEJARAH BANGSA INDONESIA</a:t>
            </a:r>
            <a:endParaRPr lang="id-ID" sz="10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3" name="Down Arrow 22"/>
          <p:cNvSpPr/>
          <p:nvPr/>
        </p:nvSpPr>
        <p:spPr>
          <a:xfrm rot="16200000">
            <a:off x="5580112" y="2348881"/>
            <a:ext cx="1224136" cy="936104"/>
          </a:xfrm>
          <a:prstGeom prst="downArrow">
            <a:avLst>
              <a:gd name="adj1" fmla="val 64057"/>
              <a:gd name="adj2" fmla="val 16611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809342" y="1765122"/>
            <a:ext cx="1332148" cy="1951910"/>
          </a:xfrm>
          <a:prstGeom prst="roundRect">
            <a:avLst>
              <a:gd name="adj" fmla="val 8160"/>
            </a:avLst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1600" dirty="0" smtClean="0">
                <a:solidFill>
                  <a:srgbClr val="FFFF00"/>
                </a:solidFill>
                <a:latin typeface="Arial Black" pitchFamily="34" charset="0"/>
              </a:rPr>
              <a:t>PERT</a:t>
            </a:r>
          </a:p>
          <a:p>
            <a:pPr algn="ctr"/>
            <a:r>
              <a:rPr lang="en-US" sz="6600" dirty="0" smtClean="0">
                <a:solidFill>
                  <a:srgbClr val="FFFF00"/>
                </a:solidFill>
                <a:latin typeface="Arial Black" pitchFamily="34" charset="0"/>
              </a:rPr>
              <a:t>5</a:t>
            </a:r>
            <a:endParaRPr lang="en-US" sz="6600" b="1" dirty="0">
              <a:ln w="11430">
                <a:noFill/>
              </a:ln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99008" y="1837130"/>
            <a:ext cx="441315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DINAMIKA DAN TANTANGAN</a:t>
            </a: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87624" y="1765122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008" y="2921097"/>
            <a:ext cx="4413152" cy="795935"/>
          </a:xfrm>
          <a:prstGeom prst="roundRect">
            <a:avLst>
              <a:gd name="adj" fmla="val 14166"/>
            </a:avLst>
          </a:prstGeom>
          <a:solidFill>
            <a:srgbClr val="600000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    </a:t>
            </a:r>
            <a:r>
              <a:rPr lang="en-US" sz="2400" spc="150" dirty="0">
                <a:ln w="11430">
                  <a:noFill/>
                </a:ln>
                <a:solidFill>
                  <a:srgbClr val="A161D1"/>
                </a:solidFill>
                <a:latin typeface="Franklin Gothic Demi Cond" pitchFamily="34" charset="0"/>
              </a:rPr>
              <a:t>ESENSI DAN URGENSI </a:t>
            </a:r>
            <a:endParaRPr lang="en-US" sz="2400" b="1" spc="150" dirty="0" smtClean="0">
              <a:ln w="11430">
                <a:solidFill>
                  <a:srgbClr val="A161D1"/>
                </a:solidFill>
              </a:ln>
              <a:solidFill>
                <a:srgbClr val="A161D1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  <a:p>
            <a:pPr algn="ctr"/>
            <a:r>
              <a:rPr lang="en-US" sz="2400" b="1" spc="150" dirty="0" smtClean="0">
                <a:ln w="11430">
                  <a:solidFill>
                    <a:srgbClr val="A161D1"/>
                  </a:solidFill>
                </a:ln>
                <a:solidFill>
                  <a:srgbClr val="A161D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 </a:t>
            </a:r>
            <a:r>
              <a:rPr lang="fi-FI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PANCASILA </a:t>
            </a:r>
            <a:r>
              <a:rPr lang="en-US" sz="1400" spc="150" dirty="0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Bernard MT Condensed" pitchFamily="18" charset="0"/>
              </a:rPr>
              <a:t>MENJADI IDEOLOGI NEGARA</a:t>
            </a:r>
            <a:endParaRPr lang="id-ID" sz="1400" spc="150" dirty="0">
              <a:ln w="11430">
                <a:solidFill>
                  <a:schemeClr val="bg1"/>
                </a:solidFill>
              </a:ln>
              <a:solidFill>
                <a:schemeClr val="bg1"/>
              </a:solidFill>
              <a:latin typeface="Bernard MT Condensed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7624" y="2849089"/>
            <a:ext cx="781757" cy="792088"/>
          </a:xfrm>
          <a:prstGeom prst="roundRect">
            <a:avLst/>
          </a:prstGeom>
          <a:ln w="28575">
            <a:solidFill>
              <a:srgbClr val="6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6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E</a:t>
            </a:r>
            <a:endParaRPr lang="en-US" sz="3600" b="1" spc="50" dirty="0">
              <a:ln w="11430"/>
              <a:solidFill>
                <a:srgbClr val="6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62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10852</TotalTime>
  <Words>2173</Words>
  <Application>Microsoft Office PowerPoint</Application>
  <PresentationFormat>On-screen Show (4:3)</PresentationFormat>
  <Paragraphs>322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1017</cp:revision>
  <cp:lastPrinted>2019-08-05T16:04:30Z</cp:lastPrinted>
  <dcterms:created xsi:type="dcterms:W3CDTF">2017-12-16T16:52:32Z</dcterms:created>
  <dcterms:modified xsi:type="dcterms:W3CDTF">2021-10-18T05:01:29Z</dcterms:modified>
</cp:coreProperties>
</file>