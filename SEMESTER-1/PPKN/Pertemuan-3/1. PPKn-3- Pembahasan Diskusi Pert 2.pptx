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97" r:id="rId2"/>
    <p:sldId id="298" r:id="rId3"/>
    <p:sldId id="306" r:id="rId4"/>
  </p:sldIdLst>
  <p:sldSz cx="9144000" cy="6858000" type="screen4x3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0147"/>
    <a:srgbClr val="070262"/>
    <a:srgbClr val="7F0303"/>
    <a:srgbClr val="0B03A9"/>
    <a:srgbClr val="004620"/>
    <a:srgbClr val="00602B"/>
    <a:srgbClr val="A40000"/>
    <a:srgbClr val="05014F"/>
    <a:srgbClr val="3F35FD"/>
    <a:srgbClr val="8439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35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7676E8-B5E8-4454-87C0-1FA68BBFFE09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2975" y="746125"/>
            <a:ext cx="4972050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400"/>
            <a:ext cx="5486400" cy="44751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7213"/>
            <a:ext cx="29718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7213"/>
            <a:ext cx="29718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ECBB2-9D7F-48D4-9DEC-3A19FA00D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33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3</a:t>
            </a:fld>
            <a:endParaRPr lang="en-US" altLang="id-ID" dirty="0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223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3971-5BE3-4C81-8DEE-78ACBF072F09}" type="datetimeFigureOut">
              <a:rPr lang="en-US" smtClean="0"/>
              <a:pPr/>
              <a:t>10/11/2021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3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33971-5BE3-4C81-8DEE-78ACBF072F09}" type="datetimeFigureOut">
              <a:rPr lang="en-US" smtClean="0"/>
              <a:pPr/>
              <a:t>10/11/2021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C288E-F2FB-4262-81E5-965614F2797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4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1" name="Frame 10"/>
          <p:cNvSpPr/>
          <p:nvPr/>
        </p:nvSpPr>
        <p:spPr>
          <a:xfrm>
            <a:off x="415718" y="188640"/>
            <a:ext cx="8286808" cy="2143140"/>
          </a:xfrm>
          <a:prstGeom prst="frame">
            <a:avLst>
              <a:gd name="adj1" fmla="val 1837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ln w="9525">
                <a:solidFill>
                  <a:schemeClr val="tx1"/>
                </a:solidFill>
              </a:ln>
              <a:solidFill>
                <a:schemeClr val="tx1"/>
              </a:solidFill>
              <a:latin typeface="Arial Narrow" pitchFamily="34" charset="0"/>
              <a:cs typeface="Arial" charset="0"/>
            </a:endParaRPr>
          </a:p>
        </p:txBody>
      </p:sp>
      <p:sp>
        <p:nvSpPr>
          <p:cNvPr id="28" name="Rounded Rectangle 27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id-ID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3" name="Frame 32"/>
          <p:cNvSpPr/>
          <p:nvPr/>
        </p:nvSpPr>
        <p:spPr>
          <a:xfrm>
            <a:off x="421294" y="2636912"/>
            <a:ext cx="8286808" cy="3785933"/>
          </a:xfrm>
          <a:prstGeom prst="frame">
            <a:avLst>
              <a:gd name="adj1" fmla="val 1191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latin typeface="Arial Narrow" pitchFamily="34" charset="0"/>
              <a:cs typeface="Arial" charset="0"/>
            </a:endParaRPr>
          </a:p>
        </p:txBody>
      </p:sp>
      <p:sp>
        <p:nvSpPr>
          <p:cNvPr id="29" name="WordArt 2"/>
          <p:cNvSpPr>
            <a:spLocks noChangeArrowheads="1" noChangeShapeType="1" noTextEdit="1"/>
          </p:cNvSpPr>
          <p:nvPr/>
        </p:nvSpPr>
        <p:spPr bwMode="auto">
          <a:xfrm>
            <a:off x="899592" y="3212976"/>
            <a:ext cx="7344816" cy="115212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1430">
                  <a:solidFill>
                    <a:srgbClr val="FFC000"/>
                  </a:solidFill>
                </a:ln>
                <a:solidFill>
                  <a:srgbClr val="461F63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Stencil" pitchFamily="82" charset="0"/>
              </a:rPr>
              <a:t>PPKN</a:t>
            </a:r>
            <a:endParaRPr lang="en-US" sz="3600" b="1" kern="10" dirty="0">
              <a:ln w="11430">
                <a:solidFill>
                  <a:srgbClr val="FFC000"/>
                </a:solidFill>
              </a:ln>
              <a:solidFill>
                <a:srgbClr val="461F63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Stencil" pitchFamily="82" charset="0"/>
            </a:endParaRPr>
          </a:p>
        </p:txBody>
      </p:sp>
      <p:sp>
        <p:nvSpPr>
          <p:cNvPr id="34" name="WordArt 2"/>
          <p:cNvSpPr>
            <a:spLocks noChangeArrowheads="1" noChangeShapeType="1" noTextEdit="1"/>
          </p:cNvSpPr>
          <p:nvPr/>
        </p:nvSpPr>
        <p:spPr bwMode="auto">
          <a:xfrm>
            <a:off x="899592" y="4488860"/>
            <a:ext cx="7344816" cy="3803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0"/>
            <a:r>
              <a:rPr lang="id-ID" sz="3600" b="1" kern="10" spc="0" dirty="0" smtClean="0">
                <a:ln w="28575">
                  <a:noFill/>
                  <a:round/>
                  <a:headEnd/>
                  <a:tailEnd/>
                </a:ln>
                <a:solidFill>
                  <a:srgbClr val="FFC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Pendidikan Pancasila dan Kewarganegaraan</a:t>
            </a:r>
            <a:endParaRPr lang="en-US" sz="3600" b="1" kern="10" spc="0" dirty="0">
              <a:ln w="28575">
                <a:noFill/>
                <a:round/>
                <a:headEnd/>
                <a:tailEnd/>
              </a:ln>
              <a:solidFill>
                <a:srgbClr val="FFC000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411760" y="4797152"/>
            <a:ext cx="4280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>
                <a:solidFill>
                  <a:srgbClr val="B888DC"/>
                </a:solidFill>
                <a:latin typeface="Franklin Gothic Demi Cond" pitchFamily="34" charset="0"/>
              </a:rPr>
              <a:t>Tahun Akademik 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20</a:t>
            </a:r>
            <a:r>
              <a:rPr lang="en-US" dirty="0" smtClean="0">
                <a:solidFill>
                  <a:srgbClr val="B888DC"/>
                </a:solidFill>
                <a:latin typeface="Franklin Gothic Demi Cond" pitchFamily="34" charset="0"/>
              </a:rPr>
              <a:t>21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/202</a:t>
            </a:r>
            <a:r>
              <a:rPr lang="en-US" dirty="0" smtClean="0">
                <a:solidFill>
                  <a:srgbClr val="B888DC"/>
                </a:solidFill>
                <a:latin typeface="Franklin Gothic Demi Cond" pitchFamily="34" charset="0"/>
              </a:rPr>
              <a:t>2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 </a:t>
            </a:r>
            <a:r>
              <a:rPr lang="id-ID" dirty="0">
                <a:solidFill>
                  <a:srgbClr val="B888DC"/>
                </a:solidFill>
                <a:latin typeface="Franklin Gothic Demi Cond" pitchFamily="34" charset="0"/>
              </a:rPr>
              <a:t>Semester Ganjil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341"/>
          <a:stretch/>
        </p:blipFill>
        <p:spPr bwMode="auto">
          <a:xfrm>
            <a:off x="2970972" y="576066"/>
            <a:ext cx="3185204" cy="235820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5842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188641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2</a:t>
            </a: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41" name="WordArt 2"/>
          <p:cNvSpPr>
            <a:spLocks noChangeArrowheads="1" noChangeShapeType="1" noTextEdit="1"/>
          </p:cNvSpPr>
          <p:nvPr/>
        </p:nvSpPr>
        <p:spPr bwMode="auto">
          <a:xfrm>
            <a:off x="1763686" y="2348880"/>
            <a:ext cx="4464498" cy="90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9050">
                  <a:solidFill>
                    <a:srgbClr val="FFFF00"/>
                  </a:solidFill>
                </a:ln>
                <a:solidFill>
                  <a:srgbClr val="421C5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Stencil" pitchFamily="82" charset="0"/>
              </a:rPr>
              <a:t>PPKN</a:t>
            </a:r>
            <a:endParaRPr lang="en-US" sz="3600" b="1" kern="10" dirty="0">
              <a:ln w="19050">
                <a:solidFill>
                  <a:srgbClr val="FFFF00"/>
                </a:solidFill>
              </a:ln>
              <a:solidFill>
                <a:srgbClr val="421C5E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Stencil" pitchFamily="82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763686" y="3429000"/>
            <a:ext cx="4618674" cy="0"/>
          </a:xfrm>
          <a:prstGeom prst="line">
            <a:avLst/>
          </a:prstGeom>
          <a:ln w="381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/>
          <p:cNvSpPr/>
          <p:nvPr/>
        </p:nvSpPr>
        <p:spPr>
          <a:xfrm>
            <a:off x="6382360" y="2151808"/>
            <a:ext cx="1224136" cy="1421208"/>
          </a:xfrm>
          <a:prstGeom prst="roundRect">
            <a:avLst>
              <a:gd name="adj" fmla="val 8621"/>
            </a:avLst>
          </a:prstGeom>
          <a:solidFill>
            <a:srgbClr val="421C5E"/>
          </a:solidFill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WordArt 2"/>
          <p:cNvSpPr>
            <a:spLocks noChangeArrowheads="1" noChangeShapeType="1" noTextEdit="1"/>
          </p:cNvSpPr>
          <p:nvPr/>
        </p:nvSpPr>
        <p:spPr bwMode="auto">
          <a:xfrm>
            <a:off x="6550320" y="2348880"/>
            <a:ext cx="902000" cy="16296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P</a:t>
            </a:r>
            <a:r>
              <a:rPr lang="en-US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ERTEMUAN</a:t>
            </a:r>
            <a:endParaRPr lang="en-US" sz="3600" b="1" kern="1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WordArt 2"/>
          <p:cNvSpPr>
            <a:spLocks noChangeArrowheads="1" noChangeShapeType="1" noTextEdit="1"/>
          </p:cNvSpPr>
          <p:nvPr/>
        </p:nvSpPr>
        <p:spPr bwMode="auto">
          <a:xfrm>
            <a:off x="6550320" y="2564904"/>
            <a:ext cx="902000" cy="6860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en-US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nard MT Condensed" pitchFamily="18" charset="0"/>
              </a:rPr>
              <a:t>3</a:t>
            </a:r>
            <a:endParaRPr lang="en-US" sz="3600" b="1" kern="1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Bernard MT Condensed" pitchFamily="18" charset="0"/>
            </a:endParaRPr>
          </a:p>
        </p:txBody>
      </p:sp>
      <p:pic>
        <p:nvPicPr>
          <p:cNvPr id="19" name="Picture 37" descr="garud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07904" y="453404"/>
            <a:ext cx="1656184" cy="1769461"/>
          </a:xfrm>
          <a:prstGeom prst="rect">
            <a:avLst/>
          </a:prstGeom>
          <a:solidFill>
            <a:srgbClr val="FF3300"/>
          </a:solidFill>
          <a:ln w="38100">
            <a:solidFill>
              <a:srgbClr val="FF33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slope"/>
          </a:sp3d>
        </p:spPr>
      </p:pic>
    </p:spTree>
    <p:extLst>
      <p:ext uri="{BB962C8B-B14F-4D97-AF65-F5344CB8AC3E}">
        <p14:creationId xmlns:p14="http://schemas.microsoft.com/office/powerpoint/2010/main" val="1563952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 dirty="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37" name="Rounded Rectangle 3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 flipH="1">
            <a:off x="784629" y="1230811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en-US" sz="24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1</a:t>
            </a:r>
            <a:endParaRPr lang="id-ID" altLang="en-US" sz="24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230579" y="1052736"/>
            <a:ext cx="6816917" cy="576064"/>
          </a:xfrm>
          <a:prstGeom prst="roundRect">
            <a:avLst>
              <a:gd name="adj" fmla="val 5440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t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/>
            <a:r>
              <a:rPr lang="en-US" sz="1200" dirty="0" smtClean="0">
                <a:solidFill>
                  <a:srgbClr val="FF0000"/>
                </a:solidFill>
                <a:latin typeface="Franklin Gothic Demi Cond" pitchFamily="34" charset="0"/>
              </a:rPr>
              <a:t>TEMUKAN  MINIMAL  </a:t>
            </a:r>
            <a:r>
              <a:rPr lang="en-US" dirty="0" smtClean="0">
                <a:solidFill>
                  <a:srgbClr val="0000FF"/>
                </a:solidFill>
                <a:latin typeface="Franklin Gothic Demi Cond" pitchFamily="34" charset="0"/>
              </a:rPr>
              <a:t>5</a:t>
            </a:r>
            <a:r>
              <a:rPr lang="en-US" sz="1200" dirty="0" smtClean="0">
                <a:solidFill>
                  <a:srgbClr val="FF0000"/>
                </a:solidFill>
                <a:latin typeface="Franklin Gothic Demi Cond" pitchFamily="34" charset="0"/>
              </a:rPr>
              <a:t>   TANTANGAN  TERHADAP PANCASILA TERSEBUT DAN BERI PENJELASAN SINGKAT TERKAIT MASING </a:t>
            </a:r>
            <a:r>
              <a:rPr lang="en-US" sz="1200" dirty="0" err="1" smtClean="0">
                <a:solidFill>
                  <a:srgbClr val="FF0000"/>
                </a:solidFill>
                <a:latin typeface="Franklin Gothic Demi Cond" pitchFamily="34" charset="0"/>
              </a:rPr>
              <a:t>MASING</a:t>
            </a:r>
            <a:r>
              <a:rPr lang="en-US" sz="1200" dirty="0" smtClean="0">
                <a:solidFill>
                  <a:srgbClr val="FF0000"/>
                </a:solidFill>
                <a:latin typeface="Franklin Gothic Demi Cond" pitchFamily="34" charset="0"/>
              </a:rPr>
              <a:t> TANTANGAN  YANG ANDA TEMUKAN !!! </a:t>
            </a:r>
          </a:p>
          <a:p>
            <a:pPr algn="just"/>
            <a:endParaRPr lang="en-US" sz="1200" dirty="0" smtClean="0">
              <a:solidFill>
                <a:srgbClr val="FF0000"/>
              </a:solidFill>
              <a:latin typeface="Franklin Gothic Demi Cond" pitchFamily="34" charset="0"/>
            </a:endParaRPr>
          </a:p>
          <a:p>
            <a:pPr algn="just"/>
            <a:endParaRPr lang="id-ID" sz="1200" dirty="0">
              <a:solidFill>
                <a:srgbClr val="0000FF"/>
              </a:solidFill>
              <a:latin typeface="Franklin Gothic Demi Cond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15616" y="1700808"/>
            <a:ext cx="7673195" cy="216024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u="sng" dirty="0" smtClean="0">
                <a:solidFill>
                  <a:schemeClr val="tx1"/>
                </a:solidFill>
              </a:rPr>
              <a:t>PEMBAHASAN</a:t>
            </a:r>
          </a:p>
          <a:p>
            <a:r>
              <a:rPr lang="en-US" sz="1200" dirty="0" smtClean="0">
                <a:solidFill>
                  <a:schemeClr val="tx1"/>
                </a:solidFill>
              </a:rPr>
              <a:t>JAWABAN MERUPAKAN JAWABAN TERBUKA DALAM PENGERTIAN JAWABAN BISA BERAGAM DAN TIDAK HARUS SAMA; TETAPI SEBAGAI PANDUAN ANDA BISA MENEMUKAN/MENGAMBIL JAWABAN DARI PERISTIWA/GERAKAN, PENDAPAT/ OPINI, TUNTUTAN DENGAN ARAH </a:t>
            </a:r>
            <a:r>
              <a:rPr lang="en-US" sz="1200" dirty="0" err="1" smtClean="0">
                <a:solidFill>
                  <a:schemeClr val="tx1"/>
                </a:solidFill>
              </a:rPr>
              <a:t>antara</a:t>
            </a:r>
            <a:r>
              <a:rPr lang="en-US" sz="1200" dirty="0" smtClean="0">
                <a:solidFill>
                  <a:schemeClr val="tx1"/>
                </a:solidFill>
              </a:rPr>
              <a:t> lain :</a:t>
            </a:r>
          </a:p>
          <a:p>
            <a:pPr>
              <a:tabLst>
                <a:tab pos="282575" algn="l"/>
              </a:tabLst>
            </a:pPr>
            <a:r>
              <a:rPr lang="en-US" sz="1200" dirty="0" smtClean="0">
                <a:solidFill>
                  <a:schemeClr val="tx1"/>
                </a:solidFill>
              </a:rPr>
              <a:t>1. 	AKAN MENGGANTI PANCASILA SEBAGAI DASAR NEGARA SECARA UTUH</a:t>
            </a:r>
          </a:p>
          <a:p>
            <a:pPr>
              <a:tabLst>
                <a:tab pos="282575" algn="l"/>
              </a:tabLst>
            </a:pPr>
            <a:r>
              <a:rPr lang="en-US" sz="1200" dirty="0" smtClean="0">
                <a:solidFill>
                  <a:schemeClr val="tx1"/>
                </a:solidFill>
              </a:rPr>
              <a:t>2.	AKAN MENGGANTI SEBAGIAN DARI SILA </a:t>
            </a:r>
            <a:r>
              <a:rPr lang="en-US" sz="1200" dirty="0" err="1" smtClean="0">
                <a:solidFill>
                  <a:schemeClr val="tx1"/>
                </a:solidFill>
              </a:rPr>
              <a:t>SILA</a:t>
            </a:r>
            <a:r>
              <a:rPr lang="en-US" sz="1200" dirty="0" smtClean="0">
                <a:solidFill>
                  <a:schemeClr val="tx1"/>
                </a:solidFill>
              </a:rPr>
              <a:t> PANCASILA</a:t>
            </a:r>
          </a:p>
          <a:p>
            <a:pPr>
              <a:tabLst>
                <a:tab pos="282575" algn="l"/>
              </a:tabLst>
            </a:pPr>
            <a:r>
              <a:rPr lang="en-US" sz="1200" dirty="0" smtClean="0">
                <a:solidFill>
                  <a:schemeClr val="tx1"/>
                </a:solidFill>
              </a:rPr>
              <a:t>3.	AKAN MERUSAK KERUKUNAN KEHIDUPAN UMAT BERAGAMA</a:t>
            </a:r>
          </a:p>
          <a:p>
            <a:pPr>
              <a:tabLst>
                <a:tab pos="282575" algn="l"/>
              </a:tabLst>
            </a:pPr>
            <a:r>
              <a:rPr lang="en-US" sz="1200" dirty="0" smtClean="0">
                <a:solidFill>
                  <a:schemeClr val="tx1"/>
                </a:solidFill>
              </a:rPr>
              <a:t>4.	AKAN MEMECAH BELAH PERSATUAN BANGSA</a:t>
            </a:r>
          </a:p>
          <a:p>
            <a:pPr>
              <a:tabLst>
                <a:tab pos="282575" algn="l"/>
              </a:tabLst>
            </a:pPr>
            <a:r>
              <a:rPr lang="en-US" sz="1200" dirty="0" smtClean="0">
                <a:solidFill>
                  <a:schemeClr val="tx1"/>
                </a:solidFill>
              </a:rPr>
              <a:t>5.	AKAN MEMISAHKAN DIRI DARI WILAYAH NKRI</a:t>
            </a:r>
          </a:p>
          <a:p>
            <a:pPr marL="228600" indent="-228600">
              <a:buAutoNum type="arabicPeriod" startAt="6"/>
              <a:tabLst>
                <a:tab pos="282575" algn="l"/>
              </a:tabLst>
            </a:pPr>
            <a:r>
              <a:rPr lang="en-US" sz="1200" dirty="0" smtClean="0">
                <a:solidFill>
                  <a:schemeClr val="tx1"/>
                </a:solidFill>
              </a:rPr>
              <a:t>MENGGIRING PELANGGARAN TERHADAP PERATURAN PERUNDANG UNDANGAN (KONSTITUSI)</a:t>
            </a:r>
          </a:p>
          <a:p>
            <a:pPr>
              <a:tabLst>
                <a:tab pos="282575" algn="l"/>
              </a:tabLst>
            </a:pPr>
            <a:r>
              <a:rPr lang="en-US" sz="1200" dirty="0" smtClean="0">
                <a:solidFill>
                  <a:schemeClr val="tx1"/>
                </a:solidFill>
              </a:rPr>
              <a:t>DLL</a:t>
            </a:r>
          </a:p>
          <a:p>
            <a:pPr>
              <a:tabLst>
                <a:tab pos="282575" algn="l"/>
              </a:tabLs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283742" y="3885917"/>
            <a:ext cx="7608737" cy="686021"/>
          </a:xfrm>
          <a:prstGeom prst="roundRect">
            <a:avLst>
              <a:gd name="adj" fmla="val 5440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t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/>
            <a:r>
              <a:rPr lang="en-US" sz="1200" dirty="0" smtClean="0">
                <a:solidFill>
                  <a:srgbClr val="0000FF"/>
                </a:solidFill>
                <a:latin typeface="Franklin Gothic Demi Cond" pitchFamily="34" charset="0"/>
              </a:rPr>
              <a:t>MENURUT PENDAPAT ANDA ( JELASKAN SECARA SINGKAT )</a:t>
            </a:r>
          </a:p>
          <a:p>
            <a:pPr algn="just"/>
            <a:r>
              <a:rPr lang="en-US" sz="1200" dirty="0" smtClean="0">
                <a:solidFill>
                  <a:srgbClr val="FF0000"/>
                </a:solidFill>
                <a:latin typeface="Franklin Gothic Demi Cond" pitchFamily="34" charset="0"/>
              </a:rPr>
              <a:t>APA ALASAN PARA TOKOH PENDIRI NEGARA INI  MERUBAH  PANCASILA YANG DISYAHKAN SEBAGAI DASAR NEGARA  DARI PANCASILA YANG DISUSUN  DI SIDANG BPUPKI II ATAU YANG TERDAPAT PADA PIAGAM JAKARTA ????</a:t>
            </a:r>
          </a:p>
          <a:p>
            <a:pPr algn="just"/>
            <a:endParaRPr lang="en-US" sz="1200" dirty="0" smtClean="0">
              <a:solidFill>
                <a:srgbClr val="FF0000"/>
              </a:solidFill>
              <a:latin typeface="Franklin Gothic Demi Cond" pitchFamily="34" charset="0"/>
            </a:endParaRPr>
          </a:p>
          <a:p>
            <a:pPr algn="just"/>
            <a:endParaRPr lang="id-ID" sz="1200" dirty="0">
              <a:solidFill>
                <a:srgbClr val="0000FF"/>
              </a:solidFill>
              <a:latin typeface="Franklin Gothic Demi Cond" pitchFamily="34" charset="0"/>
            </a:endParaRPr>
          </a:p>
        </p:txBody>
      </p:sp>
      <p:sp>
        <p:nvSpPr>
          <p:cNvPr id="20" name="Oval 19"/>
          <p:cNvSpPr/>
          <p:nvPr/>
        </p:nvSpPr>
        <p:spPr>
          <a:xfrm flipH="1">
            <a:off x="827584" y="4029933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en-US" sz="24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2</a:t>
            </a:r>
            <a:endParaRPr lang="id-ID" altLang="en-US" sz="24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15616" y="4571938"/>
            <a:ext cx="7673195" cy="187220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PEMBAHASAN</a:t>
            </a:r>
          </a:p>
          <a:p>
            <a:r>
              <a:rPr lang="en-US" sz="1200" dirty="0" smtClean="0">
                <a:solidFill>
                  <a:schemeClr val="tx1"/>
                </a:solidFill>
              </a:rPr>
              <a:t>JAWABAN MERUPAKAN JAWABAN TERBUKA DALAM PENGERTIAN JAWABAN BISA BERAGAM DAN TIDAK HARUS SAMA; TETAPI SEBAGAI PANDUAN ANDA, </a:t>
            </a:r>
            <a:r>
              <a:rPr lang="en-US" sz="1200" dirty="0" err="1" smtClean="0">
                <a:solidFill>
                  <a:schemeClr val="tx1"/>
                </a:solidFill>
              </a:rPr>
              <a:t>ARAHnya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sebagai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berikut</a:t>
            </a:r>
            <a:r>
              <a:rPr lang="en-US" sz="1200" dirty="0" smtClean="0">
                <a:solidFill>
                  <a:schemeClr val="tx1"/>
                </a:solidFill>
              </a:rPr>
              <a:t> :</a:t>
            </a:r>
          </a:p>
          <a:p>
            <a:pPr marL="282575" indent="-282575">
              <a:tabLst>
                <a:tab pos="282575" algn="l"/>
              </a:tabLst>
            </a:pPr>
            <a:r>
              <a:rPr lang="en-US" sz="1200" dirty="0" smtClean="0">
                <a:solidFill>
                  <a:schemeClr val="tx1"/>
                </a:solidFill>
              </a:rPr>
              <a:t>1. 	PARA PENDIRI BANGSA MEMPUNYAI TOLERANSI  YANG TINGGI TERHADAP FAKTA ADANYA KEBERAGAMAN 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smtClean="0">
                <a:solidFill>
                  <a:schemeClr val="tx1"/>
                </a:solidFill>
              </a:rPr>
              <a:t>DI INDONESIA ( KEBERAGAMAN, SUKU, AGAMA, ADAT ISTIADAT, BUDAYA, BAHASA DST), BAIK SAAT ITU, SAAT INI, MAUPUN SAAT NANTI.</a:t>
            </a:r>
          </a:p>
          <a:p>
            <a:pPr marL="282575" indent="-282575">
              <a:buAutoNum type="arabicPeriod" startAt="2"/>
              <a:tabLst>
                <a:tab pos="282575" algn="l"/>
              </a:tabLst>
            </a:pPr>
            <a:r>
              <a:rPr lang="en-US" sz="1200" dirty="0" smtClean="0">
                <a:solidFill>
                  <a:schemeClr val="tx1"/>
                </a:solidFill>
              </a:rPr>
              <a:t>PARA PENDIRI BANGSA MENYADARI DAN MENGHARGAI  ANDIL SELURUH ELEMEN BANGSA YANG BERAGAM TERSEBUT TERHADAP TERCAPAINYA KEMERDEKAAN DAN BERDIRINYA NEGARA.</a:t>
            </a:r>
          </a:p>
          <a:p>
            <a:pPr>
              <a:tabLst>
                <a:tab pos="282575" algn="l"/>
              </a:tabLst>
            </a:pPr>
            <a:r>
              <a:rPr lang="en-US" sz="1200" dirty="0" smtClean="0">
                <a:solidFill>
                  <a:schemeClr val="tx1"/>
                </a:solidFill>
              </a:rPr>
              <a:t>DARI HAL TERSEBUT DIATAS  KEMUDIAN  TERCAPAI PERSATUAN DAN KESATUAN BANGSA DAN NEGARA</a:t>
            </a:r>
          </a:p>
          <a:p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14" name="Picture 2" descr="Makna Lambang Garuda Pancasil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6" r="3362"/>
          <a:stretch/>
        </p:blipFill>
        <p:spPr bwMode="auto">
          <a:xfrm>
            <a:off x="179512" y="404664"/>
            <a:ext cx="694934" cy="576064"/>
          </a:xfrm>
          <a:prstGeom prst="roundRect">
            <a:avLst>
              <a:gd name="adj" fmla="val 4282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ounded Rectangle 14"/>
          <p:cNvSpPr/>
          <p:nvPr/>
        </p:nvSpPr>
        <p:spPr>
          <a:xfrm>
            <a:off x="1525449" y="267212"/>
            <a:ext cx="5854863" cy="504056"/>
          </a:xfrm>
          <a:prstGeom prst="roundRect">
            <a:avLst>
              <a:gd name="adj" fmla="val 1416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PEMBAHASAN DISKUSI </a:t>
            </a:r>
            <a:r>
              <a:rPr lang="en-US" sz="20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pert. </a:t>
            </a:r>
            <a:r>
              <a:rPr lang="en-US" sz="20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2 </a:t>
            </a:r>
            <a:r>
              <a:rPr lang="en-US" sz="20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:  </a:t>
            </a:r>
            <a:r>
              <a:rPr lang="en-US" sz="1400" spc="50" dirty="0" smtClean="0">
                <a:ln w="11430">
                  <a:noFill/>
                </a:ln>
                <a:solidFill>
                  <a:srgbClr val="C00000"/>
                </a:solidFill>
                <a:latin typeface="Franklin Gothic Demi Cond" pitchFamily="34" charset="0"/>
              </a:rPr>
              <a:t>PANCASILA</a:t>
            </a:r>
            <a:endParaRPr lang="en-US" sz="1600" spc="50" dirty="0">
              <a:ln w="11430">
                <a:noFill/>
              </a:ln>
              <a:solidFill>
                <a:srgbClr val="C00000"/>
              </a:solidFill>
              <a:latin typeface="Franklin Gothic Demi Cond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 flipH="1">
            <a:off x="1134265" y="267212"/>
            <a:ext cx="402995" cy="711024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374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5" grpId="0"/>
      <p:bldP spid="19" grpId="0"/>
      <p:bldP spid="20" grpId="0" animBg="1"/>
      <p:bldP spid="1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2605</TotalTime>
  <Words>149</Words>
  <Application>Microsoft Office PowerPoint</Application>
  <PresentationFormat>On-screen Show (4:3)</PresentationFormat>
  <Paragraphs>30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aa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</dc:creator>
  <cp:lastModifiedBy>tantular</cp:lastModifiedBy>
  <cp:revision>167</cp:revision>
  <dcterms:created xsi:type="dcterms:W3CDTF">2012-12-14T01:57:49Z</dcterms:created>
  <dcterms:modified xsi:type="dcterms:W3CDTF">2021-10-11T05:12:24Z</dcterms:modified>
</cp:coreProperties>
</file>