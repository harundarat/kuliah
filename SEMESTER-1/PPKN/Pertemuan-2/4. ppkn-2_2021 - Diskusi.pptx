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379" r:id="rId2"/>
    <p:sldId id="515" r:id="rId3"/>
    <p:sldId id="482" r:id="rId4"/>
    <p:sldId id="562" r:id="rId5"/>
    <p:sldId id="561" r:id="rId6"/>
  </p:sldIdLst>
  <p:sldSz cx="9144000" cy="6858000" type="screen4x3"/>
  <p:notesSz cx="6858000" cy="99456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00000"/>
    <a:srgbClr val="8B8BFF"/>
    <a:srgbClr val="A161D1"/>
    <a:srgbClr val="632A8E"/>
    <a:srgbClr val="3D3923"/>
    <a:srgbClr val="005024"/>
    <a:srgbClr val="39471D"/>
    <a:srgbClr val="210E30"/>
    <a:srgbClr val="421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73" autoAdjust="0"/>
    <p:restoredTop sz="48403" autoAdjust="0"/>
  </p:normalViewPr>
  <p:slideViewPr>
    <p:cSldViewPr>
      <p:cViewPr>
        <p:scale>
          <a:sx n="90" d="100"/>
          <a:sy n="90" d="100"/>
        </p:scale>
        <p:origin x="-684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CD72A1E-A15A-4353-B246-653D9C25F163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5625"/>
            <a:ext cx="2971800" cy="4984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5C1E8C60-3F71-421E-A4EE-424BF4405625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000016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E1AFF8A-3052-4760-8568-6E84C042C774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746125"/>
            <a:ext cx="4975225" cy="3730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24400"/>
            <a:ext cx="5486400" cy="4475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7213"/>
            <a:ext cx="29718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37130AD5-259B-40C9-978B-C5B432313C84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178569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4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d-ID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6EFD006F-BA2B-4036-9983-0DB916E9F0FA}" type="slidenum">
              <a:rPr lang="en-US" altLang="id-ID" smtClean="0">
                <a:latin typeface="Calibri" pitchFamily="34" charset="0"/>
              </a:rPr>
              <a:pPr/>
              <a:t>5</a:t>
            </a:fld>
            <a:endParaRPr lang="en-US" altLang="id-ID" dirty="0" smtClean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22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45937-C7CA-4F43-83BE-69F46718CB3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FF348-963D-4164-9152-D65B6290086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932135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8CFFF-BF18-47CE-8FE0-29A8CF424B5E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0A8C3A-1E2B-4E8A-BD92-C6787644AFA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4868476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895BA-9421-45D5-B610-B6A27539BE30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8B6A2-E6F9-40CD-B31D-2A7ACBE02886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57812346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54B61-BE65-4A35-9BD9-BBA2DBF74D4C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5D5430-D0C4-41B6-9ABA-03BFFAC83227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7987999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092A6-F8B3-4094-8B0A-3B3956C86E71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CA513-7E7B-4F4D-9947-33236A2C497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3438672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BFEFC-794E-47BB-9E24-34139C148C0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4BA47-9E02-415B-94B8-78D7CDF49CF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53420375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7CCD9-9E09-4C0E-A910-0406E3B646DE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7B9C7D-CD75-47CA-A688-C20D95AB6A2F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7893534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3CEAF-6C76-4AAD-8E10-CB64E678BE4D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5C468-A786-43D6-9722-840F1A28811D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7837920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32EE35-9C35-4128-84DF-222ED950306D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9A7B2-7899-4D89-B82A-224B7D606073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959082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9A5354-BF8A-4B40-8A86-2AA70411B717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61A0B-C309-46D2-AF15-045986B03DAC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100659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EF8C53-3D6C-476B-88E9-E76080626783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3657B-1F74-49FD-A38F-CD3CAD54FE78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794334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chemeClr val="bg2">
              <a:lumMod val="75000"/>
            </a:schemeClr>
          </a:fgClr>
          <a:bgClr>
            <a:schemeClr val="bg2">
              <a:lumMod val="1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 smtClean="0"/>
              <a:t>Click to edit Master text styles</a:t>
            </a:r>
          </a:p>
          <a:p>
            <a:pPr lvl="1"/>
            <a:r>
              <a:rPr lang="en-US" altLang="id-ID" smtClean="0"/>
              <a:t>Second level</a:t>
            </a:r>
          </a:p>
          <a:p>
            <a:pPr lvl="2"/>
            <a:r>
              <a:rPr lang="en-US" altLang="id-ID" smtClean="0"/>
              <a:t>Third level</a:t>
            </a:r>
          </a:p>
          <a:p>
            <a:pPr lvl="3"/>
            <a:r>
              <a:rPr lang="en-US" altLang="id-ID" smtClean="0"/>
              <a:t>Fourth level</a:t>
            </a:r>
          </a:p>
          <a:p>
            <a:pPr lvl="4"/>
            <a:r>
              <a:rPr lang="en-US" altLang="id-ID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93414F5D-E921-4DF8-A0B8-3BBB76D65E32}" type="datetimeFigureOut">
              <a:rPr lang="en-US" altLang="en-US"/>
              <a:pPr>
                <a:defRPr/>
              </a:pPr>
              <a:t>10/4/2021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261D0A8B-D8C4-47E4-9E91-00D3B1C15112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30">
          <a:fgClr>
            <a:srgbClr val="210E30"/>
          </a:fgClr>
          <a:bgClr>
            <a:schemeClr val="tx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4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11" name="Frame 10"/>
          <p:cNvSpPr/>
          <p:nvPr/>
        </p:nvSpPr>
        <p:spPr>
          <a:xfrm>
            <a:off x="415718" y="188640"/>
            <a:ext cx="8286808" cy="2143140"/>
          </a:xfrm>
          <a:prstGeom prst="frame">
            <a:avLst>
              <a:gd name="adj1" fmla="val 1837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ln w="9525">
                <a:solidFill>
                  <a:schemeClr val="tx1"/>
                </a:solidFill>
              </a:ln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id-ID" altLang="en-US" dirty="0" smtClean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1</a:t>
            </a:r>
            <a:endParaRPr lang="en-US" altLang="en-US" dirty="0">
              <a:solidFill>
                <a:schemeClr val="bg2">
                  <a:lumMod val="10000"/>
                </a:schemeClr>
              </a:solidFill>
              <a:latin typeface="Franklin Gothic Demi Cond" pitchFamily="34" charset="0"/>
            </a:endParaRPr>
          </a:p>
        </p:txBody>
      </p:sp>
      <p:sp>
        <p:nvSpPr>
          <p:cNvPr id="33" name="Frame 32"/>
          <p:cNvSpPr/>
          <p:nvPr/>
        </p:nvSpPr>
        <p:spPr>
          <a:xfrm>
            <a:off x="421294" y="2636912"/>
            <a:ext cx="8286808" cy="3785933"/>
          </a:xfrm>
          <a:prstGeom prst="frame">
            <a:avLst>
              <a:gd name="adj1" fmla="val 1191"/>
            </a:avLst>
          </a:prstGeom>
          <a:solidFill>
            <a:srgbClr val="421C5E"/>
          </a:solidFill>
          <a:ln>
            <a:solidFill>
              <a:srgbClr val="421C5E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latin typeface="Arial Narrow" pitchFamily="34" charset="0"/>
              <a:cs typeface="Arial" charset="0"/>
            </a:endParaRPr>
          </a:p>
        </p:txBody>
      </p:sp>
      <p:sp>
        <p:nvSpPr>
          <p:cNvPr id="29" name="WordArt 2"/>
          <p:cNvSpPr>
            <a:spLocks noChangeArrowheads="1" noChangeShapeType="1" noTextEdit="1"/>
          </p:cNvSpPr>
          <p:nvPr/>
        </p:nvSpPr>
        <p:spPr bwMode="auto">
          <a:xfrm>
            <a:off x="899592" y="3212976"/>
            <a:ext cx="7344816" cy="115212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C000"/>
                  </a:solidFill>
                </a:ln>
                <a:solidFill>
                  <a:srgbClr val="461F6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1430">
                <a:solidFill>
                  <a:srgbClr val="FFC000"/>
                </a:solidFill>
              </a:ln>
              <a:solidFill>
                <a:srgbClr val="461F63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sp>
        <p:nvSpPr>
          <p:cNvPr id="34" name="WordArt 2"/>
          <p:cNvSpPr>
            <a:spLocks noChangeArrowheads="1" noChangeShapeType="1" noTextEdit="1"/>
          </p:cNvSpPr>
          <p:nvPr/>
        </p:nvSpPr>
        <p:spPr bwMode="auto">
          <a:xfrm>
            <a:off x="899592" y="4488860"/>
            <a:ext cx="7344816" cy="380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rtl="0"/>
            <a:r>
              <a:rPr lang="id-ID" sz="3600" b="1" kern="10" spc="0" dirty="0" smtClean="0">
                <a:ln w="28575">
                  <a:noFill/>
                  <a:round/>
                  <a:headEnd/>
                  <a:tailEnd/>
                </a:ln>
                <a:solidFill>
                  <a:srgbClr val="FFC000"/>
                </a:solidFill>
                <a:effectLst/>
                <a:latin typeface="Verdana" pitchFamily="34" charset="0"/>
                <a:ea typeface="Verdana" pitchFamily="34" charset="0"/>
                <a:cs typeface="Verdana" pitchFamily="34" charset="0"/>
              </a:rPr>
              <a:t>Pendidikan Pancasila dan Kewarganegaraan</a:t>
            </a:r>
            <a:endParaRPr lang="en-US" sz="3600" b="1" kern="10" spc="0" dirty="0">
              <a:ln w="28575">
                <a:noFill/>
                <a:round/>
                <a:headEnd/>
                <a:tailEnd/>
              </a:ln>
              <a:solidFill>
                <a:srgbClr val="FFC000"/>
              </a:solidFill>
              <a:effectLst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11760" y="4797152"/>
            <a:ext cx="428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Tahun Akademik 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20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21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/202</a:t>
            </a:r>
            <a:r>
              <a:rPr lang="en-US" dirty="0" smtClean="0">
                <a:solidFill>
                  <a:srgbClr val="B888DC"/>
                </a:solidFill>
                <a:latin typeface="Franklin Gothic Demi Cond" pitchFamily="34" charset="0"/>
              </a:rPr>
              <a:t>2</a:t>
            </a:r>
            <a:r>
              <a:rPr lang="id-ID" dirty="0" smtClean="0">
                <a:solidFill>
                  <a:srgbClr val="B888DC"/>
                </a:solidFill>
                <a:latin typeface="Franklin Gothic Demi Cond" pitchFamily="34" charset="0"/>
              </a:rPr>
              <a:t> </a:t>
            </a:r>
            <a:r>
              <a:rPr lang="id-ID" dirty="0">
                <a:solidFill>
                  <a:srgbClr val="B888DC"/>
                </a:solidFill>
                <a:latin typeface="Franklin Gothic Demi Cond" pitchFamily="34" charset="0"/>
              </a:rPr>
              <a:t>Semester Ganjil</a:t>
            </a:r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9" y="468122"/>
            <a:ext cx="2736304" cy="158417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7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188641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2</a:t>
            </a: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23488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3429000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21518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23488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25649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  <p:pic>
        <p:nvPicPr>
          <p:cNvPr id="19" name="Picture 37" descr="garud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7904" y="453404"/>
            <a:ext cx="1656184" cy="1769461"/>
          </a:xfrm>
          <a:prstGeom prst="rect">
            <a:avLst/>
          </a:prstGeom>
          <a:solidFill>
            <a:srgbClr val="FF3300"/>
          </a:solidFill>
          <a:ln w="38100">
            <a:solidFill>
              <a:srgbClr val="FF3300"/>
            </a:solidFill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</p:pic>
    </p:spTree>
    <p:extLst>
      <p:ext uri="{BB962C8B-B14F-4D97-AF65-F5344CB8AC3E}">
        <p14:creationId xmlns:p14="http://schemas.microsoft.com/office/powerpoint/2010/main" val="39471967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500034" y="224644"/>
            <a:ext cx="8143932" cy="6408712"/>
          </a:xfrm>
          <a:prstGeom prst="roundRect">
            <a:avLst>
              <a:gd name="adj" fmla="val 3636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44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latin typeface="Tw Cen MT Condensed Extra Bold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43756" y="3295353"/>
            <a:ext cx="6912768" cy="1501799"/>
          </a:xfrm>
          <a:prstGeom prst="roundRect">
            <a:avLst>
              <a:gd name="adj" fmla="val 4962"/>
            </a:avLst>
          </a:prstGeom>
          <a:solidFill>
            <a:srgbClr val="FFFF00"/>
          </a:solidFill>
          <a:ln w="28575">
            <a:solidFill>
              <a:srgbClr val="632A8E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fi-FI" sz="28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PANCASILA</a:t>
            </a:r>
          </a:p>
          <a:p>
            <a:r>
              <a:rPr lang="fi-FI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DALAM</a:t>
            </a:r>
            <a:endParaRPr lang="fi-FI" sz="2800" b="1" spc="150" dirty="0" smtClean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  <a:p>
            <a:r>
              <a:rPr lang="en-US" sz="2800" b="1" spc="150" dirty="0" smtClean="0">
                <a:ln w="11430">
                  <a:noFill/>
                </a:ln>
                <a:solidFill>
                  <a:srgbClr val="421C5E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Bernard MT Condensed" pitchFamily="18" charset="0"/>
              </a:rPr>
              <a:t>ARUS SEJARAH BANGSA INDONESIA</a:t>
            </a:r>
            <a:endParaRPr lang="id-ID" sz="2800" b="1" spc="150" dirty="0">
              <a:ln w="11430">
                <a:noFill/>
              </a:ln>
              <a:solidFill>
                <a:srgbClr val="421C5E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>
            <a:spLocks noChangeArrowheads="1"/>
          </p:cNvSpPr>
          <p:nvPr/>
        </p:nvSpPr>
        <p:spPr bwMode="auto">
          <a:xfrm>
            <a:off x="8574500" y="6435126"/>
            <a:ext cx="445584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 rot="16200000">
            <a:off x="312897" y="3727401"/>
            <a:ext cx="1501799" cy="637703"/>
          </a:xfrm>
          <a:prstGeom prst="roundRect">
            <a:avLst>
              <a:gd name="adj" fmla="val 9164"/>
            </a:avLst>
          </a:prstGeom>
          <a:solidFill>
            <a:srgbClr val="421C5E"/>
          </a:solidFill>
          <a:ln>
            <a:solidFill>
              <a:srgbClr val="FFFF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spc="15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Franklin Gothic Demi Cond" pitchFamily="34" charset="0"/>
              </a:rPr>
              <a:t>BAB II</a:t>
            </a:r>
            <a:endParaRPr lang="en-US" sz="3600" b="1" spc="15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2" name="Frame 21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41" name="WordArt 2"/>
          <p:cNvSpPr>
            <a:spLocks noChangeArrowheads="1" noChangeShapeType="1" noTextEdit="1"/>
          </p:cNvSpPr>
          <p:nvPr/>
        </p:nvSpPr>
        <p:spPr bwMode="auto">
          <a:xfrm>
            <a:off x="1763686" y="548680"/>
            <a:ext cx="4464498" cy="90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9050">
                  <a:solidFill>
                    <a:srgbClr val="FFFF00"/>
                  </a:solidFill>
                </a:ln>
                <a:solidFill>
                  <a:srgbClr val="421C5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Stencil" pitchFamily="82" charset="0"/>
              </a:rPr>
              <a:t>PPKN</a:t>
            </a:r>
            <a:endParaRPr lang="en-US" sz="3600" b="1" kern="10" dirty="0">
              <a:ln w="19050">
                <a:solidFill>
                  <a:srgbClr val="FFFF00"/>
                </a:solidFill>
              </a:ln>
              <a:solidFill>
                <a:srgbClr val="421C5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Stencil" pitchFamily="82" charset="0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763686" y="1556792"/>
            <a:ext cx="4618674" cy="0"/>
          </a:xfrm>
          <a:prstGeom prst="line">
            <a:avLst/>
          </a:prstGeom>
          <a:ln w="38100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/>
          <p:cNvSpPr/>
          <p:nvPr/>
        </p:nvSpPr>
        <p:spPr>
          <a:xfrm>
            <a:off x="6382360" y="351608"/>
            <a:ext cx="1224136" cy="1421208"/>
          </a:xfrm>
          <a:prstGeom prst="roundRect">
            <a:avLst>
              <a:gd name="adj" fmla="val 8621"/>
            </a:avLst>
          </a:prstGeom>
          <a:solidFill>
            <a:srgbClr val="421C5E"/>
          </a:solidFill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WordArt 2"/>
          <p:cNvSpPr>
            <a:spLocks noChangeArrowheads="1" noChangeShapeType="1" noTextEdit="1"/>
          </p:cNvSpPr>
          <p:nvPr/>
        </p:nvSpPr>
        <p:spPr bwMode="auto">
          <a:xfrm>
            <a:off x="6550320" y="548680"/>
            <a:ext cx="902000" cy="16296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id-ID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P</a:t>
            </a:r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Franklin Gothic Demi Cond" pitchFamily="34" charset="0"/>
              </a:rPr>
              <a:t>ERTEMUAN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Franklin Gothic Demi Cond" pitchFamily="34" charset="0"/>
            </a:endParaRPr>
          </a:p>
        </p:txBody>
      </p:sp>
      <p:sp>
        <p:nvSpPr>
          <p:cNvPr id="26" name="WordArt 2"/>
          <p:cNvSpPr>
            <a:spLocks noChangeArrowheads="1" noChangeShapeType="1" noTextEdit="1"/>
          </p:cNvSpPr>
          <p:nvPr/>
        </p:nvSpPr>
        <p:spPr bwMode="auto">
          <a:xfrm>
            <a:off x="6550320" y="764704"/>
            <a:ext cx="902000" cy="68601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rtl="0"/>
            <a:r>
              <a:rPr lang="en-US" sz="3600" b="1" kern="10" dirty="0" smtClean="0">
                <a:ln w="1143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Bernard MT Condensed" pitchFamily="18" charset="0"/>
              </a:rPr>
              <a:t>2</a:t>
            </a:r>
            <a:endParaRPr lang="en-US" sz="3600" b="1" kern="10" dirty="0">
              <a:ln w="1143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269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2316" y="692695"/>
            <a:ext cx="699589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25449" y="692696"/>
            <a:ext cx="5040560" cy="637703"/>
          </a:xfrm>
          <a:prstGeom prst="roundRect">
            <a:avLst>
              <a:gd name="adj" fmla="val 14166"/>
            </a:avLst>
          </a:prstGeom>
          <a:solidFill>
            <a:srgbClr val="421C5E"/>
          </a:solidFill>
          <a:ln w="3175">
            <a:solidFill>
              <a:schemeClr val="tx1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nard MT Condensed" pitchFamily="18" charset="0"/>
              </a:rPr>
              <a:t>D I S K U S I</a:t>
            </a:r>
            <a:endParaRPr lang="en-US" sz="3600" b="1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nard MT Condensed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25449" y="1484784"/>
            <a:ext cx="5040560" cy="637703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KETENTUAN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2069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653489" y="2564904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53489" y="3068960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Oval 13"/>
          <p:cNvSpPr/>
          <p:nvPr/>
        </p:nvSpPr>
        <p:spPr>
          <a:xfrm flipH="1">
            <a:off x="1653489" y="5674272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10672" y="1988840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Buatlah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dg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5 – 10 orang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113095" y="2500145"/>
            <a:ext cx="6463828" cy="424799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Tunjuk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Ketua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dan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Sekretaris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113095" y="2996952"/>
            <a:ext cx="6463828" cy="1152128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Hasil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diskusi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tangan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dikirim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(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per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)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WA </a:t>
            </a:r>
            <a:r>
              <a:rPr lang="en-US" sz="2000" b="1" spc="50" dirty="0" smtClean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GRUP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20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menit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sebelum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akhir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waktu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kuliah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PPKN (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sesuai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) 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format </a:t>
            </a: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PDF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.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13095" y="5349176"/>
            <a:ext cx="6463828" cy="1032152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Ditulis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pula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–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nama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anggota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beserta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jabatannya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 flipH="1">
            <a:off x="1184082" y="1671915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055531" y="4149080"/>
            <a:ext cx="6463828" cy="824412"/>
          </a:xfrm>
          <a:prstGeom prst="roundRect">
            <a:avLst>
              <a:gd name="adj" fmla="val 579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Penulisan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identitas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0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</a:t>
            </a:r>
            <a:r>
              <a:rPr lang="en-US" sz="20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:</a:t>
            </a:r>
          </a:p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4_nama 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kelompok_ppkn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_</a:t>
            </a:r>
            <a:r>
              <a:rPr lang="en-US" sz="2000" b="1" spc="50" dirty="0" err="1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kelas</a:t>
            </a:r>
            <a:endParaRPr lang="en-US" sz="24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 flipH="1">
            <a:off x="1670414" y="4327155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4798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6" grpId="0"/>
      <p:bldP spid="17" grpId="0"/>
      <p:bldP spid="18" grpId="0"/>
      <p:bldP spid="19" grpId="0"/>
      <p:bldP spid="21" grpId="0" animBg="1"/>
      <p:bldP spid="20" grpId="0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ame 5"/>
          <p:cNvSpPr/>
          <p:nvPr/>
        </p:nvSpPr>
        <p:spPr>
          <a:xfrm>
            <a:off x="0" y="0"/>
            <a:ext cx="9144000" cy="6858000"/>
          </a:xfrm>
          <a:prstGeom prst="frame">
            <a:avLst>
              <a:gd name="adj1" fmla="val 1637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en-US" dirty="0">
              <a:solidFill>
                <a:schemeClr val="tx1"/>
              </a:solidFill>
              <a:cs typeface="Arial" charset="0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8574500" y="6435126"/>
            <a:ext cx="428625" cy="285750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19050">
            <a:solidFill>
              <a:schemeClr val="bg2">
                <a:lumMod val="10000"/>
              </a:schemeClr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en-US" sz="1600" dirty="0">
                <a:solidFill>
                  <a:schemeClr val="bg2">
                    <a:lumMod val="10000"/>
                  </a:schemeClr>
                </a:solidFill>
                <a:latin typeface="Franklin Gothic Demi Cond" pitchFamily="34" charset="0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25449" y="332656"/>
            <a:ext cx="2254463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MATERI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TENTANG</a:t>
            </a:r>
            <a:r>
              <a:rPr lang="en-US" sz="32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endParaRPr lang="en-US" sz="36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1" name="Oval 10"/>
          <p:cNvSpPr/>
          <p:nvPr/>
        </p:nvSpPr>
        <p:spPr>
          <a:xfrm flipH="1">
            <a:off x="1664122" y="1565848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1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3" name="Oval 12"/>
          <p:cNvSpPr/>
          <p:nvPr/>
        </p:nvSpPr>
        <p:spPr>
          <a:xfrm flipH="1">
            <a:off x="1664121" y="3356992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en-US" sz="2400" b="1" dirty="0" smtClean="0">
                <a:ln>
                  <a:solidFill>
                    <a:srgbClr val="FFFF00"/>
                  </a:solidFill>
                </a:ln>
                <a:solidFill>
                  <a:schemeClr val="bg2">
                    <a:lumMod val="10000"/>
                  </a:schemeClr>
                </a:solidFill>
                <a:latin typeface="Franklin Gothic Heavy" pitchFamily="34" charset="0"/>
                <a:cs typeface="Arial" charset="0"/>
              </a:rPr>
              <a:t>2</a:t>
            </a:r>
            <a:endParaRPr lang="id-ID" altLang="en-US" sz="24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23728" y="1484784"/>
            <a:ext cx="6463828" cy="648072"/>
          </a:xfrm>
          <a:prstGeom prst="roundRect">
            <a:avLst>
              <a:gd name="adj" fmla="val 6783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/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ADA TANTANGAN TERHADAP PANCASILA DALAM </a:t>
            </a:r>
            <a:r>
              <a:rPr lang="en-US" sz="1400" dirty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KEHIDUPAN BERBANGSA DAN  </a:t>
            </a:r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  <a:ea typeface="Verdana" pitchFamily="34" charset="0"/>
                <a:cs typeface="Verdana" pitchFamily="34" charset="0"/>
              </a:rPr>
              <a:t>BERNEGARA SAAT INI</a:t>
            </a:r>
            <a:endParaRPr lang="en-US" sz="1400" dirty="0">
              <a:solidFill>
                <a:srgbClr val="0000FF"/>
              </a:solidFill>
              <a:latin typeface="Franklin Gothic Demi Cond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3203848" y="260648"/>
            <a:ext cx="4320480" cy="944344"/>
          </a:xfrm>
          <a:prstGeom prst="roundRect">
            <a:avLst>
              <a:gd name="adj" fmla="val 1050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  <a:headEnd/>
            <a:tailEnd/>
          </a:ln>
          <a:scene3d>
            <a:camera prst="orthographicFront"/>
            <a:lightRig rig="threePt" dir="t"/>
          </a:scene3d>
          <a:sp3d>
            <a:bevelT prst="slope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  <a:sp3d extrusionH="57150">
              <a:bevelT w="38100" h="38100"/>
            </a:sp3d>
          </a:bodyPr>
          <a:lstStyle/>
          <a:p>
            <a:pPr marL="1254125" eaLnBrk="1" hangingPunct="1">
              <a:defRPr/>
            </a:pPr>
            <a:r>
              <a:rPr lang="en-US" sz="2400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Stencil" pitchFamily="82" charset="0"/>
                <a:cs typeface="Arial" pitchFamily="34" charset="0"/>
              </a:rPr>
              <a:t>NILAI - NILAI </a:t>
            </a:r>
            <a:r>
              <a:rPr lang="en-US" sz="2800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  <a:latin typeface="Stencil" pitchFamily="82" charset="0"/>
                <a:cs typeface="Arial" pitchFamily="34" charset="0"/>
              </a:rPr>
              <a:t>PANCASILA</a:t>
            </a:r>
            <a:endParaRPr lang="id-ID" sz="2800" dirty="0">
              <a:ln>
                <a:solidFill>
                  <a:srgbClr val="C00000"/>
                </a:solidFill>
              </a:ln>
              <a:solidFill>
                <a:srgbClr val="C00000"/>
              </a:solidFill>
              <a:latin typeface="Stencil" pitchFamily="82" charset="0"/>
              <a:cs typeface="Arial" pitchFamily="34" charset="0"/>
            </a:endParaRPr>
          </a:p>
        </p:txBody>
      </p:sp>
      <p:pic>
        <p:nvPicPr>
          <p:cNvPr id="23" name="Picture 2" descr="Makna Lambang Garuda Pancasil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" r="3362"/>
          <a:stretch/>
        </p:blipFill>
        <p:spPr bwMode="auto">
          <a:xfrm>
            <a:off x="3366151" y="451669"/>
            <a:ext cx="694934" cy="576064"/>
          </a:xfrm>
          <a:prstGeom prst="roundRect">
            <a:avLst>
              <a:gd name="adj" fmla="val 4282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ounded Rectangle 23"/>
          <p:cNvSpPr/>
          <p:nvPr/>
        </p:nvSpPr>
        <p:spPr>
          <a:xfrm flipH="1">
            <a:off x="1134266" y="341712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132174" y="2060848"/>
            <a:ext cx="6463828" cy="936104"/>
          </a:xfrm>
          <a:prstGeom prst="roundRect">
            <a:avLst>
              <a:gd name="adj" fmla="val 544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TUGAS :</a:t>
            </a:r>
          </a:p>
          <a:p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TEMUKAN  MINIMAL  </a:t>
            </a:r>
            <a:r>
              <a:rPr lang="en-US" sz="2000" dirty="0" smtClean="0">
                <a:solidFill>
                  <a:srgbClr val="0000FF"/>
                </a:solidFill>
                <a:latin typeface="Franklin Gothic Demi Cond" pitchFamily="34" charset="0"/>
              </a:rPr>
              <a:t>5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   TANTANGAN  TERHADAP PANCASILA TERSEBUT DAN BERI PENJELASAN SINGKAT TERKAIT MASING </a:t>
            </a:r>
            <a:r>
              <a:rPr lang="en-US" sz="1400" dirty="0" err="1" smtClean="0">
                <a:solidFill>
                  <a:srgbClr val="FF0000"/>
                </a:solidFill>
                <a:latin typeface="Franklin Gothic Demi Cond" pitchFamily="34" charset="0"/>
              </a:rPr>
              <a:t>MASING</a:t>
            </a:r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 TANTANGAN  YANG ANDA TEMUKAN !!! </a:t>
            </a:r>
          </a:p>
          <a:p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endParaRPr lang="id-ID" sz="1400" dirty="0">
              <a:solidFill>
                <a:srgbClr val="0000FF"/>
              </a:solidFill>
              <a:latin typeface="Franklin Gothic Demi Cond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 flipH="1">
            <a:off x="1653489" y="4615187"/>
            <a:ext cx="402995" cy="39798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18449" y="4497100"/>
            <a:ext cx="6463828" cy="516076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Selamat</a:t>
            </a:r>
            <a:r>
              <a:rPr lang="en-US" sz="2400" b="1" spc="50" dirty="0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 </a:t>
            </a:r>
            <a:r>
              <a:rPr lang="en-US" sz="2400" b="1" spc="50" dirty="0" err="1" smtClean="0">
                <a:ln w="11430"/>
                <a:solidFill>
                  <a:sysClr val="windowText" lastClr="0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berdiskusi</a:t>
            </a:r>
            <a:endParaRPr lang="en-US" sz="2800" b="1" spc="50" dirty="0">
              <a:ln w="11430"/>
              <a:solidFill>
                <a:sysClr val="windowText" lastClr="0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335763" y="5928788"/>
            <a:ext cx="5256584" cy="792088"/>
          </a:xfrm>
          <a:prstGeom prst="roundRect">
            <a:avLst>
              <a:gd name="adj" fmla="val 14166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50" dirty="0" smtClean="0">
                <a:ln w="11430"/>
                <a:solidFill>
                  <a:srgbClr val="FF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Berlin Sans FB Demi" pitchFamily="34" charset="0"/>
              </a:rPr>
              <a:t>TERIMA KASIH</a:t>
            </a:r>
            <a:endParaRPr lang="en-US" sz="3600" b="1" spc="50" dirty="0">
              <a:ln w="11430"/>
              <a:solidFill>
                <a:srgbClr val="FF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Berlin Sans FB Demi" pitchFamily="3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 flipH="1">
            <a:off x="926975" y="6125838"/>
            <a:ext cx="402995" cy="397989"/>
          </a:xfrm>
          <a:prstGeom prst="round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altLang="en-US" sz="3600" b="1" dirty="0">
              <a:ln>
                <a:solidFill>
                  <a:srgbClr val="FFFF00"/>
                </a:solidFill>
              </a:ln>
              <a:solidFill>
                <a:schemeClr val="bg2">
                  <a:lumMod val="10000"/>
                </a:schemeClr>
              </a:solidFill>
              <a:latin typeface="Franklin Gothic Heavy" pitchFamily="34" charset="0"/>
              <a:cs typeface="Arial" charset="0"/>
            </a:endParaRPr>
          </a:p>
        </p:txBody>
      </p:sp>
      <p:sp>
        <p:nvSpPr>
          <p:cNvPr id="2" name="L-Shape 1"/>
          <p:cNvSpPr/>
          <p:nvPr/>
        </p:nvSpPr>
        <p:spPr>
          <a:xfrm>
            <a:off x="1289580" y="2132856"/>
            <a:ext cx="7284920" cy="3168352"/>
          </a:xfrm>
          <a:prstGeom prst="corner">
            <a:avLst>
              <a:gd name="adj1" fmla="val 5031"/>
              <a:gd name="adj2" fmla="val 6038"/>
            </a:avLst>
          </a:prstGeom>
          <a:solidFill>
            <a:srgbClr val="8B8BFF"/>
          </a:solidFill>
          <a:ln>
            <a:solidFill>
              <a:srgbClr val="3D392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2123728" y="3212976"/>
            <a:ext cx="6463828" cy="936104"/>
          </a:xfrm>
          <a:prstGeom prst="roundRect">
            <a:avLst>
              <a:gd name="adj" fmla="val 5440"/>
            </a:avLst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t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sz="1400" dirty="0" smtClean="0">
                <a:solidFill>
                  <a:srgbClr val="0000FF"/>
                </a:solidFill>
                <a:latin typeface="Franklin Gothic Demi Cond" pitchFamily="34" charset="0"/>
              </a:rPr>
              <a:t>MENURUT PENDAPAT ANDA ( JELASKAN SECARA SINGKAT )</a:t>
            </a:r>
          </a:p>
          <a:p>
            <a:r>
              <a:rPr lang="en-US" sz="1400" dirty="0" smtClean="0">
                <a:solidFill>
                  <a:srgbClr val="FF0000"/>
                </a:solidFill>
                <a:latin typeface="Franklin Gothic Demi Cond" pitchFamily="34" charset="0"/>
              </a:rPr>
              <a:t>APA ALASAN PARA TOKOH PENDIRI NEGARA INI  MERUBAH  PANCASILA YANG DISYAHKAN SEBAGAI DASAR NEGARA  DARI PANCASILA YANG DISUSUN  DI SIDANG BPUPKI II ATAU YANG TERDAPAT PADA PIAGAM JAKARTA ????</a:t>
            </a:r>
          </a:p>
          <a:p>
            <a:endParaRPr lang="en-US" sz="1400" dirty="0" smtClean="0">
              <a:solidFill>
                <a:srgbClr val="FF0000"/>
              </a:solidFill>
              <a:latin typeface="Franklin Gothic Demi Cond" pitchFamily="34" charset="0"/>
            </a:endParaRPr>
          </a:p>
          <a:p>
            <a:endParaRPr lang="id-ID" sz="1400" dirty="0">
              <a:solidFill>
                <a:srgbClr val="0000FF"/>
              </a:solidFill>
              <a:latin typeface="Franklin Gothic Demi Con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88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3" grpId="0" animBg="1"/>
      <p:bldP spid="16" grpId="0"/>
      <p:bldP spid="24" grpId="0" animBg="1"/>
      <p:bldP spid="25" grpId="0"/>
      <p:bldP spid="12" grpId="0" animBg="1"/>
      <p:bldP spid="14" grpId="0"/>
      <p:bldP spid="15" grpId="0"/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9528</TotalTime>
  <Words>179</Words>
  <Application>Microsoft Office PowerPoint</Application>
  <PresentationFormat>On-screen Show (4:3)</PresentationFormat>
  <Paragraphs>40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tantular</cp:lastModifiedBy>
  <cp:revision>930</cp:revision>
  <cp:lastPrinted>2019-08-05T16:04:30Z</cp:lastPrinted>
  <dcterms:created xsi:type="dcterms:W3CDTF">2017-12-16T16:52:32Z</dcterms:created>
  <dcterms:modified xsi:type="dcterms:W3CDTF">2021-10-04T09:03:02Z</dcterms:modified>
</cp:coreProperties>
</file>