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7" r:id="rId2"/>
    <p:sldId id="298" r:id="rId3"/>
    <p:sldId id="306" r:id="rId4"/>
    <p:sldId id="315" r:id="rId5"/>
    <p:sldId id="307" r:id="rId6"/>
    <p:sldId id="308" r:id="rId7"/>
    <p:sldId id="309" r:id="rId8"/>
    <p:sldId id="310" r:id="rId9"/>
    <p:sldId id="311" r:id="rId10"/>
    <p:sldId id="312" r:id="rId11"/>
    <p:sldId id="313" r:id="rId12"/>
  </p:sldIdLst>
  <p:sldSz cx="9144000" cy="6858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0147"/>
    <a:srgbClr val="070262"/>
    <a:srgbClr val="7F0303"/>
    <a:srgbClr val="0B03A9"/>
    <a:srgbClr val="004620"/>
    <a:srgbClr val="00602B"/>
    <a:srgbClr val="A40000"/>
    <a:srgbClr val="05014F"/>
    <a:srgbClr val="3F35FD"/>
    <a:srgbClr val="8439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35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7676E8-B5E8-4454-87C0-1FA68BBFFE09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400"/>
            <a:ext cx="5486400" cy="44751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7213"/>
            <a:ext cx="29718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7213"/>
            <a:ext cx="29718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ECBB2-9D7F-48D4-9DEC-3A19FA00D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33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9</a:t>
            </a:fld>
            <a:endParaRPr lang="en-US" altLang="id-ID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910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10</a:t>
            </a:fld>
            <a:endParaRPr lang="en-US" altLang="id-ID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910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11</a:t>
            </a:fld>
            <a:endParaRPr lang="en-US" altLang="id-ID" dirty="0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223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3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1" name="Frame 10"/>
          <p:cNvSpPr/>
          <p:nvPr/>
        </p:nvSpPr>
        <p:spPr>
          <a:xfrm>
            <a:off x="415718" y="188640"/>
            <a:ext cx="8286808" cy="2143140"/>
          </a:xfrm>
          <a:prstGeom prst="frame">
            <a:avLst>
              <a:gd name="adj1" fmla="val 18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ln w="9525">
                <a:solidFill>
                  <a:schemeClr val="tx1"/>
                </a:solidFill>
              </a:ln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8" name="Rounded Rectangle 27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id-ID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3" name="Frame 32"/>
          <p:cNvSpPr/>
          <p:nvPr/>
        </p:nvSpPr>
        <p:spPr>
          <a:xfrm>
            <a:off x="421294" y="2636912"/>
            <a:ext cx="8286808" cy="3785933"/>
          </a:xfrm>
          <a:prstGeom prst="frame">
            <a:avLst>
              <a:gd name="adj1" fmla="val 1191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9" name="WordArt 2"/>
          <p:cNvSpPr>
            <a:spLocks noChangeArrowheads="1" noChangeShapeType="1" noTextEdit="1"/>
          </p:cNvSpPr>
          <p:nvPr/>
        </p:nvSpPr>
        <p:spPr bwMode="auto">
          <a:xfrm>
            <a:off x="899592" y="3212976"/>
            <a:ext cx="7344816" cy="115212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C000"/>
                  </a:solidFill>
                </a:ln>
                <a:solidFill>
                  <a:srgbClr val="461F63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1430">
                <a:solidFill>
                  <a:srgbClr val="FFC000"/>
                </a:solidFill>
              </a:ln>
              <a:solidFill>
                <a:srgbClr val="461F63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sp>
        <p:nvSpPr>
          <p:cNvPr id="34" name="WordArt 2"/>
          <p:cNvSpPr>
            <a:spLocks noChangeArrowheads="1" noChangeShapeType="1" noTextEdit="1"/>
          </p:cNvSpPr>
          <p:nvPr/>
        </p:nvSpPr>
        <p:spPr bwMode="auto">
          <a:xfrm>
            <a:off x="899592" y="4488860"/>
            <a:ext cx="7344816" cy="380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/>
            <a:r>
              <a:rPr lang="id-ID" sz="3600" b="1" kern="10" spc="0" dirty="0" smtClean="0">
                <a:ln w="28575">
                  <a:noFill/>
                  <a:round/>
                  <a:headEnd/>
                  <a:tailEnd/>
                </a:ln>
                <a:solidFill>
                  <a:srgbClr val="FFC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Pendidikan Pancasila dan Kewarganegaraan</a:t>
            </a:r>
            <a:endParaRPr lang="en-US" sz="3600" b="1" kern="10" spc="0" dirty="0">
              <a:ln w="28575">
                <a:noFill/>
                <a:round/>
                <a:headEnd/>
                <a:tailEnd/>
              </a:ln>
              <a:solidFill>
                <a:srgbClr val="FFC000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411760" y="4797152"/>
            <a:ext cx="4280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Tahun Akademik 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20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21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/202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 </a:t>
            </a:r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Semester Ganjil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41"/>
          <a:stretch/>
        </p:blipFill>
        <p:spPr bwMode="auto">
          <a:xfrm>
            <a:off x="2970972" y="576066"/>
            <a:ext cx="3185204" cy="235820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84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188641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2</a:t>
            </a: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41" name="WordArt 2"/>
          <p:cNvSpPr>
            <a:spLocks noChangeArrowheads="1" noChangeShapeType="1" noTextEdit="1"/>
          </p:cNvSpPr>
          <p:nvPr/>
        </p:nvSpPr>
        <p:spPr bwMode="auto">
          <a:xfrm>
            <a:off x="1763686" y="2348880"/>
            <a:ext cx="4464498" cy="90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9050">
                  <a:solidFill>
                    <a:srgbClr val="FFFF00"/>
                  </a:solidFill>
                </a:ln>
                <a:solidFill>
                  <a:srgbClr val="421C5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9050">
                <a:solidFill>
                  <a:srgbClr val="FFFF00"/>
                </a:solidFill>
              </a:ln>
              <a:solidFill>
                <a:srgbClr val="421C5E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763686" y="3429000"/>
            <a:ext cx="4618674" cy="0"/>
          </a:xfrm>
          <a:prstGeom prst="line">
            <a:avLst/>
          </a:prstGeom>
          <a:ln w="381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6382360" y="2151808"/>
            <a:ext cx="1224136" cy="1421208"/>
          </a:xfrm>
          <a:prstGeom prst="roundRect">
            <a:avLst>
              <a:gd name="adj" fmla="val 8621"/>
            </a:avLst>
          </a:prstGeom>
          <a:solidFill>
            <a:srgbClr val="421C5E"/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WordArt 2"/>
          <p:cNvSpPr>
            <a:spLocks noChangeArrowheads="1" noChangeShapeType="1" noTextEdit="1"/>
          </p:cNvSpPr>
          <p:nvPr/>
        </p:nvSpPr>
        <p:spPr bwMode="auto">
          <a:xfrm>
            <a:off x="6550320" y="2348880"/>
            <a:ext cx="902000" cy="16296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P</a:t>
            </a:r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ERTEMUAN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WordArt 2"/>
          <p:cNvSpPr>
            <a:spLocks noChangeArrowheads="1" noChangeShapeType="1" noTextEdit="1"/>
          </p:cNvSpPr>
          <p:nvPr/>
        </p:nvSpPr>
        <p:spPr bwMode="auto">
          <a:xfrm>
            <a:off x="6550320" y="2564904"/>
            <a:ext cx="902000" cy="6860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kern="10" dirty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nard MT Condensed" pitchFamily="18" charset="0"/>
              </a:rPr>
              <a:t>2</a:t>
            </a:r>
          </a:p>
        </p:txBody>
      </p:sp>
      <p:pic>
        <p:nvPicPr>
          <p:cNvPr id="19" name="Picture 37" descr="garud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07904" y="453404"/>
            <a:ext cx="1656184" cy="1769461"/>
          </a:xfrm>
          <a:prstGeom prst="rect">
            <a:avLst/>
          </a:prstGeom>
          <a:solidFill>
            <a:srgbClr val="FF3300"/>
          </a:solidFill>
          <a:ln w="38100">
            <a:solidFill>
              <a:srgbClr val="FF33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slope"/>
          </a:sp3d>
        </p:spPr>
      </p:pic>
    </p:spTree>
    <p:extLst>
      <p:ext uri="{BB962C8B-B14F-4D97-AF65-F5344CB8AC3E}">
        <p14:creationId xmlns:p14="http://schemas.microsoft.com/office/powerpoint/2010/main" val="156395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8316416" y="6309320"/>
            <a:ext cx="570150" cy="36004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3</a:t>
            </a:r>
            <a:endParaRPr lang="id-ID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39551" y="1124744"/>
            <a:ext cx="8061939" cy="3312368"/>
          </a:xfrm>
          <a:prstGeom prst="roundRect">
            <a:avLst>
              <a:gd name="adj" fmla="val 12395"/>
            </a:avLst>
          </a:prstGeom>
          <a:solidFill>
            <a:schemeClr val="tx1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sv-SE" sz="28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NILAI – NILAI </a:t>
            </a:r>
          </a:p>
          <a:p>
            <a:pPr algn="ctr"/>
            <a:r>
              <a:rPr lang="sv-SE" sz="28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YANG TERKANDUNG DLM SILA-SILA PANCASILA</a:t>
            </a:r>
            <a:r>
              <a:rPr lang="id-ID" sz="28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endParaRPr lang="en-US" sz="2800" b="1" spc="50" dirty="0" smtClean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  <a:p>
            <a:pPr algn="ctr"/>
            <a:r>
              <a:rPr lang="id-ID" sz="28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SERTA </a:t>
            </a:r>
          </a:p>
          <a:p>
            <a:pPr algn="ctr"/>
            <a:r>
              <a:rPr lang="id-ID" sz="28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PERAN NILAI-NILAI TERSEBUT  DALAM KEHIDUPAN </a:t>
            </a:r>
            <a:endParaRPr lang="en-US" sz="2800" b="1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47573" y="943537"/>
            <a:ext cx="475838" cy="514305"/>
          </a:xfrm>
          <a:prstGeom prst="ellipse">
            <a:avLst/>
          </a:prstGeom>
          <a:solidFill>
            <a:srgbClr val="3E1B5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d-ID" sz="2400" dirty="0" smtClean="0">
              <a:solidFill>
                <a:srgbClr val="3E1B59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73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8316416" y="6309320"/>
            <a:ext cx="570150" cy="36004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4</a:t>
            </a:r>
            <a:endParaRPr lang="id-ID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39551" y="260648"/>
            <a:ext cx="8061939" cy="651472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000" dirty="0" smtClean="0">
                <a:solidFill>
                  <a:schemeClr val="bg1"/>
                </a:solidFill>
                <a:latin typeface="Franklin Gothic Demi Cond" pitchFamily="34" charset="0"/>
              </a:rPr>
              <a:t>NILAI – NILAI YANG TERKANDUNG DLM SILA-SILA PANCASILA</a:t>
            </a:r>
            <a:r>
              <a:rPr lang="id-ID" sz="2000" dirty="0" smtClean="0">
                <a:solidFill>
                  <a:schemeClr val="bg1"/>
                </a:solidFill>
                <a:latin typeface="Franklin Gothic Demi Cond" pitchFamily="34" charset="0"/>
              </a:rPr>
              <a:t> SERTA </a:t>
            </a:r>
          </a:p>
          <a:p>
            <a:pPr algn="ctr"/>
            <a:r>
              <a:rPr lang="id-ID" sz="2000" dirty="0" smtClean="0">
                <a:solidFill>
                  <a:schemeClr val="bg1"/>
                </a:solidFill>
                <a:latin typeface="Franklin Gothic Demi Cond" pitchFamily="34" charset="0"/>
              </a:rPr>
              <a:t>PERAN NILAI-NILAI TERSEBUT  DALAM KEHIDUPAN </a:t>
            </a:r>
            <a:endParaRPr lang="en-US" sz="20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42081" y="1196752"/>
            <a:ext cx="8156002" cy="4467346"/>
          </a:xfrm>
          <a:prstGeom prst="roundRect">
            <a:avLst>
              <a:gd name="adj" fmla="val 3817"/>
            </a:avLst>
          </a:prstGeom>
          <a:solidFill>
            <a:srgbClr val="2F1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9" name="AutoShape 15"/>
          <p:cNvSpPr>
            <a:spLocks noChangeArrowheads="1"/>
          </p:cNvSpPr>
          <p:nvPr/>
        </p:nvSpPr>
        <p:spPr bwMode="auto">
          <a:xfrm>
            <a:off x="913581" y="2276872"/>
            <a:ext cx="3082355" cy="419457"/>
          </a:xfrm>
          <a:prstGeom prst="roundRect">
            <a:avLst>
              <a:gd name="adj" fmla="val 8651"/>
            </a:avLst>
          </a:prstGeom>
          <a:solidFill>
            <a:srgbClr val="1F0E2C"/>
          </a:solidFill>
          <a:ln>
            <a:solidFill>
              <a:schemeClr val="bg1">
                <a:lumMod val="95000"/>
              </a:schemeClr>
            </a:solidFill>
          </a:ln>
          <a:extLst/>
        </p:spPr>
        <p:txBody>
          <a:bodyPr wrap="square" anchor="ctr">
            <a:spAutoFit/>
          </a:bodyPr>
          <a:lstStyle/>
          <a:p>
            <a:r>
              <a:rPr lang="sv-SE" sz="2000" dirty="0" smtClean="0">
                <a:solidFill>
                  <a:srgbClr val="FFFF00"/>
                </a:solidFill>
                <a:latin typeface="Franklin Gothic Demi Cond" pitchFamily="34" charset="0"/>
              </a:rPr>
              <a:t>KEYAKINAN</a:t>
            </a:r>
            <a:endParaRPr lang="sv-SE" sz="16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0" name="AutoShape 17"/>
          <p:cNvSpPr>
            <a:spLocks noChangeArrowheads="1"/>
          </p:cNvSpPr>
          <p:nvPr/>
        </p:nvSpPr>
        <p:spPr bwMode="auto">
          <a:xfrm>
            <a:off x="561156" y="1369382"/>
            <a:ext cx="7989688" cy="408623"/>
          </a:xfrm>
          <a:prstGeom prst="roundRect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slope"/>
          </a:sp3d>
          <a:extLst/>
        </p:spPr>
        <p:txBody>
          <a:bodyPr wrap="none">
            <a:spAutoFit/>
          </a:bodyPr>
          <a:lstStyle/>
          <a:p>
            <a:r>
              <a:rPr lang="sv-SE" sz="1800" dirty="0">
                <a:solidFill>
                  <a:srgbClr val="FFFF00"/>
                </a:solidFill>
                <a:latin typeface="Berlin Sans FB" pitchFamily="34" charset="0"/>
              </a:rPr>
              <a:t>Dalam Sila I, </a:t>
            </a:r>
            <a:r>
              <a:rPr lang="sv-SE" sz="1800" i="1" dirty="0">
                <a:solidFill>
                  <a:srgbClr val="FFFF00"/>
                </a:solidFill>
                <a:latin typeface="Berlin Sans FB" pitchFamily="34" charset="0"/>
              </a:rPr>
              <a:t>Ketuhanan Yang Maha Esa </a:t>
            </a:r>
            <a:r>
              <a:rPr lang="sv-SE" sz="1800" dirty="0">
                <a:solidFill>
                  <a:srgbClr val="FFFF00"/>
                </a:solidFill>
                <a:latin typeface="Berlin Sans FB" pitchFamily="34" charset="0"/>
              </a:rPr>
              <a:t> terkandung nilai </a:t>
            </a:r>
            <a:r>
              <a:rPr lang="sv-SE" sz="1800" dirty="0" smtClean="0">
                <a:solidFill>
                  <a:schemeClr val="bg1"/>
                </a:solidFill>
                <a:latin typeface="Franklin Gothic Demi Cond" pitchFamily="34" charset="0"/>
              </a:rPr>
              <a:t>RELIGIUS</a:t>
            </a:r>
            <a:r>
              <a:rPr lang="sv-SE" sz="1800" i="1" dirty="0" smtClean="0">
                <a:solidFill>
                  <a:srgbClr val="FFFF00"/>
                </a:solidFill>
                <a:latin typeface="Berlin Sans FB" pitchFamily="34" charset="0"/>
              </a:rPr>
              <a:t> </a:t>
            </a:r>
            <a:r>
              <a:rPr lang="sv-SE" sz="1800" dirty="0">
                <a:solidFill>
                  <a:srgbClr val="FFFF00"/>
                </a:solidFill>
                <a:latin typeface="Berlin Sans FB" pitchFamily="34" charset="0"/>
              </a:rPr>
              <a:t>antara lain : </a:t>
            </a:r>
            <a:endParaRPr lang="en-US" sz="1800" dirty="0">
              <a:solidFill>
                <a:srgbClr val="FFFF00"/>
              </a:solidFill>
              <a:latin typeface="Berlin Sans FB" pitchFamily="34" charset="0"/>
            </a:endParaRPr>
          </a:p>
        </p:txBody>
      </p:sp>
      <p:sp>
        <p:nvSpPr>
          <p:cNvPr id="31" name="AutoShape 19"/>
          <p:cNvSpPr>
            <a:spLocks noChangeArrowheads="1"/>
          </p:cNvSpPr>
          <p:nvPr/>
        </p:nvSpPr>
        <p:spPr bwMode="auto">
          <a:xfrm>
            <a:off x="196031" y="1383670"/>
            <a:ext cx="292100" cy="416332"/>
          </a:xfrm>
          <a:prstGeom prst="roundRect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slope"/>
          </a:sp3d>
          <a:extLst/>
        </p:spPr>
        <p:txBody>
          <a:bodyPr wrap="none" anchor="ctr"/>
          <a:lstStyle/>
          <a:p>
            <a:pPr algn="ctr"/>
            <a:r>
              <a:rPr lang="id-ID" dirty="0">
                <a:solidFill>
                  <a:srgbClr val="FFFF00"/>
                </a:solidFill>
                <a:latin typeface="Berlin Sans FB" pitchFamily="34" charset="0"/>
              </a:rPr>
              <a:t>1</a:t>
            </a:r>
            <a:endParaRPr lang="en-US" sz="1800" dirty="0">
              <a:solidFill>
                <a:srgbClr val="FFFF00"/>
              </a:solidFill>
              <a:latin typeface="Berlin Sans FB" pitchFamily="34" charset="0"/>
            </a:endParaRPr>
          </a:p>
        </p:txBody>
      </p:sp>
      <p:sp>
        <p:nvSpPr>
          <p:cNvPr id="32" name="AutoShape 20"/>
          <p:cNvSpPr>
            <a:spLocks noChangeArrowheads="1"/>
          </p:cNvSpPr>
          <p:nvPr/>
        </p:nvSpPr>
        <p:spPr bwMode="auto">
          <a:xfrm>
            <a:off x="592288" y="2278836"/>
            <a:ext cx="261937" cy="359346"/>
          </a:xfrm>
          <a:prstGeom prst="roundRect">
            <a:avLst/>
          </a:prstGeom>
          <a:solidFill>
            <a:srgbClr val="A568D2"/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400" dirty="0">
                <a:solidFill>
                  <a:srgbClr val="2F1444"/>
                </a:solidFill>
                <a:latin typeface="Franklin Gothic Demi Cond" pitchFamily="34" charset="0"/>
              </a:rPr>
              <a:t>a</a:t>
            </a:r>
            <a:endParaRPr lang="en-US" sz="2400" dirty="0">
              <a:solidFill>
                <a:srgbClr val="2F1444"/>
              </a:solidFill>
              <a:latin typeface="Franklin Gothic Demi Cond" pitchFamily="34" charset="0"/>
            </a:endParaRPr>
          </a:p>
        </p:txBody>
      </p:sp>
      <p:sp>
        <p:nvSpPr>
          <p:cNvPr id="33" name="AutoShape 21"/>
          <p:cNvSpPr>
            <a:spLocks noChangeArrowheads="1"/>
          </p:cNvSpPr>
          <p:nvPr/>
        </p:nvSpPr>
        <p:spPr bwMode="auto">
          <a:xfrm>
            <a:off x="911995" y="4031406"/>
            <a:ext cx="3083614" cy="415588"/>
          </a:xfrm>
          <a:prstGeom prst="roundRect">
            <a:avLst>
              <a:gd name="adj" fmla="val 6918"/>
            </a:avLst>
          </a:prstGeom>
          <a:solidFill>
            <a:srgbClr val="1F0E2C"/>
          </a:solidFill>
          <a:ln>
            <a:solidFill>
              <a:schemeClr val="bg1">
                <a:lumMod val="95000"/>
              </a:schemeClr>
            </a:solidFill>
          </a:ln>
          <a:extLst/>
        </p:spPr>
        <p:txBody>
          <a:bodyPr wrap="square" anchor="ctr">
            <a:spAutoFit/>
          </a:bodyPr>
          <a:lstStyle/>
          <a:p>
            <a:r>
              <a:rPr lang="sv-SE" sz="2000" dirty="0" smtClean="0">
                <a:solidFill>
                  <a:srgbClr val="FFFF00"/>
                </a:solidFill>
                <a:latin typeface="Franklin Gothic Demi Cond" pitchFamily="34" charset="0"/>
              </a:rPr>
              <a:t>KETAKWAAN</a:t>
            </a:r>
            <a:endParaRPr lang="sv-SE" sz="16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4" name="AutoShape 22"/>
          <p:cNvSpPr>
            <a:spLocks noChangeArrowheads="1"/>
          </p:cNvSpPr>
          <p:nvPr/>
        </p:nvSpPr>
        <p:spPr bwMode="auto">
          <a:xfrm>
            <a:off x="592288" y="4027025"/>
            <a:ext cx="261937" cy="359345"/>
          </a:xfrm>
          <a:prstGeom prst="roundRect">
            <a:avLst/>
          </a:prstGeom>
          <a:solidFill>
            <a:srgbClr val="A568D2"/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400" dirty="0">
                <a:solidFill>
                  <a:srgbClr val="2F1444"/>
                </a:solidFill>
                <a:latin typeface="Franklin Gothic Demi Cond" pitchFamily="34" charset="0"/>
              </a:rPr>
              <a:t>b</a:t>
            </a:r>
            <a:endParaRPr lang="en-US" sz="2400" dirty="0">
              <a:solidFill>
                <a:srgbClr val="2F1444"/>
              </a:solidFill>
              <a:latin typeface="Franklin Gothic Demi Cond" pitchFamily="34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4060042" y="2132856"/>
            <a:ext cx="720080" cy="2736303"/>
          </a:xfrm>
          <a:prstGeom prst="rightArrow">
            <a:avLst>
              <a:gd name="adj1" fmla="val 69342"/>
              <a:gd name="adj2" fmla="val 42419"/>
            </a:avLst>
          </a:prstGeom>
          <a:solidFill>
            <a:srgbClr val="A568D2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id-ID" sz="2400" i="1" dirty="0" smtClean="0">
                <a:solidFill>
                  <a:srgbClr val="1F0E2C"/>
                </a:solidFill>
                <a:latin typeface="Franklin Gothic Demi Cond" pitchFamily="34" charset="0"/>
              </a:rPr>
              <a:t>PERAN</a:t>
            </a:r>
            <a:endParaRPr lang="id-ID" sz="2400" i="1" dirty="0">
              <a:solidFill>
                <a:srgbClr val="1F0E2C"/>
              </a:solidFill>
              <a:latin typeface="Franklin Gothic Demi Cond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42854" y="2924944"/>
            <a:ext cx="35455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d-ID" dirty="0" smtClean="0">
                <a:solidFill>
                  <a:srgbClr val="FFC000"/>
                </a:solidFill>
                <a:latin typeface="Franklin Gothic Demi Cond" pitchFamily="34" charset="0"/>
              </a:rPr>
              <a:t>MELENGKAPI ILMU PENGETAHUAN MENCIPTAKAN PERIMBANGAN ANTARA YANG RASIONAL DAN IRASIONAL, ANTARA RASA DAN AKAL. </a:t>
            </a:r>
            <a:endParaRPr lang="id-ID" dirty="0">
              <a:solidFill>
                <a:srgbClr val="FFC000"/>
              </a:solidFill>
              <a:latin typeface="Franklin Gothic Demi Cond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0520" y="5085184"/>
            <a:ext cx="3745896" cy="1021556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pPr lvl="0" algn="just"/>
            <a:r>
              <a:rPr lang="id-ID" dirty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SILA INI MENEMPATKAN MANUSIA DALAM ALAM SEBAGAI BAGIANNYA DAN BUKAN PUSATNYA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5774775" y="4207440"/>
            <a:ext cx="1461521" cy="720080"/>
          </a:xfrm>
          <a:prstGeom prst="downArrow">
            <a:avLst>
              <a:gd name="adj1" fmla="val 62314"/>
              <a:gd name="adj2" fmla="val 25779"/>
            </a:avLst>
          </a:prstGeom>
          <a:solidFill>
            <a:srgbClr val="7030A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00" dirty="0">
              <a:latin typeface="Franklin Gothic Demi Cond" pitchFamily="3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47573" y="79441"/>
            <a:ext cx="475838" cy="514305"/>
          </a:xfrm>
          <a:prstGeom prst="ellipse">
            <a:avLst/>
          </a:prstGeom>
          <a:solidFill>
            <a:srgbClr val="3E1B5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d-ID" sz="2400" dirty="0" smtClean="0">
              <a:solidFill>
                <a:srgbClr val="3E1B59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23411" y="2685696"/>
            <a:ext cx="30725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>
                <a:solidFill>
                  <a:schemeClr val="bg1"/>
                </a:solidFill>
                <a:latin typeface="Franklin Gothic Demi Cond" pitchFamily="34" charset="0"/>
              </a:rPr>
              <a:t>terhadap adanya Tuhan Yang Maha Esa dengan sifat-sifatnya Yang Maha Sempurna, yakni Maha Kasih, Maha Kuasa, Maha Bijaksana dll</a:t>
            </a:r>
            <a:r>
              <a:rPr lang="id-ID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sv-SE" sz="1200" dirty="0">
                <a:solidFill>
                  <a:schemeClr val="bg1"/>
                </a:solidFill>
                <a:latin typeface="Franklin Gothic Demi Cond" pitchFamily="34" charset="0"/>
              </a:rPr>
              <a:t>sifat yg suci</a:t>
            </a:r>
          </a:p>
        </p:txBody>
      </p:sp>
      <p:sp>
        <p:nvSpPr>
          <p:cNvPr id="3" name="Rectangle 2"/>
          <p:cNvSpPr/>
          <p:nvPr/>
        </p:nvSpPr>
        <p:spPr>
          <a:xfrm>
            <a:off x="923411" y="4465855"/>
            <a:ext cx="30725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>
                <a:solidFill>
                  <a:schemeClr val="bg1"/>
                </a:solidFill>
                <a:latin typeface="Franklin Gothic Demi Cond" pitchFamily="34" charset="0"/>
              </a:rPr>
              <a:t>terhadap Tuhan Yang Maha Esa, yakni menjalankan semua perintah-Nya dan menjauhi segala larangan-Nya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endParaRPr lang="sv-SE" sz="12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34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 animBg="1"/>
      <p:bldP spid="33" grpId="0" animBg="1"/>
      <p:bldP spid="34" grpId="0" animBg="1"/>
      <p:bldP spid="5" grpId="0" animBg="1"/>
      <p:bldP spid="11" grpId="0"/>
      <p:bldP spid="16" grpId="0" animBg="1"/>
      <p:bldP spid="37" grpId="0" animBg="1"/>
      <p:bldP spid="15" grpId="0" animBg="1"/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8316416" y="6309320"/>
            <a:ext cx="570150" cy="36004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5</a:t>
            </a:r>
            <a:endParaRPr lang="id-ID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39551" y="116632"/>
            <a:ext cx="8061939" cy="504056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 dirty="0" smtClean="0">
                <a:solidFill>
                  <a:schemeClr val="bg1"/>
                </a:solidFill>
                <a:latin typeface="Franklin Gothic Demi Cond" pitchFamily="34" charset="0"/>
              </a:rPr>
              <a:t>NILAI – NILAI YANG TERKANDUNG DLM SILA-SILA PANCASILA</a:t>
            </a:r>
            <a:r>
              <a:rPr lang="id-ID" sz="1600" dirty="0" smtClean="0">
                <a:solidFill>
                  <a:schemeClr val="bg1"/>
                </a:solidFill>
                <a:latin typeface="Franklin Gothic Demi Cond" pitchFamily="34" charset="0"/>
              </a:rPr>
              <a:t> SERTA </a:t>
            </a:r>
          </a:p>
          <a:p>
            <a:pPr algn="ctr"/>
            <a:r>
              <a:rPr lang="id-ID" sz="1600" dirty="0" smtClean="0">
                <a:solidFill>
                  <a:schemeClr val="bg1"/>
                </a:solidFill>
                <a:latin typeface="Franklin Gothic Demi Cond" pitchFamily="34" charset="0"/>
              </a:rPr>
              <a:t>PERAN NILAI-NILAI TERSEBUT  DALAM KEHIDUPAN </a:t>
            </a:r>
            <a:endParaRPr lang="en-US" sz="16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23106" y="1052736"/>
            <a:ext cx="8363460" cy="4467346"/>
          </a:xfrm>
          <a:prstGeom prst="roundRect">
            <a:avLst>
              <a:gd name="adj" fmla="val 381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AutoShape 27"/>
          <p:cNvSpPr>
            <a:spLocks noChangeArrowheads="1"/>
          </p:cNvSpPr>
          <p:nvPr/>
        </p:nvSpPr>
        <p:spPr bwMode="auto">
          <a:xfrm>
            <a:off x="1134295" y="2206395"/>
            <a:ext cx="3149673" cy="715089"/>
          </a:xfrm>
          <a:prstGeom prst="roundRect">
            <a:avLst/>
          </a:prstGeom>
          <a:solidFill>
            <a:srgbClr val="005426"/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Franklin Gothic Demi Cond" pitchFamily="34" charset="0"/>
              </a:rPr>
              <a:t>Pengakuan terhadap adanya </a:t>
            </a:r>
            <a:r>
              <a:rPr lang="sv-SE" dirty="0" smtClean="0">
                <a:solidFill>
                  <a:srgbClr val="FFFF00"/>
                </a:solidFill>
                <a:latin typeface="Franklin Gothic Demi Cond" pitchFamily="34" charset="0"/>
              </a:rPr>
              <a:t>MARTABAT</a:t>
            </a:r>
            <a:r>
              <a:rPr lang="sv-SE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sv-SE" dirty="0">
                <a:solidFill>
                  <a:schemeClr val="bg1"/>
                </a:solidFill>
                <a:latin typeface="Franklin Gothic Demi Cond" pitchFamily="34" charset="0"/>
              </a:rPr>
              <a:t>manusia</a:t>
            </a:r>
            <a:r>
              <a:rPr lang="en-US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endParaRPr lang="sv-SE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15" name="AutoShape 28"/>
          <p:cNvSpPr>
            <a:spLocks noChangeArrowheads="1"/>
          </p:cNvSpPr>
          <p:nvPr/>
        </p:nvSpPr>
        <p:spPr bwMode="auto">
          <a:xfrm>
            <a:off x="742181" y="1268760"/>
            <a:ext cx="8078788" cy="783193"/>
          </a:xfrm>
          <a:prstGeom prst="roundRect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slope"/>
          </a:sp3d>
          <a:extLst/>
        </p:spPr>
        <p:txBody>
          <a:bodyPr>
            <a:spAutoFit/>
          </a:bodyPr>
          <a:lstStyle/>
          <a:p>
            <a:r>
              <a:rPr lang="sv-SE" sz="2000" dirty="0">
                <a:solidFill>
                  <a:srgbClr val="FFFF00"/>
                </a:solidFill>
                <a:latin typeface="Berlin Sans FB" pitchFamily="34" charset="0"/>
              </a:rPr>
              <a:t>Dalam Sila II, </a:t>
            </a:r>
            <a:r>
              <a:rPr lang="sv-SE" sz="2000" i="1" dirty="0">
                <a:solidFill>
                  <a:srgbClr val="FFFF00"/>
                </a:solidFill>
                <a:latin typeface="Berlin Sans FB" pitchFamily="34" charset="0"/>
              </a:rPr>
              <a:t>Kemanusiaan yang adil dan beradab </a:t>
            </a:r>
            <a:r>
              <a:rPr lang="sv-SE" sz="2000" dirty="0">
                <a:solidFill>
                  <a:srgbClr val="FFFF00"/>
                </a:solidFill>
                <a:latin typeface="Berlin Sans FB" pitchFamily="34" charset="0"/>
              </a:rPr>
              <a:t> terkandung nilai </a:t>
            </a:r>
            <a:r>
              <a:rPr lang="sv-SE" sz="2000" dirty="0" smtClean="0">
                <a:solidFill>
                  <a:schemeClr val="bg1"/>
                </a:solidFill>
                <a:latin typeface="Franklin Gothic Demi Cond" pitchFamily="34" charset="0"/>
              </a:rPr>
              <a:t>KEMANUSIAAN</a:t>
            </a:r>
            <a:r>
              <a:rPr lang="sv-SE" sz="2000" dirty="0" smtClean="0">
                <a:solidFill>
                  <a:srgbClr val="FFFF00"/>
                </a:solidFill>
                <a:latin typeface="Berlin Sans FB" pitchFamily="34" charset="0"/>
              </a:rPr>
              <a:t> </a:t>
            </a:r>
            <a:r>
              <a:rPr lang="sv-SE" sz="2000" dirty="0">
                <a:solidFill>
                  <a:srgbClr val="FFFF00"/>
                </a:solidFill>
                <a:latin typeface="Berlin Sans FB" pitchFamily="34" charset="0"/>
              </a:rPr>
              <a:t>, al </a:t>
            </a:r>
            <a:endParaRPr lang="en-US" sz="2000" dirty="0">
              <a:solidFill>
                <a:srgbClr val="FFFF00"/>
              </a:solidFill>
              <a:latin typeface="Berlin Sans FB" pitchFamily="34" charset="0"/>
            </a:endParaRPr>
          </a:p>
        </p:txBody>
      </p:sp>
      <p:sp>
        <p:nvSpPr>
          <p:cNvPr id="16" name="AutoShape 29"/>
          <p:cNvSpPr>
            <a:spLocks noChangeArrowheads="1"/>
          </p:cNvSpPr>
          <p:nvPr/>
        </p:nvSpPr>
        <p:spPr bwMode="auto">
          <a:xfrm>
            <a:off x="323528" y="1283048"/>
            <a:ext cx="345628" cy="358775"/>
          </a:xfrm>
          <a:prstGeom prst="roundRect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slope"/>
          </a:sp3d>
          <a:extLst/>
        </p:spPr>
        <p:txBody>
          <a:bodyPr wrap="none" anchor="ctr"/>
          <a:lstStyle/>
          <a:p>
            <a:pPr algn="ctr"/>
            <a:r>
              <a:rPr lang="id-ID" sz="2000" dirty="0">
                <a:solidFill>
                  <a:srgbClr val="FFFF00"/>
                </a:solidFill>
                <a:latin typeface="Berlin Sans FB" pitchFamily="34" charset="0"/>
              </a:rPr>
              <a:t>2</a:t>
            </a:r>
            <a:endParaRPr lang="en-US" sz="2000" dirty="0">
              <a:solidFill>
                <a:srgbClr val="FFFF00"/>
              </a:solidFill>
              <a:latin typeface="Berlin Sans FB" pitchFamily="34" charset="0"/>
            </a:endParaRPr>
          </a:p>
        </p:txBody>
      </p:sp>
      <p:sp>
        <p:nvSpPr>
          <p:cNvPr id="17" name="AutoShape 30"/>
          <p:cNvSpPr>
            <a:spLocks noChangeArrowheads="1"/>
          </p:cNvSpPr>
          <p:nvPr/>
        </p:nvSpPr>
        <p:spPr bwMode="auto">
          <a:xfrm>
            <a:off x="769224" y="2348880"/>
            <a:ext cx="292100" cy="43749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400" dirty="0">
                <a:solidFill>
                  <a:srgbClr val="2F1444"/>
                </a:solidFill>
                <a:latin typeface="Franklin Gothic Demi Cond" pitchFamily="34" charset="0"/>
              </a:rPr>
              <a:t>a</a:t>
            </a:r>
            <a:endParaRPr lang="en-US" sz="2400" dirty="0">
              <a:solidFill>
                <a:srgbClr val="2F1444"/>
              </a:solidFill>
              <a:latin typeface="Franklin Gothic Demi Cond" pitchFamily="34" charset="0"/>
            </a:endParaRPr>
          </a:p>
        </p:txBody>
      </p:sp>
      <p:sp>
        <p:nvSpPr>
          <p:cNvPr id="18" name="AutoShape 31"/>
          <p:cNvSpPr>
            <a:spLocks noChangeArrowheads="1"/>
          </p:cNvSpPr>
          <p:nvPr/>
        </p:nvSpPr>
        <p:spPr bwMode="auto">
          <a:xfrm>
            <a:off x="1134295" y="2971654"/>
            <a:ext cx="3149673" cy="715089"/>
          </a:xfrm>
          <a:prstGeom prst="roundRect">
            <a:avLst/>
          </a:prstGeom>
          <a:solidFill>
            <a:srgbClr val="005426"/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Franklin Gothic Demi Cond" pitchFamily="34" charset="0"/>
              </a:rPr>
              <a:t>Perlakuan yang </a:t>
            </a:r>
            <a:r>
              <a:rPr lang="pt-BR" dirty="0" smtClean="0">
                <a:solidFill>
                  <a:srgbClr val="FFFF00"/>
                </a:solidFill>
                <a:latin typeface="Franklin Gothic Demi Cond" pitchFamily="34" charset="0"/>
              </a:rPr>
              <a:t>ADIL </a:t>
            </a:r>
            <a:r>
              <a:rPr lang="pt-BR" dirty="0" smtClean="0">
                <a:solidFill>
                  <a:schemeClr val="bg1"/>
                </a:solidFill>
                <a:latin typeface="Franklin Gothic Demi Cond" pitchFamily="34" charset="0"/>
              </a:rPr>
              <a:t>terhadap </a:t>
            </a:r>
            <a:r>
              <a:rPr lang="pt-BR" dirty="0">
                <a:solidFill>
                  <a:schemeClr val="bg1"/>
                </a:solidFill>
                <a:latin typeface="Franklin Gothic Demi Cond" pitchFamily="34" charset="0"/>
              </a:rPr>
              <a:t>sesama manusia.</a:t>
            </a:r>
            <a:endParaRPr lang="sv-SE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19" name="AutoShape 32"/>
          <p:cNvSpPr>
            <a:spLocks noChangeArrowheads="1"/>
          </p:cNvSpPr>
          <p:nvPr/>
        </p:nvSpPr>
        <p:spPr bwMode="auto">
          <a:xfrm>
            <a:off x="769224" y="3165510"/>
            <a:ext cx="292100" cy="43749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400" dirty="0">
                <a:solidFill>
                  <a:srgbClr val="2F1444"/>
                </a:solidFill>
                <a:latin typeface="Franklin Gothic Demi Cond" pitchFamily="34" charset="0"/>
              </a:rPr>
              <a:t>b</a:t>
            </a:r>
            <a:endParaRPr lang="en-US" sz="2400" dirty="0">
              <a:solidFill>
                <a:srgbClr val="2F1444"/>
              </a:solidFill>
              <a:latin typeface="Franklin Gothic Demi Cond" pitchFamily="34" charset="0"/>
            </a:endParaRPr>
          </a:p>
        </p:txBody>
      </p:sp>
      <p:sp>
        <p:nvSpPr>
          <p:cNvPr id="22" name="AutoShape 35"/>
          <p:cNvSpPr>
            <a:spLocks noChangeArrowheads="1"/>
          </p:cNvSpPr>
          <p:nvPr/>
        </p:nvSpPr>
        <p:spPr bwMode="auto">
          <a:xfrm>
            <a:off x="1093020" y="3757976"/>
            <a:ext cx="3183463" cy="1281589"/>
          </a:xfrm>
          <a:prstGeom prst="roundRect">
            <a:avLst>
              <a:gd name="adj" fmla="val 12007"/>
            </a:avLst>
          </a:prstGeom>
          <a:solidFill>
            <a:srgbClr val="005426"/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Franklin Gothic Demi Cond" pitchFamily="34" charset="0"/>
              </a:rPr>
              <a:t>Pengertian manusia yang </a:t>
            </a:r>
            <a:r>
              <a:rPr lang="pt-BR" dirty="0" smtClean="0">
                <a:solidFill>
                  <a:srgbClr val="FFFF00"/>
                </a:solidFill>
                <a:latin typeface="Franklin Gothic Demi Cond" pitchFamily="34" charset="0"/>
              </a:rPr>
              <a:t>BERADAB</a:t>
            </a:r>
            <a:r>
              <a:rPr lang="pt-BR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pt-BR" dirty="0">
                <a:solidFill>
                  <a:schemeClr val="bg1"/>
                </a:solidFill>
                <a:latin typeface="Franklin Gothic Demi Cond" pitchFamily="34" charset="0"/>
              </a:rPr>
              <a:t>[ memiliki cipta, rasa, karsa dan keyakinan </a:t>
            </a:r>
            <a:r>
              <a:rPr lang="pt-BR" dirty="0">
                <a:solidFill>
                  <a:schemeClr val="bg1"/>
                </a:solidFill>
                <a:latin typeface="Franklin Gothic Demi Cond" pitchFamily="34" charset="0"/>
                <a:sym typeface="Wingdings" pitchFamily="2" charset="2"/>
              </a:rPr>
              <a:t></a:t>
            </a:r>
            <a:r>
              <a:rPr lang="pt-BR" dirty="0">
                <a:solidFill>
                  <a:schemeClr val="bg1"/>
                </a:solidFill>
                <a:latin typeface="Franklin Gothic Demi Cond" pitchFamily="34" charset="0"/>
              </a:rPr>
              <a:t> beda antara manusia dan hewan ].</a:t>
            </a:r>
            <a:endParaRPr lang="sv-SE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23" name="AutoShape 36"/>
          <p:cNvSpPr>
            <a:spLocks noChangeArrowheads="1"/>
          </p:cNvSpPr>
          <p:nvPr/>
        </p:nvSpPr>
        <p:spPr bwMode="auto">
          <a:xfrm>
            <a:off x="769224" y="4217839"/>
            <a:ext cx="292100" cy="43749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400" dirty="0">
                <a:solidFill>
                  <a:srgbClr val="2F1444"/>
                </a:solidFill>
                <a:latin typeface="Franklin Gothic Demi Cond" pitchFamily="34" charset="0"/>
              </a:rPr>
              <a:t>c</a:t>
            </a:r>
            <a:endParaRPr lang="en-US" sz="2400" dirty="0">
              <a:solidFill>
                <a:srgbClr val="2F1444"/>
              </a:solidFill>
              <a:latin typeface="Franklin Gothic Demi Cond" pitchFamily="34" charset="0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4355976" y="2204864"/>
            <a:ext cx="720080" cy="2305220"/>
          </a:xfrm>
          <a:prstGeom prst="rightArrow">
            <a:avLst>
              <a:gd name="adj1" fmla="val 69342"/>
              <a:gd name="adj2" fmla="val 42419"/>
            </a:avLst>
          </a:prstGeom>
          <a:solidFill>
            <a:srgbClr val="A568D2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id-ID" sz="2400" i="1" dirty="0" smtClean="0">
                <a:solidFill>
                  <a:srgbClr val="1F0E2C"/>
                </a:solidFill>
                <a:latin typeface="Franklin Gothic Demi Cond" pitchFamily="34" charset="0"/>
              </a:rPr>
              <a:t>PERAN</a:t>
            </a:r>
            <a:endParaRPr lang="id-ID" sz="2400" i="1" dirty="0">
              <a:solidFill>
                <a:srgbClr val="1F0E2C"/>
              </a:solidFill>
              <a:latin typeface="Franklin Gothic Demi Cond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076056" y="2924944"/>
            <a:ext cx="38105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 smtClean="0">
                <a:solidFill>
                  <a:srgbClr val="1F0E2C"/>
                </a:solidFill>
                <a:latin typeface="Franklin Gothic Demi Cond" pitchFamily="34" charset="0"/>
              </a:rPr>
              <a:t>MEMBERI ARAH DAN MENGENDALIKAN ILMU PENGETAHUAN. </a:t>
            </a:r>
            <a:endParaRPr lang="id-ID" dirty="0">
              <a:solidFill>
                <a:srgbClr val="1F0E2C"/>
              </a:solidFill>
              <a:latin typeface="Franklin Gothic Demi Cond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76056" y="4005064"/>
            <a:ext cx="3600400" cy="2062103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pPr lvl="0" algn="ctr"/>
            <a:r>
              <a:rPr lang="id-ID" sz="1600" dirty="0" smtClean="0">
                <a:solidFill>
                  <a:srgbClr val="FFC000"/>
                </a:solidFill>
                <a:latin typeface="Franklin Gothic Demi Cond" pitchFamily="34" charset="0"/>
              </a:rPr>
              <a:t>PENGEMBANGAN  </a:t>
            </a:r>
            <a:r>
              <a:rPr lang="fi-FI" sz="1600" dirty="0" smtClean="0">
                <a:solidFill>
                  <a:srgbClr val="FFC000"/>
                </a:solidFill>
                <a:latin typeface="Franklin Gothic Demi Cond" pitchFamily="34" charset="0"/>
              </a:rPr>
              <a:t>ILMU </a:t>
            </a:r>
            <a:r>
              <a:rPr lang="fi-FI" sz="1600" dirty="0">
                <a:solidFill>
                  <a:srgbClr val="FFC000"/>
                </a:solidFill>
                <a:latin typeface="Franklin Gothic Demi Cond" pitchFamily="34" charset="0"/>
              </a:rPr>
              <a:t>HARUS DIDASARKAN PADA TUJUAN AWAL DITEMUKAN ILMU ATAU</a:t>
            </a:r>
          </a:p>
          <a:p>
            <a:pPr lvl="0" algn="ctr"/>
            <a:r>
              <a:rPr lang="id-ID" sz="1600" dirty="0">
                <a:solidFill>
                  <a:srgbClr val="FFC000"/>
                </a:solidFill>
                <a:latin typeface="Franklin Gothic Demi Cond" pitchFamily="34" charset="0"/>
              </a:rPr>
              <a:t>FUNGSINYA SEMULA, YAITU UNTUK </a:t>
            </a:r>
            <a:r>
              <a:rPr lang="id-ID" sz="1600" dirty="0">
                <a:solidFill>
                  <a:schemeClr val="bg1"/>
                </a:solidFill>
                <a:latin typeface="Franklin Gothic Demi Cond" pitchFamily="34" charset="0"/>
              </a:rPr>
              <a:t>MENCERDASKAN, MENSEJAHTERAKAN, DAN  MEMARTABATKAN MANUSIA, ILMU TIDAK HANYA UNTUK KELOMPOK, </a:t>
            </a:r>
            <a:r>
              <a:rPr lang="id-ID" sz="1600" dirty="0" smtClean="0">
                <a:solidFill>
                  <a:schemeClr val="bg1"/>
                </a:solidFill>
                <a:latin typeface="Franklin Gothic Demi Cond" pitchFamily="34" charset="0"/>
              </a:rPr>
              <a:t>LAPISAN TERTENTU</a:t>
            </a:r>
            <a:r>
              <a:rPr lang="id-ID" sz="1600" dirty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5774775" y="3528304"/>
            <a:ext cx="1461521" cy="447894"/>
          </a:xfrm>
          <a:prstGeom prst="downArrow">
            <a:avLst>
              <a:gd name="adj1" fmla="val 62314"/>
              <a:gd name="adj2" fmla="val 35255"/>
            </a:avLst>
          </a:prstGeom>
          <a:solidFill>
            <a:srgbClr val="7030A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00" dirty="0">
              <a:latin typeface="Franklin Gothic Demi Cond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7573" y="79441"/>
            <a:ext cx="475838" cy="514305"/>
          </a:xfrm>
          <a:prstGeom prst="ellipse">
            <a:avLst/>
          </a:prstGeom>
          <a:solidFill>
            <a:srgbClr val="3E1B5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d-ID" sz="2400" dirty="0" smtClean="0">
              <a:solidFill>
                <a:srgbClr val="3E1B59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418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" grpId="0"/>
      <p:bldP spid="3" grpId="0" animBg="1"/>
      <p:bldP spid="35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8316416" y="6309320"/>
            <a:ext cx="570150" cy="36004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6</a:t>
            </a:r>
            <a:endParaRPr lang="id-ID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39551" y="116632"/>
            <a:ext cx="8061939" cy="504056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 dirty="0" smtClean="0">
                <a:solidFill>
                  <a:schemeClr val="bg1"/>
                </a:solidFill>
                <a:latin typeface="Franklin Gothic Demi Cond" pitchFamily="34" charset="0"/>
              </a:rPr>
              <a:t>NILAI – NILAI YANG TERKANDUNG DLM SILA-SILA PANCASILA</a:t>
            </a:r>
            <a:r>
              <a:rPr lang="id-ID" sz="1600" dirty="0" smtClean="0">
                <a:solidFill>
                  <a:schemeClr val="bg1"/>
                </a:solidFill>
                <a:latin typeface="Franklin Gothic Demi Cond" pitchFamily="34" charset="0"/>
              </a:rPr>
              <a:t> SERTA </a:t>
            </a:r>
          </a:p>
          <a:p>
            <a:pPr algn="ctr"/>
            <a:r>
              <a:rPr lang="id-ID" sz="1600" dirty="0" smtClean="0">
                <a:solidFill>
                  <a:schemeClr val="bg1"/>
                </a:solidFill>
                <a:latin typeface="Franklin Gothic Demi Cond" pitchFamily="34" charset="0"/>
              </a:rPr>
              <a:t>PERAN NILAI-NILAI TERSEBUT  DALAM KEHIDUPAN </a:t>
            </a:r>
            <a:endParaRPr lang="en-US" sz="16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66750" y="973138"/>
            <a:ext cx="8369746" cy="5123008"/>
          </a:xfrm>
          <a:prstGeom prst="roundRect">
            <a:avLst>
              <a:gd name="adj" fmla="val 3817"/>
            </a:avLst>
          </a:prstGeom>
          <a:solidFill>
            <a:srgbClr val="2409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1" name="AutoShape 27"/>
          <p:cNvSpPr>
            <a:spLocks noChangeArrowheads="1"/>
          </p:cNvSpPr>
          <p:nvPr/>
        </p:nvSpPr>
        <p:spPr bwMode="auto">
          <a:xfrm>
            <a:off x="1277938" y="2160634"/>
            <a:ext cx="3678621" cy="919401"/>
          </a:xfrm>
          <a:prstGeom prst="roundRect">
            <a:avLst/>
          </a:prstGeom>
          <a:solidFill>
            <a:srgbClr val="070274"/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Franklin Gothic Demi Cond" pitchFamily="34" charset="0"/>
              </a:rPr>
              <a:t>Persatuan Indonesia adalah persatuan </a:t>
            </a:r>
            <a:r>
              <a:rPr lang="it-IT" sz="1600" dirty="0" smtClean="0">
                <a:solidFill>
                  <a:srgbClr val="FFFF00"/>
                </a:solidFill>
                <a:latin typeface="Franklin Gothic Demi Cond" pitchFamily="34" charset="0"/>
              </a:rPr>
              <a:t>BANGSA YANG MENDIAMI </a:t>
            </a:r>
            <a:r>
              <a:rPr lang="it-IT" sz="1600" dirty="0" smtClean="0">
                <a:solidFill>
                  <a:schemeClr val="bg1"/>
                </a:solidFill>
                <a:latin typeface="Franklin Gothic Demi Cond" pitchFamily="34" charset="0"/>
              </a:rPr>
              <a:t>wilayah </a:t>
            </a:r>
            <a:r>
              <a:rPr lang="it-IT" sz="1600" dirty="0">
                <a:solidFill>
                  <a:schemeClr val="bg1"/>
                </a:solidFill>
                <a:latin typeface="Franklin Gothic Demi Cond" pitchFamily="34" charset="0"/>
              </a:rPr>
              <a:t>Indonesia.</a:t>
            </a:r>
            <a:endParaRPr lang="sv-SE" sz="16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25" name="AutoShape 28"/>
          <p:cNvSpPr>
            <a:spLocks noChangeArrowheads="1"/>
          </p:cNvSpPr>
          <p:nvPr/>
        </p:nvSpPr>
        <p:spPr bwMode="auto">
          <a:xfrm>
            <a:off x="885825" y="1248088"/>
            <a:ext cx="7934325" cy="783193"/>
          </a:xfrm>
          <a:prstGeom prst="roundRect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slope"/>
          </a:sp3d>
          <a:extLst/>
        </p:spPr>
        <p:txBody>
          <a:bodyPr>
            <a:spAutoFit/>
          </a:bodyPr>
          <a:lstStyle/>
          <a:p>
            <a:r>
              <a:rPr lang="it-IT" sz="2000" dirty="0">
                <a:solidFill>
                  <a:srgbClr val="FFFF00"/>
                </a:solidFill>
                <a:latin typeface="Berlin Sans FB" pitchFamily="34" charset="0"/>
              </a:rPr>
              <a:t>Dalam Sila III, </a:t>
            </a:r>
            <a:r>
              <a:rPr lang="it-IT" sz="2000" i="1" dirty="0">
                <a:solidFill>
                  <a:srgbClr val="FFFF00"/>
                </a:solidFill>
                <a:latin typeface="Berlin Sans FB" pitchFamily="34" charset="0"/>
              </a:rPr>
              <a:t>Persatuan Indonesia </a:t>
            </a:r>
            <a:r>
              <a:rPr lang="it-IT" sz="2000" dirty="0">
                <a:solidFill>
                  <a:srgbClr val="FFFF00"/>
                </a:solidFill>
                <a:latin typeface="Berlin Sans FB" pitchFamily="34" charset="0"/>
              </a:rPr>
              <a:t> terkandung nilai </a:t>
            </a:r>
            <a:r>
              <a:rPr lang="it-IT" sz="2000" dirty="0" smtClean="0">
                <a:solidFill>
                  <a:schemeClr val="bg1"/>
                </a:solidFill>
                <a:latin typeface="Franklin Gothic Demi Cond" pitchFamily="34" charset="0"/>
              </a:rPr>
              <a:t>PERSATUAN BANGSA </a:t>
            </a:r>
            <a:r>
              <a:rPr lang="it-IT" sz="2000" dirty="0" smtClean="0">
                <a:solidFill>
                  <a:srgbClr val="FFFF00"/>
                </a:solidFill>
                <a:latin typeface="Berlin Sans FB" pitchFamily="34" charset="0"/>
              </a:rPr>
              <a:t>antara </a:t>
            </a:r>
            <a:r>
              <a:rPr lang="it-IT" sz="2000" dirty="0">
                <a:solidFill>
                  <a:srgbClr val="FFFF00"/>
                </a:solidFill>
                <a:latin typeface="Berlin Sans FB" pitchFamily="34" charset="0"/>
              </a:rPr>
              <a:t>lain </a:t>
            </a:r>
            <a:endParaRPr lang="en-US" sz="2000" dirty="0">
              <a:solidFill>
                <a:srgbClr val="FFFF00"/>
              </a:solidFill>
              <a:latin typeface="Berlin Sans FB" pitchFamily="34" charset="0"/>
            </a:endParaRPr>
          </a:p>
        </p:txBody>
      </p:sp>
      <p:sp>
        <p:nvSpPr>
          <p:cNvPr id="28" name="AutoShape 29"/>
          <p:cNvSpPr>
            <a:spLocks noChangeArrowheads="1"/>
          </p:cNvSpPr>
          <p:nvPr/>
        </p:nvSpPr>
        <p:spPr bwMode="auto">
          <a:xfrm>
            <a:off x="395536" y="1262375"/>
            <a:ext cx="417264" cy="358775"/>
          </a:xfrm>
          <a:prstGeom prst="roundRect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slope"/>
          </a:sp3d>
          <a:extLst/>
        </p:spPr>
        <p:txBody>
          <a:bodyPr wrap="none" anchor="ctr"/>
          <a:lstStyle/>
          <a:p>
            <a:pPr algn="ctr"/>
            <a:r>
              <a:rPr lang="id-ID" sz="2000" dirty="0">
                <a:solidFill>
                  <a:srgbClr val="FFFF00"/>
                </a:solidFill>
                <a:latin typeface="Berlin Sans FB" pitchFamily="34" charset="0"/>
              </a:rPr>
              <a:t>3</a:t>
            </a:r>
            <a:endParaRPr lang="en-US" sz="2000" dirty="0">
              <a:solidFill>
                <a:srgbClr val="FFFF00"/>
              </a:solidFill>
              <a:latin typeface="Berlin Sans FB" pitchFamily="34" charset="0"/>
            </a:endParaRPr>
          </a:p>
        </p:txBody>
      </p:sp>
      <p:sp>
        <p:nvSpPr>
          <p:cNvPr id="29" name="AutoShape 30"/>
          <p:cNvSpPr>
            <a:spLocks noChangeArrowheads="1"/>
          </p:cNvSpPr>
          <p:nvPr/>
        </p:nvSpPr>
        <p:spPr bwMode="auto">
          <a:xfrm>
            <a:off x="971550" y="2424278"/>
            <a:ext cx="215900" cy="287337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000" dirty="0">
                <a:solidFill>
                  <a:srgbClr val="2F1444"/>
                </a:solidFill>
                <a:latin typeface="Franklin Gothic Demi Cond" pitchFamily="34" charset="0"/>
              </a:rPr>
              <a:t>a</a:t>
            </a:r>
            <a:endParaRPr lang="en-US" sz="2000" dirty="0">
              <a:solidFill>
                <a:srgbClr val="2F1444"/>
              </a:solidFill>
              <a:latin typeface="Franklin Gothic Demi Cond" pitchFamily="34" charset="0"/>
            </a:endParaRPr>
          </a:p>
        </p:txBody>
      </p:sp>
      <p:sp>
        <p:nvSpPr>
          <p:cNvPr id="30" name="AutoShape 31"/>
          <p:cNvSpPr>
            <a:spLocks noChangeArrowheads="1"/>
          </p:cNvSpPr>
          <p:nvPr/>
        </p:nvSpPr>
        <p:spPr bwMode="auto">
          <a:xfrm>
            <a:off x="1277938" y="3124063"/>
            <a:ext cx="3678621" cy="646986"/>
          </a:xfrm>
          <a:prstGeom prst="roundRect">
            <a:avLst/>
          </a:prstGeom>
          <a:solidFill>
            <a:srgbClr val="070274"/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Franklin Gothic Demi Cond" pitchFamily="34" charset="0"/>
              </a:rPr>
              <a:t>Bangsa Indonesia adalah persatuan suku2 bangsa yg mendiami wil. Indonesia.</a:t>
            </a:r>
            <a:endParaRPr lang="sv-SE" sz="16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1" name="AutoShape 32"/>
          <p:cNvSpPr>
            <a:spLocks noChangeArrowheads="1"/>
          </p:cNvSpPr>
          <p:nvPr/>
        </p:nvSpPr>
        <p:spPr bwMode="auto">
          <a:xfrm>
            <a:off x="971550" y="3271983"/>
            <a:ext cx="215900" cy="28733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000" dirty="0">
                <a:solidFill>
                  <a:srgbClr val="2F1444"/>
                </a:solidFill>
                <a:latin typeface="Franklin Gothic Demi Cond" pitchFamily="34" charset="0"/>
              </a:rPr>
              <a:t>b</a:t>
            </a:r>
            <a:endParaRPr lang="en-US" sz="2000" dirty="0">
              <a:solidFill>
                <a:srgbClr val="2F1444"/>
              </a:solidFill>
              <a:latin typeface="Franklin Gothic Demi Cond" pitchFamily="34" charset="0"/>
            </a:endParaRPr>
          </a:p>
        </p:txBody>
      </p:sp>
      <p:sp>
        <p:nvSpPr>
          <p:cNvPr id="34" name="AutoShape 46"/>
          <p:cNvSpPr>
            <a:spLocks noChangeArrowheads="1"/>
          </p:cNvSpPr>
          <p:nvPr/>
        </p:nvSpPr>
        <p:spPr bwMode="auto">
          <a:xfrm>
            <a:off x="1277938" y="3837432"/>
            <a:ext cx="3676812" cy="1413034"/>
          </a:xfrm>
          <a:prstGeom prst="roundRect">
            <a:avLst>
              <a:gd name="adj" fmla="val 10941"/>
            </a:avLst>
          </a:prstGeom>
          <a:solidFill>
            <a:srgbClr val="070274"/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it-IT" sz="1600" dirty="0" smtClean="0">
                <a:solidFill>
                  <a:srgbClr val="FFFF00"/>
                </a:solidFill>
                <a:latin typeface="Franklin Gothic Demi Cond" pitchFamily="34" charset="0"/>
              </a:rPr>
              <a:t>PENGAKUAN</a:t>
            </a:r>
            <a:r>
              <a:rPr lang="it-IT" sz="16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it-IT" sz="1600" dirty="0">
                <a:solidFill>
                  <a:schemeClr val="bg1"/>
                </a:solidFill>
                <a:latin typeface="Franklin Gothic Demi Cond" pitchFamily="34" charset="0"/>
              </a:rPr>
              <a:t>thd ke- Bhineka Tunggal Ika - an suku bangsa [ etnis ] dan kebud. bangsa [ber-beda2 namun satu jiwa] yg memberikan arah dlm pembinaan kesatuan bangsa.</a:t>
            </a:r>
            <a:endParaRPr lang="sv-SE" sz="16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6" name="AutoShape 47"/>
          <p:cNvSpPr>
            <a:spLocks noChangeArrowheads="1"/>
          </p:cNvSpPr>
          <p:nvPr/>
        </p:nvSpPr>
        <p:spPr bwMode="auto">
          <a:xfrm>
            <a:off x="971550" y="3995228"/>
            <a:ext cx="215900" cy="287337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000" dirty="0">
                <a:solidFill>
                  <a:srgbClr val="2F1444"/>
                </a:solidFill>
                <a:latin typeface="Franklin Gothic Demi Cond" pitchFamily="34" charset="0"/>
              </a:rPr>
              <a:t>c</a:t>
            </a:r>
            <a:endParaRPr lang="en-US" sz="2000" dirty="0">
              <a:solidFill>
                <a:srgbClr val="2F1444"/>
              </a:solidFill>
              <a:latin typeface="Franklin Gothic Demi Cond" pitchFamily="34" charset="0"/>
            </a:endParaRPr>
          </a:p>
        </p:txBody>
      </p:sp>
      <p:sp>
        <p:nvSpPr>
          <p:cNvPr id="37" name="Right Arrow 36"/>
          <p:cNvSpPr/>
          <p:nvPr/>
        </p:nvSpPr>
        <p:spPr>
          <a:xfrm>
            <a:off x="5048760" y="2331975"/>
            <a:ext cx="720080" cy="2305220"/>
          </a:xfrm>
          <a:prstGeom prst="rightArrow">
            <a:avLst>
              <a:gd name="adj1" fmla="val 69342"/>
              <a:gd name="adj2" fmla="val 42419"/>
            </a:avLst>
          </a:prstGeom>
          <a:solidFill>
            <a:srgbClr val="A568D2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id-ID" sz="2400" i="1" dirty="0" smtClean="0">
                <a:solidFill>
                  <a:srgbClr val="1F0E2C"/>
                </a:solidFill>
                <a:latin typeface="Franklin Gothic Demi Cond" pitchFamily="34" charset="0"/>
              </a:rPr>
              <a:t>PERAN</a:t>
            </a:r>
            <a:endParaRPr lang="id-ID" sz="2400" i="1" dirty="0">
              <a:solidFill>
                <a:srgbClr val="1F0E2C"/>
              </a:solidFill>
              <a:latin typeface="Franklin Gothic Demi Cond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52120" y="2672849"/>
            <a:ext cx="32344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sz="1600" dirty="0" smtClean="0">
                <a:solidFill>
                  <a:srgbClr val="FFC000"/>
                </a:solidFill>
                <a:latin typeface="Franklin Gothic Demi Cond" pitchFamily="34" charset="0"/>
              </a:rPr>
              <a:t>MELENGKAPI DAN MENYEMPURNAKAN </a:t>
            </a:r>
          </a:p>
          <a:p>
            <a:pPr algn="ctr"/>
            <a:r>
              <a:rPr lang="id-ID" sz="1600" dirty="0" smtClean="0">
                <a:solidFill>
                  <a:srgbClr val="FFC000"/>
                </a:solidFill>
                <a:latin typeface="Franklin Gothic Demi Cond" pitchFamily="34" charset="0"/>
              </a:rPr>
              <a:t>SILA-SILA YANG LAIN,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8840" y="3861048"/>
            <a:ext cx="3117726" cy="1560909"/>
          </a:xfrm>
          <a:prstGeom prst="roundRect">
            <a:avLst>
              <a:gd name="adj" fmla="val 7442"/>
            </a:avLst>
          </a:prstGeom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pPr marL="117475" lvl="0" indent="-117475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id-ID" sz="1200" dirty="0" smtClean="0">
                <a:solidFill>
                  <a:schemeClr val="bg1"/>
                </a:solidFill>
                <a:latin typeface="Arial Black" pitchFamily="34" charset="0"/>
              </a:rPr>
              <a:t>SEHINGGA SISTEM YG SATU TIDAK MENGABAIKAN SISTEM DAN SUB SISTEM YG LAIN</a:t>
            </a:r>
            <a:endParaRPr lang="en-US" sz="12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marL="117475" lvl="0" indent="-117475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dirty="0" smtClean="0">
                <a:solidFill>
                  <a:srgbClr val="FFFF00"/>
                </a:solidFill>
                <a:latin typeface="Arial Black" pitchFamily="34" charset="0"/>
              </a:rPr>
              <a:t>SOLIDARITAS</a:t>
            </a:r>
            <a:r>
              <a:rPr lang="en-US" sz="1200" dirty="0" smtClean="0">
                <a:solidFill>
                  <a:schemeClr val="bg1"/>
                </a:solidFill>
                <a:latin typeface="Arial Black" pitchFamily="34" charset="0"/>
              </a:rPr>
              <a:t> SANGAT PENTING DALAM MEMBERI RUANG INDIVIDUALITAS YANG TIDAK MENGGANGGU INTEGRITAS</a:t>
            </a:r>
            <a:endParaRPr lang="id-ID" sz="12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8" name="Down Arrow 37"/>
          <p:cNvSpPr/>
          <p:nvPr/>
        </p:nvSpPr>
        <p:spPr>
          <a:xfrm>
            <a:off x="6262127" y="3271983"/>
            <a:ext cx="1461521" cy="499066"/>
          </a:xfrm>
          <a:prstGeom prst="downArrow">
            <a:avLst>
              <a:gd name="adj1" fmla="val 62314"/>
              <a:gd name="adj2" fmla="val 26039"/>
            </a:avLst>
          </a:prstGeom>
          <a:solidFill>
            <a:srgbClr val="7030A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00" dirty="0">
              <a:latin typeface="Franklin Gothic Demi Cond" pitchFamily="34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47573" y="79441"/>
            <a:ext cx="475838" cy="514305"/>
          </a:xfrm>
          <a:prstGeom prst="ellipse">
            <a:avLst/>
          </a:prstGeom>
          <a:solidFill>
            <a:srgbClr val="3E1B5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d-ID" sz="2400" dirty="0" smtClean="0">
              <a:solidFill>
                <a:srgbClr val="3E1B59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50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9" grpId="0" animBg="1"/>
      <p:bldP spid="30" grpId="0" animBg="1"/>
      <p:bldP spid="31" grpId="0" animBg="1"/>
      <p:bldP spid="34" grpId="0" animBg="1"/>
      <p:bldP spid="36" grpId="0" animBg="1"/>
      <p:bldP spid="37" grpId="0" animBg="1"/>
      <p:bldP spid="4" grpId="0"/>
      <p:bldP spid="5" grpId="0" animBg="1"/>
      <p:bldP spid="38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523429" y="973138"/>
            <a:ext cx="8009706" cy="5123008"/>
          </a:xfrm>
          <a:prstGeom prst="roundRect">
            <a:avLst>
              <a:gd name="adj" fmla="val 3817"/>
            </a:avLst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6" name="Right Arrow 45"/>
          <p:cNvSpPr/>
          <p:nvPr/>
        </p:nvSpPr>
        <p:spPr>
          <a:xfrm>
            <a:off x="3851920" y="2853219"/>
            <a:ext cx="864097" cy="2305220"/>
          </a:xfrm>
          <a:prstGeom prst="rightArrow">
            <a:avLst>
              <a:gd name="adj1" fmla="val 69342"/>
              <a:gd name="adj2" fmla="val 42419"/>
            </a:avLst>
          </a:prstGeom>
          <a:solidFill>
            <a:srgbClr val="A568D2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id-ID" sz="2400" i="1" dirty="0" smtClean="0">
                <a:solidFill>
                  <a:srgbClr val="1F0E2C"/>
                </a:solidFill>
                <a:latin typeface="Franklin Gothic Demi Cond" pitchFamily="34" charset="0"/>
              </a:rPr>
              <a:t>PERAN</a:t>
            </a:r>
            <a:endParaRPr lang="id-ID" sz="2400" i="1" dirty="0">
              <a:solidFill>
                <a:srgbClr val="1F0E2C"/>
              </a:solidFill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316416" y="6309320"/>
            <a:ext cx="570150" cy="36004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7</a:t>
            </a:r>
            <a:endParaRPr lang="id-ID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39551" y="116632"/>
            <a:ext cx="8061939" cy="504056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 dirty="0" smtClean="0">
                <a:solidFill>
                  <a:schemeClr val="bg1"/>
                </a:solidFill>
                <a:latin typeface="Franklin Gothic Demi Cond" pitchFamily="34" charset="0"/>
              </a:rPr>
              <a:t>NILAI – NILAI YANG TERKANDUNG DLM SILA-SILA PANCASILA</a:t>
            </a:r>
            <a:r>
              <a:rPr lang="id-ID" sz="1600" dirty="0" smtClean="0">
                <a:solidFill>
                  <a:schemeClr val="bg1"/>
                </a:solidFill>
                <a:latin typeface="Franklin Gothic Demi Cond" pitchFamily="34" charset="0"/>
              </a:rPr>
              <a:t> SERTA </a:t>
            </a:r>
          </a:p>
          <a:p>
            <a:pPr algn="ctr"/>
            <a:r>
              <a:rPr lang="id-ID" sz="1600" dirty="0" smtClean="0">
                <a:solidFill>
                  <a:schemeClr val="bg1"/>
                </a:solidFill>
                <a:latin typeface="Franklin Gothic Demi Cond" pitchFamily="34" charset="0"/>
              </a:rPr>
              <a:t>PERAN NILAI-NILAI TERSEBUT  DALAM KEHIDUPAN </a:t>
            </a:r>
            <a:endParaRPr lang="en-US" sz="16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774255" y="2073846"/>
            <a:ext cx="3003525" cy="646986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Franklin Gothic Demi Cond" pitchFamily="34" charset="0"/>
              </a:rPr>
              <a:t>Kedaulatan negara ada </a:t>
            </a:r>
            <a:r>
              <a:rPr lang="it-IT" sz="1600" dirty="0" smtClean="0">
                <a:solidFill>
                  <a:srgbClr val="FFFF00"/>
                </a:solidFill>
                <a:latin typeface="Franklin Gothic Demi Cond" pitchFamily="34" charset="0"/>
              </a:rPr>
              <a:t>DITANGAN RAKYAT</a:t>
            </a:r>
            <a:r>
              <a:rPr lang="it-IT" sz="1600" dirty="0" smtClean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  <a:r>
              <a:rPr lang="en-US" sz="16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endParaRPr lang="sv-SE" sz="16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19" name="AutoShape 16"/>
          <p:cNvSpPr>
            <a:spLocks noChangeArrowheads="1"/>
          </p:cNvSpPr>
          <p:nvPr/>
        </p:nvSpPr>
        <p:spPr bwMode="auto">
          <a:xfrm>
            <a:off x="340867" y="1205647"/>
            <a:ext cx="8480300" cy="783193"/>
          </a:xfrm>
          <a:prstGeom prst="roundRect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slope"/>
          </a:sp3d>
          <a:extLst/>
        </p:spPr>
        <p:txBody>
          <a:bodyPr wrap="square">
            <a:spAutoFit/>
          </a:bodyPr>
          <a:lstStyle/>
          <a:p>
            <a:r>
              <a:rPr lang="it-IT" sz="2000" dirty="0">
                <a:solidFill>
                  <a:srgbClr val="FFFF00"/>
                </a:solidFill>
                <a:latin typeface="Berlin Sans FB" pitchFamily="34" charset="0"/>
              </a:rPr>
              <a:t>Dalam Sila IV, </a:t>
            </a:r>
            <a:r>
              <a:rPr lang="it-IT" sz="2000" i="1" dirty="0">
                <a:solidFill>
                  <a:srgbClr val="FFFF00"/>
                </a:solidFill>
                <a:latin typeface="Berlin Sans FB" pitchFamily="34" charset="0"/>
              </a:rPr>
              <a:t>Kerakyatan yang dipimpin oleh hikmat kebjaksanaan dalam permusyawaratan / </a:t>
            </a:r>
            <a:r>
              <a:rPr lang="it-IT" sz="2000" i="1" dirty="0" smtClean="0">
                <a:solidFill>
                  <a:srgbClr val="FFFF00"/>
                </a:solidFill>
                <a:latin typeface="Berlin Sans FB" pitchFamily="34" charset="0"/>
              </a:rPr>
              <a:t>perwakilan </a:t>
            </a:r>
            <a:r>
              <a:rPr lang="it-IT" sz="2000" dirty="0" smtClean="0">
                <a:solidFill>
                  <a:srgbClr val="FFFF00"/>
                </a:solidFill>
                <a:latin typeface="Berlin Sans FB" pitchFamily="34" charset="0"/>
              </a:rPr>
              <a:t> </a:t>
            </a:r>
            <a:r>
              <a:rPr lang="it-IT" sz="2000" dirty="0">
                <a:solidFill>
                  <a:srgbClr val="FFFF00"/>
                </a:solidFill>
                <a:latin typeface="Berlin Sans FB" pitchFamily="34" charset="0"/>
              </a:rPr>
              <a:t>terkandung nilai </a:t>
            </a:r>
            <a:r>
              <a:rPr lang="it-IT" sz="2000" dirty="0" smtClean="0">
                <a:solidFill>
                  <a:schemeClr val="bg1"/>
                </a:solidFill>
                <a:latin typeface="Franklin Gothic Demi Cond" pitchFamily="34" charset="0"/>
              </a:rPr>
              <a:t>KERAKYATAN</a:t>
            </a:r>
            <a:r>
              <a:rPr lang="it-IT" sz="2000" i="1" dirty="0" smtClean="0">
                <a:solidFill>
                  <a:srgbClr val="FFFF00"/>
                </a:solidFill>
                <a:latin typeface="Berlin Sans FB" pitchFamily="34" charset="0"/>
              </a:rPr>
              <a:t> </a:t>
            </a:r>
            <a:r>
              <a:rPr lang="it-IT" sz="2000" dirty="0">
                <a:solidFill>
                  <a:srgbClr val="FFFF00"/>
                </a:solidFill>
                <a:latin typeface="Berlin Sans FB" pitchFamily="34" charset="0"/>
              </a:rPr>
              <a:t>antara lain </a:t>
            </a:r>
            <a:endParaRPr lang="en-US" sz="2000" dirty="0">
              <a:solidFill>
                <a:srgbClr val="FFFF00"/>
              </a:solidFill>
              <a:latin typeface="Berlin Sans FB" pitchFamily="34" charset="0"/>
            </a:endParaRPr>
          </a:p>
        </p:txBody>
      </p:sp>
      <p:sp>
        <p:nvSpPr>
          <p:cNvPr id="22" name="AutoShape 17"/>
          <p:cNvSpPr>
            <a:spLocks noChangeArrowheads="1"/>
          </p:cNvSpPr>
          <p:nvPr/>
        </p:nvSpPr>
        <p:spPr bwMode="auto">
          <a:xfrm>
            <a:off x="-108520" y="1261209"/>
            <a:ext cx="417637" cy="358775"/>
          </a:xfrm>
          <a:prstGeom prst="roundRect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slope"/>
          </a:sp3d>
          <a:extLst/>
        </p:spPr>
        <p:txBody>
          <a:bodyPr wrap="none" anchor="ctr"/>
          <a:lstStyle/>
          <a:p>
            <a:pPr algn="ctr"/>
            <a:r>
              <a:rPr lang="id-ID" dirty="0">
                <a:solidFill>
                  <a:srgbClr val="FFFF00"/>
                </a:solidFill>
                <a:latin typeface="Berlin Sans FB" pitchFamily="34" charset="0"/>
              </a:rPr>
              <a:t>4</a:t>
            </a:r>
            <a:endParaRPr lang="en-US" dirty="0">
              <a:solidFill>
                <a:srgbClr val="FFFF00"/>
              </a:solidFill>
              <a:latin typeface="Berlin Sans FB" pitchFamily="34" charset="0"/>
            </a:endParaRPr>
          </a:p>
        </p:txBody>
      </p:sp>
      <p:sp>
        <p:nvSpPr>
          <p:cNvPr id="23" name="AutoShape 18"/>
          <p:cNvSpPr>
            <a:spLocks noChangeArrowheads="1"/>
          </p:cNvSpPr>
          <p:nvPr/>
        </p:nvSpPr>
        <p:spPr bwMode="auto">
          <a:xfrm>
            <a:off x="467867" y="2202869"/>
            <a:ext cx="215900" cy="28733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000" dirty="0">
                <a:solidFill>
                  <a:srgbClr val="2F1444"/>
                </a:solidFill>
                <a:latin typeface="Franklin Gothic Demi Cond" pitchFamily="34" charset="0"/>
              </a:rPr>
              <a:t>a</a:t>
            </a:r>
            <a:endParaRPr lang="en-US" sz="2000" dirty="0">
              <a:solidFill>
                <a:srgbClr val="2F1444"/>
              </a:solidFill>
              <a:latin typeface="Franklin Gothic Demi Cond" pitchFamily="34" charset="0"/>
            </a:endParaRPr>
          </a:p>
        </p:txBody>
      </p:sp>
      <p:sp>
        <p:nvSpPr>
          <p:cNvPr id="24" name="AutoShape 19"/>
          <p:cNvSpPr>
            <a:spLocks noChangeArrowheads="1"/>
          </p:cNvSpPr>
          <p:nvPr/>
        </p:nvSpPr>
        <p:spPr bwMode="auto">
          <a:xfrm>
            <a:off x="774255" y="2767280"/>
            <a:ext cx="3003525" cy="919401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Franklin Gothic Demi Cond" pitchFamily="34" charset="0"/>
              </a:rPr>
              <a:t>Pemimpin kerakyatan adalah </a:t>
            </a:r>
            <a:r>
              <a:rPr lang="it-IT" sz="1600" dirty="0" smtClean="0">
                <a:solidFill>
                  <a:srgbClr val="FFFF00"/>
                </a:solidFill>
                <a:latin typeface="Franklin Gothic Demi Cond" pitchFamily="34" charset="0"/>
              </a:rPr>
              <a:t>HIKMAT KEBIJAKSANAAN </a:t>
            </a:r>
            <a:r>
              <a:rPr lang="it-IT" sz="1600" dirty="0" smtClean="0">
                <a:solidFill>
                  <a:schemeClr val="bg1"/>
                </a:solidFill>
                <a:latin typeface="Franklin Gothic Demi Cond" pitchFamily="34" charset="0"/>
              </a:rPr>
              <a:t>yang </a:t>
            </a:r>
            <a:r>
              <a:rPr lang="it-IT" sz="1600" dirty="0">
                <a:solidFill>
                  <a:schemeClr val="bg1"/>
                </a:solidFill>
                <a:latin typeface="Franklin Gothic Demi Cond" pitchFamily="34" charset="0"/>
              </a:rPr>
              <a:t>dilandasi akal sehat.</a:t>
            </a:r>
            <a:endParaRPr lang="sv-SE" sz="16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2" name="AutoShape 20"/>
          <p:cNvSpPr>
            <a:spLocks noChangeArrowheads="1"/>
          </p:cNvSpPr>
          <p:nvPr/>
        </p:nvSpPr>
        <p:spPr bwMode="auto">
          <a:xfrm>
            <a:off x="467867" y="3064522"/>
            <a:ext cx="215900" cy="28733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000" dirty="0">
                <a:solidFill>
                  <a:srgbClr val="2F1444"/>
                </a:solidFill>
                <a:latin typeface="Franklin Gothic Demi Cond" pitchFamily="34" charset="0"/>
              </a:rPr>
              <a:t>b</a:t>
            </a:r>
            <a:endParaRPr lang="en-US" sz="2000" dirty="0">
              <a:solidFill>
                <a:srgbClr val="2F1444"/>
              </a:solidFill>
              <a:latin typeface="Franklin Gothic Demi Cond" pitchFamily="34" charset="0"/>
            </a:endParaRPr>
          </a:p>
        </p:txBody>
      </p:sp>
      <p:sp>
        <p:nvSpPr>
          <p:cNvPr id="39" name="AutoShape 23"/>
          <p:cNvSpPr>
            <a:spLocks noChangeArrowheads="1"/>
          </p:cNvSpPr>
          <p:nvPr/>
        </p:nvSpPr>
        <p:spPr bwMode="auto">
          <a:xfrm>
            <a:off x="775843" y="3744328"/>
            <a:ext cx="2999807" cy="1191816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Franklin Gothic Demi Cond" pitchFamily="34" charset="0"/>
              </a:rPr>
              <a:t>Manusia Indonesia sebagai warga negara dan warga masyarakat Indonesia memunyai </a:t>
            </a:r>
            <a:r>
              <a:rPr lang="it-IT" sz="1600" dirty="0" smtClean="0">
                <a:solidFill>
                  <a:srgbClr val="FFFF00"/>
                </a:solidFill>
                <a:latin typeface="Franklin Gothic Demi Cond" pitchFamily="34" charset="0"/>
              </a:rPr>
              <a:t>KEDUDUKAN HAK DAN KEWAJIBAN YANG SAMA</a:t>
            </a:r>
            <a:r>
              <a:rPr lang="it-IT" sz="1600" dirty="0" smtClean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  <a:endParaRPr lang="sv-SE" sz="16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40" name="AutoShape 24"/>
          <p:cNvSpPr>
            <a:spLocks noChangeArrowheads="1"/>
          </p:cNvSpPr>
          <p:nvPr/>
        </p:nvSpPr>
        <p:spPr bwMode="auto">
          <a:xfrm>
            <a:off x="467867" y="4019030"/>
            <a:ext cx="215900" cy="28733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000" dirty="0">
                <a:solidFill>
                  <a:srgbClr val="2F1444"/>
                </a:solidFill>
                <a:latin typeface="Franklin Gothic Demi Cond" pitchFamily="34" charset="0"/>
              </a:rPr>
              <a:t>c</a:t>
            </a:r>
            <a:endParaRPr lang="en-US" sz="2000" dirty="0">
              <a:solidFill>
                <a:srgbClr val="2F1444"/>
              </a:solidFill>
              <a:latin typeface="Franklin Gothic Demi Cond" pitchFamily="34" charset="0"/>
            </a:endParaRPr>
          </a:p>
        </p:txBody>
      </p:sp>
      <p:sp>
        <p:nvSpPr>
          <p:cNvPr id="41" name="AutoShape 28"/>
          <p:cNvSpPr>
            <a:spLocks noChangeArrowheads="1"/>
          </p:cNvSpPr>
          <p:nvPr/>
        </p:nvSpPr>
        <p:spPr bwMode="auto">
          <a:xfrm>
            <a:off x="774255" y="4995760"/>
            <a:ext cx="3003525" cy="919401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it-IT" sz="1600" dirty="0" smtClean="0">
                <a:solidFill>
                  <a:srgbClr val="FFFF00"/>
                </a:solidFill>
                <a:latin typeface="Franklin Gothic Demi Cond" pitchFamily="34" charset="0"/>
              </a:rPr>
              <a:t>MUSYAWARAH UNTUK MUFAKAT </a:t>
            </a:r>
            <a:r>
              <a:rPr lang="it-IT" sz="1600" dirty="0" smtClean="0">
                <a:solidFill>
                  <a:schemeClr val="bg1"/>
                </a:solidFill>
                <a:latin typeface="Franklin Gothic Demi Cond" pitchFamily="34" charset="0"/>
              </a:rPr>
              <a:t>dicapai </a:t>
            </a:r>
            <a:r>
              <a:rPr lang="it-IT" sz="1600" dirty="0">
                <a:solidFill>
                  <a:schemeClr val="bg1"/>
                </a:solidFill>
                <a:latin typeface="Franklin Gothic Demi Cond" pitchFamily="34" charset="0"/>
              </a:rPr>
              <a:t>dalam permusyawaratan wakil-wakil rakyat.</a:t>
            </a:r>
            <a:endParaRPr lang="sv-SE" sz="16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42" name="AutoShape 29"/>
          <p:cNvSpPr>
            <a:spLocks noChangeArrowheads="1"/>
          </p:cNvSpPr>
          <p:nvPr/>
        </p:nvSpPr>
        <p:spPr bwMode="auto">
          <a:xfrm>
            <a:off x="467867" y="5302528"/>
            <a:ext cx="215900" cy="287337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000" dirty="0">
                <a:solidFill>
                  <a:srgbClr val="2F1444"/>
                </a:solidFill>
                <a:latin typeface="Franklin Gothic Demi Cond" pitchFamily="34" charset="0"/>
              </a:rPr>
              <a:t>d</a:t>
            </a:r>
            <a:endParaRPr lang="en-US" sz="2000" dirty="0">
              <a:solidFill>
                <a:srgbClr val="2F1444"/>
              </a:solidFill>
              <a:latin typeface="Franklin Gothic Demi Cond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32040" y="2157259"/>
            <a:ext cx="30243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 smtClean="0">
                <a:solidFill>
                  <a:srgbClr val="FFFF00"/>
                </a:solidFill>
                <a:latin typeface="Franklin Gothic Demi Cond" pitchFamily="34" charset="0"/>
              </a:rPr>
              <a:t>MENJUNJUNG TINGGI</a:t>
            </a:r>
          </a:p>
          <a:p>
            <a:r>
              <a:rPr lang="id-ID" dirty="0" smtClean="0">
                <a:solidFill>
                  <a:srgbClr val="FFFF00"/>
                </a:solidFill>
                <a:latin typeface="Franklin Gothic Demi Cond" pitchFamily="34" charset="0"/>
              </a:rPr>
              <a:t>NILAI-NILAI DEMOKRASI YANG BERKEADABAN</a:t>
            </a:r>
            <a:endParaRPr lang="id-ID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88026" y="3429000"/>
            <a:ext cx="3240360" cy="107721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id-ID" sz="1600" dirty="0" smtClean="0">
                <a:solidFill>
                  <a:schemeClr val="bg1"/>
                </a:solidFill>
                <a:latin typeface="Franklin Gothic Demi Cond" pitchFamily="34" charset="0"/>
              </a:rPr>
              <a:t>MENGIMBANGI </a:t>
            </a:r>
            <a:r>
              <a:rPr lang="it-IT" sz="1600" dirty="0" smtClean="0">
                <a:solidFill>
                  <a:schemeClr val="bg1"/>
                </a:solidFill>
                <a:latin typeface="Franklin Gothic Demi Cond" pitchFamily="34" charset="0"/>
              </a:rPr>
              <a:t>OTODINAMIKA ILMU PENGETAHUAN DAN TEKNOLOGI BEREVOLUSI SENDIRI</a:t>
            </a:r>
            <a:r>
              <a:rPr lang="id-ID" sz="1600" dirty="0" smtClean="0">
                <a:solidFill>
                  <a:schemeClr val="bg1"/>
                </a:solidFill>
                <a:latin typeface="Franklin Gothic Demi Cond" pitchFamily="34" charset="0"/>
              </a:rPr>
              <a:t> DENGAN LELUASA. </a:t>
            </a:r>
            <a:endParaRPr lang="id-ID" sz="16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0" y="4777775"/>
            <a:ext cx="3817119" cy="156966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lvl="0" algn="just"/>
            <a:r>
              <a:rPr lang="id-ID" sz="1600" dirty="0">
                <a:latin typeface="Franklin Gothic Demi Cond" pitchFamily="34" charset="0"/>
              </a:rPr>
              <a:t>EKSPERIMENTASI PENERAPAN DAN PENYEBARAN ILMU PENGETAHUAN HARUS DEMOKRATIS DAPAT DIMUSYAWARAHKAN SECARA  PERWAKILAN, SEJAK DARI KEBIJAKAN, PENELITIAN SAMPAI PENERAPAN MASAL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851920" y="2853219"/>
            <a:ext cx="1008113" cy="35975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dirty="0" smtClean="0">
                <a:latin typeface="Franklin Gothic Demi Cond" pitchFamily="34" charset="0"/>
              </a:rPr>
              <a:t>esensinya</a:t>
            </a:r>
            <a:endParaRPr lang="id-ID" sz="1600" dirty="0">
              <a:latin typeface="Franklin Gothic Demi Cond" pitchFamily="34" charset="0"/>
            </a:endParaRPr>
          </a:p>
        </p:txBody>
      </p:sp>
      <p:cxnSp>
        <p:nvCxnSpPr>
          <p:cNvPr id="9" name="Straight Arrow Connector 8"/>
          <p:cNvCxnSpPr>
            <a:stCxn id="41" idx="3"/>
          </p:cNvCxnSpPr>
          <p:nvPr/>
        </p:nvCxnSpPr>
        <p:spPr>
          <a:xfrm flipV="1">
            <a:off x="3777780" y="3226980"/>
            <a:ext cx="792740" cy="2228481"/>
          </a:xfrm>
          <a:prstGeom prst="straightConnector1">
            <a:avLst/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39" idx="3"/>
            <a:endCxn id="7" idx="2"/>
          </p:cNvCxnSpPr>
          <p:nvPr/>
        </p:nvCxnSpPr>
        <p:spPr>
          <a:xfrm flipV="1">
            <a:off x="3775650" y="3212976"/>
            <a:ext cx="580327" cy="1127260"/>
          </a:xfrm>
          <a:prstGeom prst="straightConnector1">
            <a:avLst/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3635896" y="3068960"/>
            <a:ext cx="288033" cy="146392"/>
          </a:xfrm>
          <a:prstGeom prst="straightConnector1">
            <a:avLst/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777780" y="2397339"/>
            <a:ext cx="396370" cy="455880"/>
          </a:xfrm>
          <a:prstGeom prst="straightConnector1">
            <a:avLst/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2" idx="1"/>
          </p:cNvCxnSpPr>
          <p:nvPr/>
        </p:nvCxnSpPr>
        <p:spPr>
          <a:xfrm flipV="1">
            <a:off x="4581017" y="2618924"/>
            <a:ext cx="351023" cy="234295"/>
          </a:xfrm>
          <a:prstGeom prst="straightConnector1">
            <a:avLst/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/>
          <p:cNvSpPr/>
          <p:nvPr/>
        </p:nvSpPr>
        <p:spPr>
          <a:xfrm>
            <a:off x="5569432" y="4506218"/>
            <a:ext cx="1461521" cy="271556"/>
          </a:xfrm>
          <a:prstGeom prst="downArrow">
            <a:avLst>
              <a:gd name="adj1" fmla="val 62314"/>
              <a:gd name="adj2" fmla="val 53447"/>
            </a:avLst>
          </a:prstGeom>
          <a:solidFill>
            <a:srgbClr val="7030A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00" dirty="0">
              <a:latin typeface="Franklin Gothic Demi Cond" pitchFamily="34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7573" y="79441"/>
            <a:ext cx="475838" cy="514305"/>
          </a:xfrm>
          <a:prstGeom prst="ellipse">
            <a:avLst/>
          </a:prstGeom>
          <a:solidFill>
            <a:srgbClr val="3E1B5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d-ID" sz="2400" dirty="0" smtClean="0">
              <a:solidFill>
                <a:srgbClr val="3E1B59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891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18" grpId="0" animBg="1"/>
      <p:bldP spid="23" grpId="0" animBg="1"/>
      <p:bldP spid="24" grpId="0" animBg="1"/>
      <p:bldP spid="32" grpId="0" animBg="1"/>
      <p:bldP spid="39" grpId="0" animBg="1"/>
      <p:bldP spid="40" grpId="0" animBg="1"/>
      <p:bldP spid="41" grpId="0" animBg="1"/>
      <p:bldP spid="42" grpId="0" animBg="1"/>
      <p:bldP spid="2" grpId="0"/>
      <p:bldP spid="3" grpId="0" animBg="1"/>
      <p:bldP spid="6" grpId="0" animBg="1"/>
      <p:bldP spid="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8316416" y="6309320"/>
            <a:ext cx="570150" cy="36004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8</a:t>
            </a:r>
            <a:endParaRPr lang="id-ID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39551" y="116632"/>
            <a:ext cx="8061939" cy="504056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 dirty="0" smtClean="0">
                <a:solidFill>
                  <a:schemeClr val="bg1"/>
                </a:solidFill>
                <a:latin typeface="Franklin Gothic Demi Cond" pitchFamily="34" charset="0"/>
              </a:rPr>
              <a:t>NILAI – NILAI YANG TERKANDUNG DLM SILA-SILA PANCASILA</a:t>
            </a:r>
            <a:r>
              <a:rPr lang="id-ID" sz="1600" dirty="0" smtClean="0">
                <a:solidFill>
                  <a:schemeClr val="bg1"/>
                </a:solidFill>
                <a:latin typeface="Franklin Gothic Demi Cond" pitchFamily="34" charset="0"/>
              </a:rPr>
              <a:t> SERTA </a:t>
            </a:r>
          </a:p>
          <a:p>
            <a:pPr algn="ctr"/>
            <a:r>
              <a:rPr lang="id-ID" sz="1600" dirty="0" smtClean="0">
                <a:solidFill>
                  <a:schemeClr val="bg1"/>
                </a:solidFill>
                <a:latin typeface="Franklin Gothic Demi Cond" pitchFamily="34" charset="0"/>
              </a:rPr>
              <a:t>PERAN NILAI-NILAI TERSEBUT  DALAM KEHIDUPAN </a:t>
            </a:r>
            <a:endParaRPr lang="en-US" sz="16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66750" y="973138"/>
            <a:ext cx="8009706" cy="5123008"/>
          </a:xfrm>
          <a:prstGeom prst="roundRect">
            <a:avLst>
              <a:gd name="adj" fmla="val 3817"/>
            </a:avLst>
          </a:prstGeom>
          <a:solidFill>
            <a:schemeClr val="accent4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" name="AutoShape 7"/>
          <p:cNvSpPr>
            <a:spLocks noChangeArrowheads="1"/>
          </p:cNvSpPr>
          <p:nvPr/>
        </p:nvSpPr>
        <p:spPr bwMode="auto">
          <a:xfrm>
            <a:off x="917575" y="1866629"/>
            <a:ext cx="4302497" cy="715089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fi-FI" dirty="0">
                <a:solidFill>
                  <a:schemeClr val="bg1"/>
                </a:solidFill>
                <a:latin typeface="Franklin Gothic Demi Cond" pitchFamily="34" charset="0"/>
              </a:rPr>
              <a:t>Perwujudan </a:t>
            </a:r>
            <a:r>
              <a:rPr lang="fi-FI" dirty="0">
                <a:solidFill>
                  <a:srgbClr val="FFFF00"/>
                </a:solidFill>
                <a:latin typeface="Franklin Gothic Demi Cond" pitchFamily="34" charset="0"/>
              </a:rPr>
              <a:t>keadilan</a:t>
            </a:r>
            <a:r>
              <a:rPr lang="fi-FI" dirty="0">
                <a:solidFill>
                  <a:schemeClr val="bg1"/>
                </a:solidFill>
                <a:latin typeface="Franklin Gothic Demi Cond" pitchFamily="34" charset="0"/>
              </a:rPr>
              <a:t> sosial meliputi </a:t>
            </a:r>
            <a:r>
              <a:rPr lang="fi-FI" dirty="0" smtClean="0">
                <a:solidFill>
                  <a:srgbClr val="FFFF00"/>
                </a:solidFill>
                <a:latin typeface="Franklin Gothic Demi Cond" pitchFamily="34" charset="0"/>
              </a:rPr>
              <a:t>SELURUH</a:t>
            </a:r>
            <a:r>
              <a:rPr lang="fi-FI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fi-FI" dirty="0">
                <a:solidFill>
                  <a:schemeClr val="bg1"/>
                </a:solidFill>
                <a:latin typeface="Franklin Gothic Demi Cond" pitchFamily="34" charset="0"/>
              </a:rPr>
              <a:t>rakyat Indonesia.</a:t>
            </a:r>
            <a:endParaRPr lang="sv-SE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29" name="AutoShape 8"/>
          <p:cNvSpPr>
            <a:spLocks noChangeArrowheads="1"/>
          </p:cNvSpPr>
          <p:nvPr/>
        </p:nvSpPr>
        <p:spPr bwMode="auto">
          <a:xfrm>
            <a:off x="484188" y="1084263"/>
            <a:ext cx="8480300" cy="715089"/>
          </a:xfrm>
          <a:prstGeom prst="roundRect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slope"/>
          </a:sp3d>
          <a:extLst/>
        </p:spPr>
        <p:txBody>
          <a:bodyPr wrap="square">
            <a:spAutoFit/>
          </a:bodyPr>
          <a:lstStyle/>
          <a:p>
            <a:r>
              <a:rPr lang="pt-BR" sz="1800" i="1" dirty="0">
                <a:solidFill>
                  <a:srgbClr val="FFFF00"/>
                </a:solidFill>
              </a:rPr>
              <a:t>Dalam Sila V, Keadilan sosial bagi seluruh rakyat Indonesia  terkandung nilai </a:t>
            </a:r>
            <a:r>
              <a:rPr lang="pt-BR" sz="1800" dirty="0" smtClean="0">
                <a:solidFill>
                  <a:schemeClr val="bg1"/>
                </a:solidFill>
                <a:latin typeface="Franklin Gothic Demi Cond" pitchFamily="34" charset="0"/>
              </a:rPr>
              <a:t>KEADILAN SOSIAL </a:t>
            </a:r>
            <a:r>
              <a:rPr lang="id-ID" sz="1800" i="1" dirty="0" smtClean="0">
                <a:solidFill>
                  <a:srgbClr val="FFFF00"/>
                </a:solidFill>
              </a:rPr>
              <a:t>; </a:t>
            </a:r>
            <a:r>
              <a:rPr lang="pt-BR" sz="1800" i="1" dirty="0" smtClean="0">
                <a:solidFill>
                  <a:srgbClr val="FFFF00"/>
                </a:solidFill>
              </a:rPr>
              <a:t>antara </a:t>
            </a:r>
            <a:r>
              <a:rPr lang="pt-BR" sz="1800" i="1" dirty="0">
                <a:solidFill>
                  <a:srgbClr val="FFFF00"/>
                </a:solidFill>
              </a:rPr>
              <a:t>lain</a:t>
            </a:r>
            <a:r>
              <a:rPr lang="pt-BR" sz="1800" dirty="0">
                <a:solidFill>
                  <a:srgbClr val="FFFF00"/>
                </a:solidFill>
              </a:rPr>
              <a:t> </a:t>
            </a:r>
            <a:endParaRPr lang="en-US" sz="1800" dirty="0">
              <a:solidFill>
                <a:srgbClr val="FFFF00"/>
              </a:solidFill>
            </a:endParaRPr>
          </a:p>
        </p:txBody>
      </p:sp>
      <p:sp>
        <p:nvSpPr>
          <p:cNvPr id="30" name="AutoShape 9"/>
          <p:cNvSpPr>
            <a:spLocks noChangeArrowheads="1"/>
          </p:cNvSpPr>
          <p:nvPr/>
        </p:nvSpPr>
        <p:spPr bwMode="auto">
          <a:xfrm>
            <a:off x="107505" y="1139825"/>
            <a:ext cx="344934" cy="358775"/>
          </a:xfrm>
          <a:prstGeom prst="roundRect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slope"/>
          </a:sp3d>
          <a:extLst/>
        </p:spPr>
        <p:txBody>
          <a:bodyPr wrap="none" anchor="ctr"/>
          <a:lstStyle/>
          <a:p>
            <a:pPr algn="ctr"/>
            <a:r>
              <a:rPr lang="id-ID" dirty="0">
                <a:solidFill>
                  <a:srgbClr val="FFFF00"/>
                </a:solidFill>
                <a:latin typeface="Berlin Sans FB" pitchFamily="34" charset="0"/>
              </a:rPr>
              <a:t>5</a:t>
            </a:r>
            <a:endParaRPr lang="en-US" dirty="0">
              <a:solidFill>
                <a:srgbClr val="FFFF00"/>
              </a:solidFill>
              <a:latin typeface="Berlin Sans FB" pitchFamily="34" charset="0"/>
            </a:endParaRPr>
          </a:p>
        </p:txBody>
      </p:sp>
      <p:sp>
        <p:nvSpPr>
          <p:cNvPr id="31" name="AutoShape 10"/>
          <p:cNvSpPr>
            <a:spLocks noChangeArrowheads="1"/>
          </p:cNvSpPr>
          <p:nvPr/>
        </p:nvSpPr>
        <p:spPr bwMode="auto">
          <a:xfrm>
            <a:off x="611187" y="1930400"/>
            <a:ext cx="276225" cy="423744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000" dirty="0">
                <a:solidFill>
                  <a:schemeClr val="bg1"/>
                </a:solidFill>
                <a:latin typeface="Franklin Gothic Demi Cond" pitchFamily="34" charset="0"/>
              </a:rPr>
              <a:t>a</a:t>
            </a:r>
            <a:endParaRPr lang="en-US" sz="20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3" name="AutoShape 11"/>
          <p:cNvSpPr>
            <a:spLocks noChangeArrowheads="1"/>
          </p:cNvSpPr>
          <p:nvPr/>
        </p:nvSpPr>
        <p:spPr bwMode="auto">
          <a:xfrm>
            <a:off x="926060" y="4765253"/>
            <a:ext cx="4313062" cy="1021556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fi-FI" dirty="0">
                <a:solidFill>
                  <a:srgbClr val="FFFF00"/>
                </a:solidFill>
                <a:latin typeface="Franklin Gothic Demi Cond" pitchFamily="34" charset="0"/>
              </a:rPr>
              <a:t>Cita-cita</a:t>
            </a:r>
            <a:r>
              <a:rPr lang="fi-FI" dirty="0">
                <a:solidFill>
                  <a:schemeClr val="bg1"/>
                </a:solidFill>
                <a:latin typeface="Franklin Gothic Demi Cond" pitchFamily="34" charset="0"/>
              </a:rPr>
              <a:t> masyarakat adil makmur, material spiritual yang merata bagi </a:t>
            </a:r>
            <a:r>
              <a:rPr lang="fi-FI" dirty="0" smtClean="0">
                <a:solidFill>
                  <a:srgbClr val="FFFF00"/>
                </a:solidFill>
                <a:latin typeface="Franklin Gothic Demi Cond" pitchFamily="34" charset="0"/>
              </a:rPr>
              <a:t>SELURUH </a:t>
            </a:r>
            <a:r>
              <a:rPr lang="fi-FI" dirty="0" smtClean="0">
                <a:solidFill>
                  <a:schemeClr val="bg1"/>
                </a:solidFill>
                <a:latin typeface="Franklin Gothic Demi Cond" pitchFamily="34" charset="0"/>
              </a:rPr>
              <a:t>rakyat </a:t>
            </a:r>
            <a:r>
              <a:rPr lang="fi-FI" dirty="0">
                <a:solidFill>
                  <a:schemeClr val="bg1"/>
                </a:solidFill>
                <a:latin typeface="Franklin Gothic Demi Cond" pitchFamily="34" charset="0"/>
              </a:rPr>
              <a:t>Indonesia.</a:t>
            </a:r>
            <a:r>
              <a:rPr lang="it-IT" dirty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  <a:endParaRPr lang="sv-SE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4" name="AutoShape 12"/>
          <p:cNvSpPr>
            <a:spLocks noChangeArrowheads="1"/>
          </p:cNvSpPr>
          <p:nvPr/>
        </p:nvSpPr>
        <p:spPr bwMode="auto">
          <a:xfrm>
            <a:off x="611187" y="2981826"/>
            <a:ext cx="276225" cy="423744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000" dirty="0">
                <a:solidFill>
                  <a:schemeClr val="bg1"/>
                </a:solidFill>
                <a:latin typeface="Franklin Gothic Demi Cond" pitchFamily="34" charset="0"/>
              </a:rPr>
              <a:t>b</a:t>
            </a:r>
            <a:endParaRPr lang="en-US" sz="20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7" name="AutoShape 15"/>
          <p:cNvSpPr>
            <a:spLocks noChangeArrowheads="1"/>
          </p:cNvSpPr>
          <p:nvPr/>
        </p:nvSpPr>
        <p:spPr bwMode="auto">
          <a:xfrm>
            <a:off x="919164" y="2621786"/>
            <a:ext cx="4301616" cy="1328023"/>
          </a:xfrm>
          <a:prstGeom prst="roundRect">
            <a:avLst>
              <a:gd name="adj" fmla="val 12556"/>
            </a:avLst>
          </a:prstGeom>
          <a:solidFill>
            <a:schemeClr val="bg2">
              <a:lumMod val="25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fi-FI" dirty="0">
                <a:solidFill>
                  <a:schemeClr val="bg1"/>
                </a:solidFill>
                <a:latin typeface="Franklin Gothic Demi Cond" pitchFamily="34" charset="0"/>
              </a:rPr>
              <a:t>Keadilan dalam bidang sosial </a:t>
            </a:r>
            <a:r>
              <a:rPr lang="fi-FI" dirty="0" smtClean="0">
                <a:solidFill>
                  <a:srgbClr val="FFFF00"/>
                </a:solidFill>
                <a:latin typeface="Franklin Gothic Demi Cond" pitchFamily="34" charset="0"/>
              </a:rPr>
              <a:t>MELIPUTI</a:t>
            </a:r>
            <a:r>
              <a:rPr lang="fi-FI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fi-FI" dirty="0">
                <a:solidFill>
                  <a:schemeClr val="bg1"/>
                </a:solidFill>
                <a:latin typeface="Franklin Gothic Demi Cond" pitchFamily="34" charset="0"/>
              </a:rPr>
              <a:t>bidang-bidang ideologi, politik, ekonomi, kebudayaan dan pertahanan keamanan nasional.</a:t>
            </a:r>
            <a:endParaRPr lang="sv-SE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8" name="AutoShape 16"/>
          <p:cNvSpPr>
            <a:spLocks noChangeArrowheads="1"/>
          </p:cNvSpPr>
          <p:nvPr/>
        </p:nvSpPr>
        <p:spPr bwMode="auto">
          <a:xfrm>
            <a:off x="611187" y="4222577"/>
            <a:ext cx="276225" cy="423743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000" dirty="0">
                <a:solidFill>
                  <a:schemeClr val="bg1"/>
                </a:solidFill>
                <a:latin typeface="Franklin Gothic Demi Cond" pitchFamily="34" charset="0"/>
              </a:rPr>
              <a:t>c</a:t>
            </a:r>
            <a:endParaRPr lang="en-US" sz="20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43" name="AutoShape 18"/>
          <p:cNvSpPr>
            <a:spLocks noChangeArrowheads="1"/>
          </p:cNvSpPr>
          <p:nvPr/>
        </p:nvSpPr>
        <p:spPr bwMode="auto">
          <a:xfrm>
            <a:off x="926060" y="3983798"/>
            <a:ext cx="4302497" cy="715089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fi-FI" dirty="0" smtClean="0">
                <a:solidFill>
                  <a:srgbClr val="FFFF00"/>
                </a:solidFill>
                <a:latin typeface="Franklin Gothic Demi Cond" pitchFamily="34" charset="0"/>
              </a:rPr>
              <a:t>KESEIMBANGAN</a:t>
            </a:r>
            <a:r>
              <a:rPr lang="fi-FI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fi-FI" dirty="0">
                <a:solidFill>
                  <a:schemeClr val="bg1"/>
                </a:solidFill>
                <a:latin typeface="Franklin Gothic Demi Cond" pitchFamily="34" charset="0"/>
              </a:rPr>
              <a:t>antara hak dan kewajiban serta </a:t>
            </a:r>
            <a:r>
              <a:rPr lang="fi-FI" dirty="0" smtClean="0">
                <a:solidFill>
                  <a:srgbClr val="FFFF00"/>
                </a:solidFill>
                <a:latin typeface="Franklin Gothic Demi Cond" pitchFamily="34" charset="0"/>
              </a:rPr>
              <a:t>MENGHORMATI</a:t>
            </a:r>
            <a:r>
              <a:rPr lang="fi-FI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fi-FI" dirty="0">
                <a:solidFill>
                  <a:schemeClr val="bg1"/>
                </a:solidFill>
                <a:latin typeface="Franklin Gothic Demi Cond" pitchFamily="34" charset="0"/>
              </a:rPr>
              <a:t>hak orang lain.</a:t>
            </a:r>
            <a:endParaRPr lang="sv-SE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45" name="AutoShape 19"/>
          <p:cNvSpPr>
            <a:spLocks noChangeArrowheads="1"/>
          </p:cNvSpPr>
          <p:nvPr/>
        </p:nvSpPr>
        <p:spPr bwMode="auto">
          <a:xfrm>
            <a:off x="611187" y="5220244"/>
            <a:ext cx="276225" cy="423743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000" dirty="0">
                <a:solidFill>
                  <a:schemeClr val="bg1"/>
                </a:solidFill>
                <a:latin typeface="Franklin Gothic Demi Cond" pitchFamily="34" charset="0"/>
              </a:rPr>
              <a:t>d</a:t>
            </a:r>
            <a:endParaRPr lang="en-US" sz="20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47" name="AutoShape 21"/>
          <p:cNvSpPr>
            <a:spLocks noChangeArrowheads="1"/>
          </p:cNvSpPr>
          <p:nvPr/>
        </p:nvSpPr>
        <p:spPr bwMode="auto">
          <a:xfrm>
            <a:off x="901700" y="5805264"/>
            <a:ext cx="4311301" cy="715089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fi-FI" dirty="0">
                <a:solidFill>
                  <a:schemeClr val="bg1"/>
                </a:solidFill>
                <a:latin typeface="Franklin Gothic Demi Cond" pitchFamily="34" charset="0"/>
              </a:rPr>
              <a:t>Cinta akan </a:t>
            </a:r>
            <a:r>
              <a:rPr lang="fi-FI" dirty="0">
                <a:solidFill>
                  <a:srgbClr val="FFFF00"/>
                </a:solidFill>
                <a:latin typeface="Franklin Gothic Demi Cond" pitchFamily="34" charset="0"/>
              </a:rPr>
              <a:t>kemajuan</a:t>
            </a:r>
            <a:r>
              <a:rPr lang="fi-FI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fi-FI" dirty="0" smtClean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fi-FI" dirty="0" smtClean="0">
                <a:solidFill>
                  <a:srgbClr val="FFFF00"/>
                </a:solidFill>
                <a:latin typeface="Franklin Gothic Demi Cond" pitchFamily="34" charset="0"/>
              </a:rPr>
              <a:t>pembangunan , </a:t>
            </a:r>
            <a:r>
              <a:rPr lang="fi-FI" dirty="0" smtClean="0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fi-FI" dirty="0" smtClean="0">
                <a:solidFill>
                  <a:srgbClr val="FFFF00"/>
                </a:solidFill>
                <a:latin typeface="Franklin Gothic Demi Cond" pitchFamily="34" charset="0"/>
              </a:rPr>
              <a:t>  keamanan</a:t>
            </a:r>
            <a:r>
              <a:rPr lang="fi-FI" dirty="0" smtClean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  <a:endParaRPr lang="sv-SE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48" name="AutoShape 22"/>
          <p:cNvSpPr>
            <a:spLocks noChangeArrowheads="1"/>
          </p:cNvSpPr>
          <p:nvPr/>
        </p:nvSpPr>
        <p:spPr bwMode="auto">
          <a:xfrm>
            <a:off x="611187" y="5844633"/>
            <a:ext cx="276225" cy="423743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  <a:extLst/>
        </p:spPr>
        <p:txBody>
          <a:bodyPr wrap="none" anchor="ctr"/>
          <a:lstStyle/>
          <a:p>
            <a:pPr algn="ctr"/>
            <a:r>
              <a:rPr lang="id-ID" sz="2000" dirty="0">
                <a:solidFill>
                  <a:schemeClr val="bg1"/>
                </a:solidFill>
                <a:latin typeface="Franklin Gothic Demi Cond" pitchFamily="34" charset="0"/>
              </a:rPr>
              <a:t>e</a:t>
            </a:r>
            <a:endParaRPr lang="en-US" sz="20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28184" y="3596823"/>
            <a:ext cx="2376264" cy="1200329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id-ID" dirty="0" smtClean="0">
                <a:latin typeface="Franklin Gothic Demi Cond" pitchFamily="34" charset="0"/>
              </a:rPr>
              <a:t>MENJAGA KESEIMBANGAN ANTARA KEPENTINGAN INDIVIDU DAN MASYARAKAT, </a:t>
            </a:r>
            <a:endParaRPr lang="id-ID" dirty="0">
              <a:latin typeface="Franklin Gothic Demi Cond" pitchFamily="34" charset="0"/>
            </a:endParaRPr>
          </a:p>
        </p:txBody>
      </p:sp>
      <p:sp>
        <p:nvSpPr>
          <p:cNvPr id="49" name="Right Arrow 48"/>
          <p:cNvSpPr/>
          <p:nvPr/>
        </p:nvSpPr>
        <p:spPr>
          <a:xfrm>
            <a:off x="5364088" y="2163920"/>
            <a:ext cx="720080" cy="4104456"/>
          </a:xfrm>
          <a:prstGeom prst="rightArrow">
            <a:avLst>
              <a:gd name="adj1" fmla="val 69342"/>
              <a:gd name="adj2" fmla="val 42419"/>
            </a:avLst>
          </a:prstGeom>
          <a:solidFill>
            <a:srgbClr val="A568D2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id-ID" sz="2400" i="1" dirty="0" smtClean="0">
                <a:solidFill>
                  <a:srgbClr val="1F0E2C"/>
                </a:solidFill>
                <a:latin typeface="Franklin Gothic Demi Cond" pitchFamily="34" charset="0"/>
              </a:rPr>
              <a:t>PERAN</a:t>
            </a:r>
            <a:endParaRPr lang="id-ID" sz="2400" i="1" dirty="0">
              <a:solidFill>
                <a:srgbClr val="1F0E2C"/>
              </a:solidFill>
              <a:latin typeface="Franklin Gothic Demi Cond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7573" y="79441"/>
            <a:ext cx="475838" cy="514305"/>
          </a:xfrm>
          <a:prstGeom prst="ellipse">
            <a:avLst/>
          </a:prstGeom>
          <a:solidFill>
            <a:srgbClr val="3E1B5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d-ID" sz="2400" dirty="0" smtClean="0">
              <a:solidFill>
                <a:srgbClr val="3E1B59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46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33" grpId="0" animBg="1"/>
      <p:bldP spid="34" grpId="0" animBg="1"/>
      <p:bldP spid="37" grpId="0" animBg="1"/>
      <p:bldP spid="38" grpId="0" animBg="1"/>
      <p:bldP spid="43" grpId="0" animBg="1"/>
      <p:bldP spid="45" grpId="0" animBg="1"/>
      <p:bldP spid="47" grpId="0" animBg="1"/>
      <p:bldP spid="48" grpId="0" animBg="1"/>
      <p:bldP spid="4" grpId="0" animBg="1"/>
      <p:bldP spid="49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251520" y="188639"/>
            <a:ext cx="8640960" cy="6389361"/>
          </a:xfrm>
          <a:prstGeom prst="roundRect">
            <a:avLst>
              <a:gd name="adj" fmla="val 4181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344518" y="404664"/>
            <a:ext cx="6062088" cy="713810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4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proyek</a:t>
            </a:r>
            <a:r>
              <a:rPr lang="en-US" sz="4400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</a:t>
            </a:r>
            <a:r>
              <a:rPr lang="en-US" sz="4400" b="1" spc="50" dirty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/ </a:t>
            </a:r>
            <a:r>
              <a:rPr lang="en-US" sz="4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tugas</a:t>
            </a:r>
            <a:r>
              <a:rPr lang="en-US" sz="4400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</a:t>
            </a:r>
            <a:r>
              <a:rPr lang="en-US" sz="4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akhir</a:t>
            </a:r>
            <a:endParaRPr lang="en-US" sz="4800" b="1" spc="50" dirty="0">
              <a:ln w="11430"/>
              <a:solidFill>
                <a:srgbClr val="421C5E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1520" y="404664"/>
            <a:ext cx="987619" cy="713810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9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67544" y="1772816"/>
            <a:ext cx="1603858" cy="864096"/>
          </a:xfrm>
          <a:prstGeom prst="rightArrow">
            <a:avLst>
              <a:gd name="adj1" fmla="val 58377"/>
              <a:gd name="adj2" fmla="val 30158"/>
            </a:avLst>
          </a:prstGeom>
          <a:solidFill>
            <a:srgbClr val="B888D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159152"/>
              </p:ext>
            </p:extLst>
          </p:nvPr>
        </p:nvGraphicFramePr>
        <p:xfrm>
          <a:off x="355189" y="3844321"/>
          <a:ext cx="8537291" cy="23209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5620"/>
                <a:gridCol w="489681"/>
                <a:gridCol w="1177656"/>
                <a:gridCol w="2860023"/>
                <a:gridCol w="941676"/>
                <a:gridCol w="2632635"/>
              </a:tblGrid>
              <a:tr h="310555">
                <a:tc gridSpan="6">
                  <a:txBody>
                    <a:bodyPr/>
                    <a:lstStyle/>
                    <a:p>
                      <a:pPr algn="ctr"/>
                      <a:r>
                        <a:rPr lang="id-ID" sz="1000" dirty="0" smtClean="0">
                          <a:latin typeface="Franklin Gothic Demi Cond" pitchFamily="34" charset="0"/>
                        </a:rPr>
                        <a:t>PROYEK AKHIR  PPKN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000" dirty="0" smtClean="0">
                          <a:latin typeface="Franklin Gothic Demi Cond" pitchFamily="34" charset="0"/>
                        </a:rPr>
                        <a:t>RENCANA AKSI IMPLEMENTASI </a:t>
                      </a:r>
                      <a:r>
                        <a:rPr lang="en-US" sz="1000" dirty="0" smtClean="0">
                          <a:latin typeface="Franklin Gothic Demi Cond" pitchFamily="34" charset="0"/>
                        </a:rPr>
                        <a:t>NILAI </a:t>
                      </a:r>
                      <a:r>
                        <a:rPr lang="en-US" sz="1000" dirty="0" err="1" smtClean="0">
                          <a:latin typeface="Franklin Gothic Demi Cond" pitchFamily="34" charset="0"/>
                        </a:rPr>
                        <a:t>NILAI</a:t>
                      </a:r>
                      <a:r>
                        <a:rPr lang="en-US" sz="1000" dirty="0" smtClean="0">
                          <a:latin typeface="Franklin Gothic Demi Cond" pitchFamily="34" charset="0"/>
                        </a:rPr>
                        <a:t> PANCASILA</a:t>
                      </a:r>
                      <a:endParaRPr lang="id-ID" sz="10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d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d-ID" dirty="0"/>
                    </a:p>
                  </a:txBody>
                  <a:tcPr/>
                </a:tc>
              </a:tr>
              <a:tr h="207037">
                <a:tc gridSpan="6"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Franklin Gothic Demi Cond" pitchFamily="34" charset="0"/>
                        </a:rPr>
                        <a:t>NIM</a:t>
                      </a:r>
                      <a:r>
                        <a:rPr lang="id-ID" sz="1000" baseline="0" dirty="0" smtClean="0">
                          <a:latin typeface="Franklin Gothic Demi Cond" pitchFamily="34" charset="0"/>
                        </a:rPr>
                        <a:t> :..................................................   </a:t>
                      </a:r>
                      <a:r>
                        <a:rPr lang="en-US" sz="1000" baseline="0" dirty="0" smtClean="0">
                          <a:latin typeface="Franklin Gothic Demi Cond" pitchFamily="34" charset="0"/>
                        </a:rPr>
                        <a:t>NAMA</a:t>
                      </a:r>
                      <a:r>
                        <a:rPr lang="id-ID" sz="1000" baseline="0" dirty="0" smtClean="0">
                          <a:latin typeface="Franklin Gothic Demi Cond" pitchFamily="34" charset="0"/>
                        </a:rPr>
                        <a:t>:............................  KELAS : ..............................</a:t>
                      </a:r>
                      <a:endParaRPr lang="id-ID" sz="1000" b="0" dirty="0">
                        <a:solidFill>
                          <a:srgbClr val="FFFF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</a:tr>
              <a:tr h="153363">
                <a:tc rowSpan="2">
                  <a:txBody>
                    <a:bodyPr/>
                    <a:lstStyle/>
                    <a:p>
                      <a:pPr marL="0" indent="0" algn="ctr">
                        <a:tabLst/>
                      </a:pPr>
                      <a:r>
                        <a:rPr lang="id-ID" sz="800" dirty="0" smtClean="0">
                          <a:latin typeface="Franklin Gothic Demi Cond" pitchFamily="34" charset="0"/>
                        </a:rPr>
                        <a:t>NO</a:t>
                      </a:r>
                      <a:endParaRPr lang="id-ID" sz="800" dirty="0"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Franklin Gothic Demi Cond" pitchFamily="34" charset="0"/>
                        </a:rPr>
                        <a:t>NILAI-NILAI</a:t>
                      </a:r>
                      <a:r>
                        <a:rPr lang="en-US" sz="800" baseline="0" dirty="0" smtClean="0">
                          <a:latin typeface="Franklin Gothic Demi Cond" pitchFamily="34" charset="0"/>
                        </a:rPr>
                        <a:t> PANCASILA</a:t>
                      </a:r>
                      <a:endParaRPr lang="id-ID" sz="800" dirty="0"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d-ID" sz="1000" dirty="0"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d-ID" sz="1000" dirty="0"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Franklin Gothic Demi Cond" pitchFamily="34" charset="0"/>
                        </a:rPr>
                        <a:t>KATA KUNCI</a:t>
                      </a:r>
                      <a:endParaRPr lang="id-ID" sz="800" dirty="0"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Franklin Gothic Demi Cond" pitchFamily="34" charset="0"/>
                        </a:rPr>
                        <a:t>RENCANA AKSI</a:t>
                      </a:r>
                      <a:endParaRPr lang="id-ID" sz="800" dirty="0"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1533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800" dirty="0" smtClean="0">
                          <a:latin typeface="Franklin Gothic Demi Cond" pitchFamily="34" charset="0"/>
                        </a:rPr>
                        <a:t>SILA</a:t>
                      </a:r>
                      <a:endParaRPr lang="id-ID" sz="800" dirty="0">
                        <a:solidFill>
                          <a:srgbClr val="FF00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NILAI</a:t>
                      </a:r>
                      <a:endParaRPr lang="id-ID" sz="8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SUB NILAI</a:t>
                      </a:r>
                      <a:endParaRPr lang="id-ID" sz="8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4063">
                <a:tc>
                  <a:txBody>
                    <a:bodyPr/>
                    <a:lstStyle/>
                    <a:p>
                      <a:pPr algn="ctr"/>
                      <a:r>
                        <a:rPr lang="id-ID" sz="800" dirty="0" smtClean="0">
                          <a:latin typeface="Franklin Gothic Demi Cond" pitchFamily="34" charset="0"/>
                        </a:rPr>
                        <a:t>1</a:t>
                      </a:r>
                      <a:endParaRPr lang="id-ID" sz="800" dirty="0">
                        <a:solidFill>
                          <a:srgbClr val="FF00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1</a:t>
                      </a:r>
                      <a:endParaRPr lang="id-ID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endParaRPr lang="id-ID" sz="8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000" dirty="0">
                        <a:solidFill>
                          <a:srgbClr val="FF00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10635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Franklin Gothic Demi Cond" pitchFamily="34" charset="0"/>
                        </a:rPr>
                        <a:t>2</a:t>
                      </a:r>
                      <a:endParaRPr lang="id-ID" sz="800" dirty="0">
                        <a:solidFill>
                          <a:srgbClr val="FF00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2</a:t>
                      </a:r>
                      <a:endParaRPr lang="id-ID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6244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Franklin Gothic Demi Cond" pitchFamily="34" charset="0"/>
                        </a:rPr>
                        <a:t>3</a:t>
                      </a:r>
                      <a:endParaRPr lang="id-ID" sz="800" dirty="0">
                        <a:solidFill>
                          <a:srgbClr val="FF00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3</a:t>
                      </a:r>
                      <a:endParaRPr lang="id-ID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Franklin Gothic Demi Cond" pitchFamily="34" charset="0"/>
                        </a:rPr>
                        <a:t>4</a:t>
                      </a:r>
                      <a:endParaRPr lang="id-ID" sz="800" dirty="0">
                        <a:solidFill>
                          <a:srgbClr val="FF00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4</a:t>
                      </a:r>
                      <a:endParaRPr lang="id-ID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6021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Franklin Gothic Demi Cond" pitchFamily="34" charset="0"/>
                        </a:rPr>
                        <a:t>5</a:t>
                      </a:r>
                      <a:endParaRPr lang="id-ID" sz="800" dirty="0">
                        <a:solidFill>
                          <a:srgbClr val="FF00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5</a:t>
                      </a:r>
                      <a:endParaRPr lang="id-ID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67544" y="2060848"/>
            <a:ext cx="160385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dirty="0" smtClean="0">
                <a:solidFill>
                  <a:schemeClr val="tx1"/>
                </a:solidFill>
                <a:latin typeface="Franklin Gothic Demi Cond" pitchFamily="34" charset="0"/>
              </a:rPr>
              <a:t>RENCANA AKSI</a:t>
            </a:r>
            <a:endParaRPr lang="id-ID" dirty="0">
              <a:solidFill>
                <a:schemeClr val="tx1"/>
              </a:solidFill>
              <a:latin typeface="Franklin Gothic Demi Cond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195736" y="1628800"/>
            <a:ext cx="6593076" cy="2088232"/>
          </a:xfrm>
          <a:prstGeom prst="roundRect">
            <a:avLst>
              <a:gd name="adj" fmla="val 4085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buFont typeface="Courier New" pitchFamily="49" charset="0"/>
              <a:buChar char="o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DALAM MENGAMALKAN NILAI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NILAI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PANCASILA DALAM KEHIDUPAN SEHARI-HARI BANYAK CARA DAN TINDAKAN ATAU AKSI. DENGAN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KATA LAIN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KITA SUDAH MENGAMALKAN NILAI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NILAI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PANCASILA DLM KEHIDUPAN SEHARI-HARI (WALAUPUN TIDAK SEMUA NILAI DALAM SETIAP HARI DAN DLM SATU HARI )</a:t>
            </a:r>
          </a:p>
          <a:p>
            <a:pPr marL="285750" indent="-285750" algn="just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TENTUKAN / RUMUSKAN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2 (DUA) KATA KUNCI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SEBAGAI PEDOMAN ANDA DALAM MENGAMALKAN NILAI-NILAI PANCASILA !!!</a:t>
            </a:r>
          </a:p>
          <a:p>
            <a:pPr algn="just"/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	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  <a:sym typeface="Wingdings" pitchFamily="2" charset="2"/>
              </a:rPr>
              <a:t>  “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  <a:sym typeface="Wingdings" pitchFamily="2" charset="2"/>
              </a:rPr>
              <a:t>XXXXXXXXX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  <a:sym typeface="Wingdings" pitchFamily="2" charset="2"/>
              </a:rPr>
              <a:t>”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  <a:sym typeface="Wingdings" pitchFamily="2" charset="2"/>
              </a:rPr>
              <a:t>dan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  <a:sym typeface="Wingdings" pitchFamily="2" charset="2"/>
              </a:rPr>
              <a:t> “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  <a:sym typeface="Wingdings" pitchFamily="2" charset="2"/>
              </a:rPr>
              <a:t>YYYYYYYYYY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  <a:sym typeface="Wingdings" pitchFamily="2" charset="2"/>
              </a:rPr>
              <a:t>”</a:t>
            </a:r>
          </a:p>
          <a:p>
            <a:pPr marL="285750" indent="-285750" algn="just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BUAT RENCANA AKSI (APA YANG AKAN ANDA LAKUKAN) DALAM MENGIMPLEMENTASIKAN / MENGAMALKAN NILAI-NILAI PANCASILA, DENGAN MENGAITKAN SUB NILAI TIAP-TIAP SILA PANCASILA DENGAN KATA KUNCI YANG SUDAH ANDA TENTUKAN / RUMUSKAN</a:t>
            </a:r>
          </a:p>
          <a:p>
            <a:pPr algn="just"/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	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  <a:sym typeface="Wingdings" pitchFamily="2" charset="2"/>
              </a:rPr>
              <a:t>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  <a:sym typeface="Wingdings" pitchFamily="2" charset="2"/>
              </a:rPr>
              <a:t>SATU SILA MINIMAL SATU RENCANA AKSI.</a:t>
            </a:r>
            <a:endParaRPr lang="en-US" sz="12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82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16" grpId="0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251520" y="188639"/>
            <a:ext cx="8640960" cy="6389361"/>
          </a:xfrm>
          <a:prstGeom prst="roundRect">
            <a:avLst>
              <a:gd name="adj" fmla="val 4181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344518" y="260649"/>
            <a:ext cx="6062088" cy="288032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proyek</a:t>
            </a:r>
            <a:r>
              <a:rPr lang="en-US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</a:t>
            </a:r>
            <a:r>
              <a:rPr lang="en-US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akhir</a:t>
            </a:r>
            <a:r>
              <a:rPr lang="en-US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/ </a:t>
            </a:r>
            <a:r>
              <a:rPr lang="en-US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tugas</a:t>
            </a:r>
            <a:endParaRPr lang="en-US" b="1" spc="50" dirty="0">
              <a:ln w="11430"/>
              <a:solidFill>
                <a:srgbClr val="421C5E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1520" y="260649"/>
            <a:ext cx="987619" cy="288032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10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72746"/>
              </p:ext>
            </p:extLst>
          </p:nvPr>
        </p:nvGraphicFramePr>
        <p:xfrm>
          <a:off x="251520" y="836712"/>
          <a:ext cx="8537291" cy="51966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5620"/>
                <a:gridCol w="489681"/>
                <a:gridCol w="802891"/>
                <a:gridCol w="2880320"/>
                <a:gridCol w="1008112"/>
                <a:gridCol w="2920667"/>
              </a:tblGrid>
              <a:tr h="432048">
                <a:tc gridSpan="6">
                  <a:txBody>
                    <a:bodyPr/>
                    <a:lstStyle/>
                    <a:p>
                      <a:pPr algn="ctr"/>
                      <a:r>
                        <a:rPr lang="id-ID" sz="1000" dirty="0" smtClean="0">
                          <a:latin typeface="Franklin Gothic Demi Cond" pitchFamily="34" charset="0"/>
                        </a:rPr>
                        <a:t>PROYEK AKHIR  PPKN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000" dirty="0" smtClean="0">
                          <a:latin typeface="Franklin Gothic Demi Cond" pitchFamily="34" charset="0"/>
                        </a:rPr>
                        <a:t>RENCANA AKSI IMPLEMENTASI </a:t>
                      </a:r>
                      <a:r>
                        <a:rPr lang="en-US" sz="1000" dirty="0" smtClean="0">
                          <a:latin typeface="Franklin Gothic Demi Cond" pitchFamily="34" charset="0"/>
                        </a:rPr>
                        <a:t>NILAI </a:t>
                      </a:r>
                      <a:r>
                        <a:rPr lang="en-US" sz="1000" dirty="0" err="1" smtClean="0">
                          <a:latin typeface="Franklin Gothic Demi Cond" pitchFamily="34" charset="0"/>
                        </a:rPr>
                        <a:t>NILAI</a:t>
                      </a:r>
                      <a:r>
                        <a:rPr lang="en-US" sz="1000" dirty="0" smtClean="0">
                          <a:latin typeface="Franklin Gothic Demi Cond" pitchFamily="34" charset="0"/>
                        </a:rPr>
                        <a:t> PANCASILA</a:t>
                      </a:r>
                      <a:endParaRPr lang="id-ID" sz="10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d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d-ID" dirty="0"/>
                    </a:p>
                  </a:txBody>
                  <a:tcPr/>
                </a:tc>
              </a:tr>
              <a:tr h="288032">
                <a:tc gridSpan="6">
                  <a:txBody>
                    <a:bodyPr/>
                    <a:lstStyle/>
                    <a:p>
                      <a:pPr algn="ctr"/>
                      <a:r>
                        <a:rPr lang="id-ID" sz="1000" dirty="0" smtClean="0">
                          <a:latin typeface="Franklin Gothic Demi Cond" pitchFamily="34" charset="0"/>
                        </a:rPr>
                        <a:t>N</a:t>
                      </a:r>
                      <a:r>
                        <a:rPr lang="en-US" sz="1000" dirty="0" smtClean="0">
                          <a:latin typeface="Franklin Gothic Demi Cond" pitchFamily="34" charset="0"/>
                        </a:rPr>
                        <a:t>I</a:t>
                      </a:r>
                      <a:r>
                        <a:rPr lang="id-ID" sz="1000" dirty="0" smtClean="0">
                          <a:latin typeface="Franklin Gothic Demi Cond" pitchFamily="34" charset="0"/>
                        </a:rPr>
                        <a:t>M</a:t>
                      </a:r>
                      <a:r>
                        <a:rPr lang="id-ID" sz="1000" baseline="0" dirty="0" smtClean="0">
                          <a:latin typeface="Franklin Gothic Demi Cond" pitchFamily="34" charset="0"/>
                        </a:rPr>
                        <a:t> :..................................................   </a:t>
                      </a:r>
                      <a:r>
                        <a:rPr lang="en-US" sz="1000" baseline="0" dirty="0" smtClean="0">
                          <a:latin typeface="Franklin Gothic Demi Cond" pitchFamily="34" charset="0"/>
                        </a:rPr>
                        <a:t>NAMA </a:t>
                      </a:r>
                      <a:r>
                        <a:rPr lang="id-ID" sz="1000" baseline="0" dirty="0" smtClean="0">
                          <a:latin typeface="Franklin Gothic Demi Cond" pitchFamily="34" charset="0"/>
                        </a:rPr>
                        <a:t>:............................  KELAS : ..............................</a:t>
                      </a:r>
                      <a:endParaRPr lang="id-ID" sz="1000" b="0" dirty="0">
                        <a:solidFill>
                          <a:srgbClr val="FFFF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</a:tr>
              <a:tr h="194908">
                <a:tc rowSpan="2">
                  <a:txBody>
                    <a:bodyPr/>
                    <a:lstStyle/>
                    <a:p>
                      <a:pPr marL="0" indent="0" algn="ctr">
                        <a:tabLst/>
                      </a:pPr>
                      <a:r>
                        <a:rPr lang="id-ID" sz="800" dirty="0" smtClean="0">
                          <a:latin typeface="Franklin Gothic Demi Cond" pitchFamily="34" charset="0"/>
                        </a:rPr>
                        <a:t>NO</a:t>
                      </a:r>
                      <a:endParaRPr lang="id-ID" sz="800" dirty="0"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Franklin Gothic Demi Cond" pitchFamily="34" charset="0"/>
                        </a:rPr>
                        <a:t>NILAI-NILAI</a:t>
                      </a:r>
                      <a:r>
                        <a:rPr lang="en-US" sz="800" baseline="0" dirty="0" smtClean="0">
                          <a:latin typeface="Franklin Gothic Demi Cond" pitchFamily="34" charset="0"/>
                        </a:rPr>
                        <a:t> PANCASILA</a:t>
                      </a:r>
                      <a:endParaRPr lang="id-ID" sz="800" dirty="0"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d-ID" sz="1000" dirty="0"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d-ID" sz="1000" dirty="0"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Franklin Gothic Demi Cond" pitchFamily="34" charset="0"/>
                        </a:rPr>
                        <a:t>KATA KUNCI</a:t>
                      </a:r>
                      <a:endParaRPr lang="id-ID" sz="800" dirty="0"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Franklin Gothic Demi Cond" pitchFamily="34" charset="0"/>
                        </a:rPr>
                        <a:t>RENCANA AKSI</a:t>
                      </a:r>
                      <a:endParaRPr lang="id-ID" sz="800" dirty="0"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1975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800" dirty="0" smtClean="0">
                          <a:latin typeface="Franklin Gothic Demi Cond" pitchFamily="34" charset="0"/>
                        </a:rPr>
                        <a:t>SILA</a:t>
                      </a:r>
                      <a:endParaRPr lang="id-ID" sz="800" dirty="0">
                        <a:solidFill>
                          <a:srgbClr val="FF00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NILAI</a:t>
                      </a:r>
                      <a:endParaRPr lang="id-ID" sz="8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SUB NILAI</a:t>
                      </a:r>
                      <a:endParaRPr lang="id-ID" sz="8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60276">
                <a:tc>
                  <a:txBody>
                    <a:bodyPr/>
                    <a:lstStyle/>
                    <a:p>
                      <a:pPr algn="ctr"/>
                      <a:r>
                        <a:rPr lang="id-ID" sz="800" dirty="0" smtClean="0">
                          <a:latin typeface="Franklin Gothic Demi Cond" pitchFamily="34" charset="0"/>
                        </a:rPr>
                        <a:t>1</a:t>
                      </a:r>
                      <a:endParaRPr lang="id-ID" sz="800" dirty="0">
                        <a:solidFill>
                          <a:srgbClr val="FF00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1</a:t>
                      </a:r>
                      <a:endParaRPr lang="id-ID" sz="16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Franklin Gothic Demi Cond" pitchFamily="34" charset="0"/>
                        </a:rPr>
                        <a:t>NILAI </a:t>
                      </a:r>
                    </a:p>
                    <a:p>
                      <a:r>
                        <a:rPr lang="en-US" sz="800" dirty="0" smtClean="0">
                          <a:latin typeface="Franklin Gothic Demi Cond" pitchFamily="34" charset="0"/>
                        </a:rPr>
                        <a:t>RELIGIUS </a:t>
                      </a:r>
                      <a:endParaRPr lang="id-ID" sz="8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a. KEYAKINAN</a:t>
                      </a:r>
                    </a:p>
                    <a:p>
                      <a:r>
                        <a:rPr lang="sv-SE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b. KETAKWAAN</a:t>
                      </a:r>
                      <a:endParaRPr lang="id-ID" sz="8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  <a:sym typeface="Wingdings" pitchFamily="2" charset="2"/>
                        </a:rPr>
                        <a:t>“ XXXXXXXXX” </a:t>
                      </a:r>
                      <a:r>
                        <a:rPr lang="en-US" sz="800" dirty="0" err="1" smtClean="0">
                          <a:solidFill>
                            <a:schemeClr val="tx1"/>
                          </a:solidFill>
                          <a:latin typeface="Franklin Gothic Demi Cond" pitchFamily="34" charset="0"/>
                          <a:sym typeface="Wingdings" pitchFamily="2" charset="2"/>
                        </a:rPr>
                        <a:t>dan</a:t>
                      </a:r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  <a:sym typeface="Wingdings" pitchFamily="2" charset="2"/>
                        </a:rPr>
                        <a:t> “YYYYYYYYYY”</a:t>
                      </a:r>
                      <a:endParaRPr lang="en-US" sz="800" dirty="0" smtClean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  <a:p>
                      <a:pPr algn="ctr"/>
                      <a:endParaRPr lang="id-ID" sz="8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itchFamily="2" charset="2"/>
                        <a:buChar char="§"/>
                      </a:pPr>
                      <a:r>
                        <a:rPr lang="en-US" sz="80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Dalam</a:t>
                      </a:r>
                      <a:r>
                        <a:rPr lang="en-US" sz="80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80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menjalankan</a:t>
                      </a:r>
                      <a:r>
                        <a:rPr lang="en-US" sz="80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80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ajaran</a:t>
                      </a:r>
                      <a:r>
                        <a:rPr lang="en-US" sz="80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80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dari</a:t>
                      </a:r>
                      <a:r>
                        <a:rPr lang="en-US" sz="800" baseline="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800" baseline="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keyakinan</a:t>
                      </a:r>
                      <a:r>
                        <a:rPr lang="en-US" sz="800" baseline="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800" baseline="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saya</a:t>
                      </a:r>
                      <a:r>
                        <a:rPr lang="en-US" sz="800" baseline="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, </a:t>
                      </a:r>
                      <a:r>
                        <a:rPr lang="en-US" sz="800" baseline="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saya</a:t>
                      </a:r>
                      <a:r>
                        <a:rPr lang="en-US" sz="800" baseline="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800" baseline="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akan</a:t>
                      </a:r>
                      <a:r>
                        <a:rPr lang="en-US" sz="800" baseline="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 XXXXXX </a:t>
                      </a:r>
                      <a:r>
                        <a:rPr lang="en-US" sz="800" baseline="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dan</a:t>
                      </a:r>
                      <a:r>
                        <a:rPr lang="en-US" sz="800" baseline="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 YYYYYYY </a:t>
                      </a:r>
                      <a:r>
                        <a:rPr lang="en-US" sz="800" baseline="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keyakinan</a:t>
                      </a:r>
                      <a:r>
                        <a:rPr lang="en-US" sz="800" baseline="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 orang/</a:t>
                      </a:r>
                      <a:r>
                        <a:rPr lang="en-US" sz="800" baseline="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pihak</a:t>
                      </a:r>
                      <a:r>
                        <a:rPr lang="en-US" sz="800" baseline="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 lain </a:t>
                      </a:r>
                      <a:r>
                        <a:rPr lang="en-US" sz="800" baseline="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karena</a:t>
                      </a:r>
                      <a:r>
                        <a:rPr lang="en-US" sz="800" baseline="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800" baseline="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saya</a:t>
                      </a:r>
                      <a:r>
                        <a:rPr lang="en-US" sz="800" baseline="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800" baseline="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menyadari</a:t>
                      </a:r>
                      <a:r>
                        <a:rPr lang="en-US" sz="800" baseline="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 di Indonesia </a:t>
                      </a:r>
                      <a:r>
                        <a:rPr lang="en-US" sz="800" baseline="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diakui</a:t>
                      </a:r>
                      <a:r>
                        <a:rPr lang="en-US" sz="800" baseline="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800" baseline="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adanya</a:t>
                      </a:r>
                      <a:r>
                        <a:rPr lang="en-US" sz="800" baseline="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800" baseline="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nbeberapa</a:t>
                      </a:r>
                      <a:r>
                        <a:rPr lang="en-US" sz="800" baseline="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800" baseline="0" dirty="0" err="1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keyakinan</a:t>
                      </a:r>
                      <a:r>
                        <a:rPr lang="en-US" sz="800" baseline="0" dirty="0" smtClean="0">
                          <a:solidFill>
                            <a:srgbClr val="FF0000"/>
                          </a:solidFill>
                          <a:latin typeface="Franklin Gothic Demi Cond" pitchFamily="34" charset="0"/>
                        </a:rPr>
                        <a:t>/agama.</a:t>
                      </a:r>
                      <a:endParaRPr lang="id-ID" sz="800" dirty="0">
                        <a:solidFill>
                          <a:srgbClr val="FF00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14124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Franklin Gothic Demi Cond" pitchFamily="34" charset="0"/>
                        </a:rPr>
                        <a:t>2</a:t>
                      </a:r>
                      <a:endParaRPr lang="id-ID" sz="800" dirty="0">
                        <a:solidFill>
                          <a:srgbClr val="FF00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2</a:t>
                      </a:r>
                      <a:endParaRPr lang="id-ID" sz="16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Franklin Gothic Demi Cond" pitchFamily="34" charset="0"/>
                        </a:rPr>
                        <a:t>NILAI KEMANUSIAAN</a:t>
                      </a:r>
                      <a:endParaRPr lang="id-ID" sz="8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a. Pengakuan terhadap adanya MARTABAT manusia</a:t>
                      </a:r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 </a:t>
                      </a:r>
                      <a:endParaRPr lang="sv-SE" sz="800" dirty="0" smtClean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  <a:p>
                      <a:r>
                        <a:rPr lang="pt-BR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b. Perlakuan yang ADIL terhadap sesama manusia.</a:t>
                      </a:r>
                      <a:endParaRPr lang="id-ID" sz="8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02548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Franklin Gothic Demi Cond" pitchFamily="34" charset="0"/>
                        </a:rPr>
                        <a:t>3</a:t>
                      </a:r>
                      <a:endParaRPr lang="id-ID" sz="800" dirty="0">
                        <a:solidFill>
                          <a:srgbClr val="FF00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3</a:t>
                      </a:r>
                      <a:endParaRPr lang="id-ID" sz="16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Franklin Gothic Demi Cond" pitchFamily="34" charset="0"/>
                        </a:rPr>
                        <a:t>NILAI PERSATUAN BANGSA</a:t>
                      </a:r>
                      <a:endParaRPr lang="id-ID" sz="8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/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a. PERSATUAN SUKU-SUKU BANGSA  DAN BANGSA </a:t>
                      </a:r>
                      <a:r>
                        <a:rPr lang="en-US" sz="800" dirty="0" err="1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yg</a:t>
                      </a:r>
                      <a:r>
                        <a:rPr lang="en-US" sz="800" baseline="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800" baseline="0" dirty="0" err="1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mendiami</a:t>
                      </a:r>
                      <a:r>
                        <a:rPr lang="en-US" sz="800" baseline="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800" baseline="0" dirty="0" err="1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wilayah</a:t>
                      </a:r>
                      <a:r>
                        <a:rPr lang="en-US" sz="800" baseline="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 Indonesia</a:t>
                      </a:r>
                    </a:p>
                    <a:p>
                      <a:pPr marL="114300" indent="-114300"/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b. </a:t>
                      </a:r>
                      <a:r>
                        <a:rPr lang="it-IT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PENGAKUAN thd ke- Bhineka Tunggal Ika - an </a:t>
                      </a:r>
                    </a:p>
                    <a:p>
                      <a:pPr marL="114300" indent="-114300"/>
                      <a:endParaRPr lang="id-ID" sz="8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935908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Franklin Gothic Demi Cond" pitchFamily="34" charset="0"/>
                        </a:rPr>
                        <a:t>4</a:t>
                      </a:r>
                      <a:endParaRPr lang="id-ID" sz="800" dirty="0">
                        <a:solidFill>
                          <a:srgbClr val="FF00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4</a:t>
                      </a:r>
                      <a:endParaRPr lang="id-ID" sz="16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Franklin Gothic Demi Cond" pitchFamily="34" charset="0"/>
                        </a:rPr>
                        <a:t>NILA KERAKYATAN</a:t>
                      </a:r>
                      <a:endParaRPr lang="id-ID" sz="8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/>
                      <a:r>
                        <a:rPr lang="it-IT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a. Kedaulatan negara ada DITANGAN RAKYAT.</a:t>
                      </a:r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 </a:t>
                      </a:r>
                      <a:endParaRPr lang="sv-SE" sz="800" dirty="0" smtClean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  <a:p>
                      <a:pPr marL="114300" indent="-114300"/>
                      <a:r>
                        <a:rPr lang="it-IT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b. Pemimpin kerakyatan adalah HIKMAT KEBIJAKSANAAN yang dilandasi akal sehat.</a:t>
                      </a:r>
                      <a:endParaRPr lang="sv-SE" sz="800" dirty="0" smtClean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  <a:p>
                      <a:pPr marL="114300" indent="-114300"/>
                      <a:r>
                        <a:rPr lang="it-IT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c. Manusia Indonesia sebagai warga negara dan warga masyarakat Indonesia memunyai KEDUDUKAN HAK DAN KEWAJIBAN YANG SAMA.</a:t>
                      </a:r>
                      <a:endParaRPr lang="sv-SE" sz="800" dirty="0" smtClean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  <a:p>
                      <a:pPr marL="114300" indent="-114300"/>
                      <a:r>
                        <a:rPr lang="it-IT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d. MUSYAWARAH UNTUK MUFAKAT dicapai dalam permusyawaratan wakil-wakil rakyat.</a:t>
                      </a:r>
                      <a:endParaRPr lang="sv-SE" sz="800" dirty="0" smtClean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  <a:p>
                      <a:pPr marL="114300" indent="-114300"/>
                      <a:endParaRPr lang="id-ID" sz="8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2517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Franklin Gothic Demi Cond" pitchFamily="34" charset="0"/>
                        </a:rPr>
                        <a:t>5</a:t>
                      </a:r>
                      <a:endParaRPr lang="id-ID" sz="800" dirty="0">
                        <a:solidFill>
                          <a:srgbClr val="FF00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5</a:t>
                      </a:r>
                      <a:endParaRPr lang="id-ID" sz="16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Franklin Gothic Demi Cond" pitchFamily="34" charset="0"/>
                        </a:rPr>
                        <a:t>NILAI </a:t>
                      </a:r>
                    </a:p>
                    <a:p>
                      <a:r>
                        <a:rPr lang="en-US" sz="800" dirty="0" smtClean="0">
                          <a:latin typeface="Franklin Gothic Demi Cond" pitchFamily="34" charset="0"/>
                        </a:rPr>
                        <a:t>KEADILAN SOSIAL</a:t>
                      </a:r>
                      <a:endParaRPr lang="id-ID" sz="8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/>
                      <a:r>
                        <a:rPr lang="fi-FI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a. Perwujudan keadilan sosial meliputi SELURUH rakyat Indonesia.</a:t>
                      </a:r>
                      <a:endParaRPr lang="sv-SE" sz="800" dirty="0" smtClean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  <a:p>
                      <a:pPr marL="114300" indent="-114300"/>
                      <a:r>
                        <a:rPr lang="fi-FI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b. Keadilan dalam bidang sosial MELIPUTI bidang-bidang ideologi, politik, ekonomi, kebudayaan dan pertahanan keamanan nasional.</a:t>
                      </a:r>
                      <a:endParaRPr lang="sv-SE" sz="800" dirty="0" smtClean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  <a:p>
                      <a:pPr marL="114300" indent="-114300"/>
                      <a:r>
                        <a:rPr lang="fi-FI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c. KESEIMBANGAN antara hak dan kewajiban serta MENGHORMATI hak orang lain.</a:t>
                      </a:r>
                      <a:endParaRPr lang="sv-SE" sz="800" dirty="0" smtClean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  <a:p>
                      <a:pPr marL="114300" indent="-114300"/>
                      <a:r>
                        <a:rPr lang="fi-FI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d. Cita-cita masyarakat adil makmur, material spiritual yang merata bagi SELURUH rakyat Indonesia.</a:t>
                      </a:r>
                      <a:r>
                        <a:rPr lang="it-IT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.</a:t>
                      </a:r>
                      <a:endParaRPr lang="sv-SE" sz="800" dirty="0" smtClean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  <a:p>
                      <a:pPr marL="114300" indent="-114300"/>
                      <a:r>
                        <a:rPr lang="fi-FI" sz="8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e. Cinta akan kemajuan , pembangunan , dan  keamanan.</a:t>
                      </a:r>
                      <a:endParaRPr lang="sv-SE" sz="800" dirty="0" smtClean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  <a:p>
                      <a:pPr marL="114300" indent="-114300"/>
                      <a:endParaRPr lang="id-ID" sz="8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d-ID" sz="8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8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38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 dirty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37" name="Rounded Rectangle 3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11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2316" y="692695"/>
            <a:ext cx="699589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525449" y="692696"/>
            <a:ext cx="5040560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PENGUMPULAN TUGAS AKHIR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889031" y="1340768"/>
            <a:ext cx="5040560" cy="637703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KETENTUAN </a:t>
            </a:r>
            <a:endParaRPr lang="en-US" sz="36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 flipH="1">
            <a:off x="1979679" y="2069904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2" name="Oval 11"/>
          <p:cNvSpPr/>
          <p:nvPr/>
        </p:nvSpPr>
        <p:spPr>
          <a:xfrm flipH="1">
            <a:off x="1969046" y="2852936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4" name="Oval 13"/>
          <p:cNvSpPr/>
          <p:nvPr/>
        </p:nvSpPr>
        <p:spPr>
          <a:xfrm flipH="1">
            <a:off x="1969046" y="3826104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68527" y="3799294"/>
            <a:ext cx="6463828" cy="424799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Paling </a:t>
            </a:r>
            <a:r>
              <a:rPr lang="en-US" sz="24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lambat</a:t>
            </a:r>
            <a:r>
              <a:rPr lang="en-US" sz="24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4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31 </a:t>
            </a:r>
            <a:r>
              <a:rPr lang="en-US" sz="24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Maret</a:t>
            </a:r>
            <a:r>
              <a:rPr lang="en-US" sz="24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2022</a:t>
            </a:r>
            <a:endParaRPr lang="en-US" sz="2800" b="1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372041" y="2708921"/>
            <a:ext cx="6463828" cy="720079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Kirim</a:t>
            </a:r>
            <a:r>
              <a:rPr lang="en-US" sz="24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4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</a:t>
            </a:r>
            <a:r>
              <a:rPr lang="en-US" sz="24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e-mail </a:t>
            </a:r>
            <a:r>
              <a:rPr lang="en-US" sz="24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saya</a:t>
            </a:r>
            <a:r>
              <a:rPr lang="en-US" sz="24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, </a:t>
            </a:r>
            <a:r>
              <a:rPr lang="en-US" sz="24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Subjek</a:t>
            </a:r>
            <a:r>
              <a:rPr lang="en-US" sz="24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4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diisi</a:t>
            </a:r>
            <a:r>
              <a:rPr lang="en-US" sz="24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TA PPKN_KELAS_NIM_NAMA</a:t>
            </a:r>
            <a:endParaRPr lang="en-US" sz="28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382674" y="2009505"/>
            <a:ext cx="6463828" cy="542005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Diketik</a:t>
            </a:r>
            <a:r>
              <a:rPr lang="en-US" sz="24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4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rapi</a:t>
            </a:r>
            <a:r>
              <a:rPr lang="en-US" sz="24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4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kirim</a:t>
            </a:r>
            <a:r>
              <a:rPr lang="en-US" sz="24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4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dalam</a:t>
            </a:r>
            <a:r>
              <a:rPr lang="en-US" sz="24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format </a:t>
            </a:r>
            <a:r>
              <a:rPr lang="en-US" sz="24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PDF</a:t>
            </a:r>
            <a:endParaRPr lang="en-US" sz="2800" b="1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 flipH="1">
            <a:off x="1547664" y="1527899"/>
            <a:ext cx="402995" cy="397989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28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  <p:bldP spid="14" grpId="0" animBg="1"/>
      <p:bldP spid="16" grpId="0"/>
      <p:bldP spid="17" grpId="0"/>
      <p:bldP spid="19" grpId="0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2618</TotalTime>
  <Words>966</Words>
  <Application>Microsoft Office PowerPoint</Application>
  <PresentationFormat>On-screen Show (4:3)</PresentationFormat>
  <Paragraphs>178</Paragraphs>
  <Slides>11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</dc:creator>
  <cp:lastModifiedBy>tantular</cp:lastModifiedBy>
  <cp:revision>169</cp:revision>
  <dcterms:created xsi:type="dcterms:W3CDTF">2012-12-14T01:57:49Z</dcterms:created>
  <dcterms:modified xsi:type="dcterms:W3CDTF">2021-10-04T09:02:44Z</dcterms:modified>
</cp:coreProperties>
</file>