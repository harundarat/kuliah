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379" r:id="rId2"/>
    <p:sldId id="515" r:id="rId3"/>
    <p:sldId id="482" r:id="rId4"/>
    <p:sldId id="518" r:id="rId5"/>
    <p:sldId id="519" r:id="rId6"/>
    <p:sldId id="568" r:id="rId7"/>
    <p:sldId id="569" r:id="rId8"/>
    <p:sldId id="570" r:id="rId9"/>
    <p:sldId id="564" r:id="rId10"/>
    <p:sldId id="573" r:id="rId11"/>
    <p:sldId id="574" r:id="rId12"/>
    <p:sldId id="575" r:id="rId13"/>
    <p:sldId id="576" r:id="rId14"/>
    <p:sldId id="577" r:id="rId15"/>
    <p:sldId id="565" r:id="rId16"/>
    <p:sldId id="581" r:id="rId17"/>
    <p:sldId id="580" r:id="rId18"/>
    <p:sldId id="566" r:id="rId19"/>
    <p:sldId id="567" r:id="rId20"/>
    <p:sldId id="582" r:id="rId21"/>
  </p:sldIdLst>
  <p:sldSz cx="9144000" cy="6858000" type="screen4x3"/>
  <p:notesSz cx="6858000" cy="99456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00000"/>
    <a:srgbClr val="8B8BFF"/>
    <a:srgbClr val="A161D1"/>
    <a:srgbClr val="632A8E"/>
    <a:srgbClr val="3D3923"/>
    <a:srgbClr val="005024"/>
    <a:srgbClr val="39471D"/>
    <a:srgbClr val="210E30"/>
    <a:srgbClr val="421C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73" autoAdjust="0"/>
    <p:restoredTop sz="48403" autoAdjust="0"/>
  </p:normalViewPr>
  <p:slideViewPr>
    <p:cSldViewPr>
      <p:cViewPr>
        <p:scale>
          <a:sx n="90" d="100"/>
          <a:sy n="90" d="100"/>
        </p:scale>
        <p:origin x="-1200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CD72A1E-A15A-4353-B246-653D9C25F163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5625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5C1E8C60-3F71-421E-A4EE-424BF4405625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000016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E1AFF8A-3052-4760-8568-6E84C042C774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1388" y="746125"/>
            <a:ext cx="4975225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400"/>
            <a:ext cx="5486400" cy="4475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7213"/>
            <a:ext cx="29718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7213"/>
            <a:ext cx="29718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7130AD5-259B-40C9-978B-C5B432313C84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178569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45937-C7CA-4F43-83BE-69F46718CB32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FF348-963D-4164-9152-D65B6290086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5932135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8CFFF-BF18-47CE-8FE0-29A8CF424B5E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A8C3A-1E2B-4E8A-BD92-C6787644AFA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48684763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895BA-9421-45D5-B610-B6A27539BE30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8B6A2-E6F9-40CD-B31D-2A7ACBE02886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57812346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54B61-BE65-4A35-9BD9-BBA2DBF74D4C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D5430-D0C4-41B6-9ABA-03BFFAC83227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7987999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092A6-F8B3-4094-8B0A-3B3956C86E71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ACA513-7E7B-4F4D-9947-33236A2C4972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3438672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BFEFC-794E-47BB-9E24-34139C148C02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4BA47-9E02-415B-94B8-78D7CDF49CF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53420375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7CCD9-9E09-4C0E-A910-0406E3B646DE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B9C7D-CD75-47CA-A688-C20D95AB6A2F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7893534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3CEAF-6C76-4AAD-8E10-CB64E678BE4D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5C468-A786-43D6-9722-840F1A28811D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7837920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2EE35-9C35-4128-84DF-222ED950306D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9A7B2-7899-4D89-B82A-224B7D606073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19590820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9A5354-BF8A-4B40-8A86-2AA70411B717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61A0B-C309-46D2-AF15-045986B03DAC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1006596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F8C53-3D6C-476B-88E9-E76080626783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3657B-1F74-49FD-A38F-CD3CAD54FE7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47943346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chemeClr val="bg2">
              <a:lumMod val="75000"/>
            </a:schemeClr>
          </a:fgClr>
          <a:bgClr>
            <a:schemeClr val="bg2">
              <a:lumMod val="1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 smtClean="0"/>
              <a:t>Click to edit Master text styles</a:t>
            </a:r>
          </a:p>
          <a:p>
            <a:pPr lvl="1"/>
            <a:r>
              <a:rPr lang="en-US" altLang="id-ID" smtClean="0"/>
              <a:t>Second level</a:t>
            </a:r>
          </a:p>
          <a:p>
            <a:pPr lvl="2"/>
            <a:r>
              <a:rPr lang="en-US" altLang="id-ID" smtClean="0"/>
              <a:t>Third level</a:t>
            </a:r>
          </a:p>
          <a:p>
            <a:pPr lvl="3"/>
            <a:r>
              <a:rPr lang="en-US" altLang="id-ID" smtClean="0"/>
              <a:t>Fourth level</a:t>
            </a:r>
          </a:p>
          <a:p>
            <a:pPr lvl="4"/>
            <a:r>
              <a:rPr lang="en-US" altLang="id-ID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93414F5D-E921-4DF8-A0B8-3BBB76D65E32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261D0A8B-D8C4-47E4-9E91-00D3B1C15112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rgbClr val="210E30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1" name="Frame 10"/>
          <p:cNvSpPr/>
          <p:nvPr/>
        </p:nvSpPr>
        <p:spPr>
          <a:xfrm>
            <a:off x="415718" y="188640"/>
            <a:ext cx="8286808" cy="2143140"/>
          </a:xfrm>
          <a:prstGeom prst="frame">
            <a:avLst>
              <a:gd name="adj1" fmla="val 18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ln w="9525">
                <a:solidFill>
                  <a:schemeClr val="tx1"/>
                </a:solidFill>
              </a:ln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8" name="Rounded Rectangle 27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id-ID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3" name="Frame 32"/>
          <p:cNvSpPr/>
          <p:nvPr/>
        </p:nvSpPr>
        <p:spPr>
          <a:xfrm>
            <a:off x="421294" y="2636912"/>
            <a:ext cx="8286808" cy="3785933"/>
          </a:xfrm>
          <a:prstGeom prst="frame">
            <a:avLst>
              <a:gd name="adj1" fmla="val 1191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9" name="WordArt 2"/>
          <p:cNvSpPr>
            <a:spLocks noChangeArrowheads="1" noChangeShapeType="1" noTextEdit="1"/>
          </p:cNvSpPr>
          <p:nvPr/>
        </p:nvSpPr>
        <p:spPr bwMode="auto">
          <a:xfrm>
            <a:off x="899592" y="3212976"/>
            <a:ext cx="7344816" cy="115212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C000"/>
                  </a:solidFill>
                </a:ln>
                <a:solidFill>
                  <a:srgbClr val="461F63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1430">
                <a:solidFill>
                  <a:srgbClr val="FFC000"/>
                </a:solidFill>
              </a:ln>
              <a:solidFill>
                <a:srgbClr val="461F63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sp>
        <p:nvSpPr>
          <p:cNvPr id="34" name="WordArt 2"/>
          <p:cNvSpPr>
            <a:spLocks noChangeArrowheads="1" noChangeShapeType="1" noTextEdit="1"/>
          </p:cNvSpPr>
          <p:nvPr/>
        </p:nvSpPr>
        <p:spPr bwMode="auto">
          <a:xfrm>
            <a:off x="899592" y="4488860"/>
            <a:ext cx="7344816" cy="380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/>
            <a:r>
              <a:rPr lang="id-ID" sz="3600" b="1" kern="10" spc="0" dirty="0" smtClean="0">
                <a:ln w="28575">
                  <a:noFill/>
                  <a:round/>
                  <a:headEnd/>
                  <a:tailEnd/>
                </a:ln>
                <a:solidFill>
                  <a:srgbClr val="FFC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Pendidikan Pancasila dan Kewarganegaraan</a:t>
            </a:r>
            <a:endParaRPr lang="en-US" sz="3600" b="1" kern="10" spc="0" dirty="0">
              <a:ln w="28575">
                <a:noFill/>
                <a:round/>
                <a:headEnd/>
                <a:tailEnd/>
              </a:ln>
              <a:solidFill>
                <a:srgbClr val="FFC000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411760" y="4797152"/>
            <a:ext cx="4280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Tahun Akademik 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20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21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/202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 </a:t>
            </a:r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Semester Ganjil</a:t>
            </a:r>
          </a:p>
        </p:txBody>
      </p: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9" y="468122"/>
            <a:ext cx="2736304" cy="158417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7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188641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2</a:t>
            </a: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41" name="WordArt 2"/>
          <p:cNvSpPr>
            <a:spLocks noChangeArrowheads="1" noChangeShapeType="1" noTextEdit="1"/>
          </p:cNvSpPr>
          <p:nvPr/>
        </p:nvSpPr>
        <p:spPr bwMode="auto">
          <a:xfrm>
            <a:off x="1763686" y="2348880"/>
            <a:ext cx="4464498" cy="90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9050">
                  <a:solidFill>
                    <a:srgbClr val="FFFF00"/>
                  </a:solidFill>
                </a:ln>
                <a:solidFill>
                  <a:srgbClr val="421C5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9050">
                <a:solidFill>
                  <a:srgbClr val="FFFF00"/>
                </a:solidFill>
              </a:ln>
              <a:solidFill>
                <a:srgbClr val="421C5E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763686" y="3429000"/>
            <a:ext cx="4618674" cy="0"/>
          </a:xfrm>
          <a:prstGeom prst="line">
            <a:avLst/>
          </a:prstGeom>
          <a:ln w="381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6382360" y="2151808"/>
            <a:ext cx="1224136" cy="1421208"/>
          </a:xfrm>
          <a:prstGeom prst="roundRect">
            <a:avLst>
              <a:gd name="adj" fmla="val 8621"/>
            </a:avLst>
          </a:prstGeom>
          <a:solidFill>
            <a:srgbClr val="421C5E"/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WordArt 2"/>
          <p:cNvSpPr>
            <a:spLocks noChangeArrowheads="1" noChangeShapeType="1" noTextEdit="1"/>
          </p:cNvSpPr>
          <p:nvPr/>
        </p:nvSpPr>
        <p:spPr bwMode="auto">
          <a:xfrm>
            <a:off x="6550320" y="2348880"/>
            <a:ext cx="902000" cy="16296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P</a:t>
            </a:r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ERTEMUAN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WordArt 2"/>
          <p:cNvSpPr>
            <a:spLocks noChangeArrowheads="1" noChangeShapeType="1" noTextEdit="1"/>
          </p:cNvSpPr>
          <p:nvPr/>
        </p:nvSpPr>
        <p:spPr bwMode="auto">
          <a:xfrm>
            <a:off x="6550320" y="2564904"/>
            <a:ext cx="902000" cy="6860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nard MT Condensed" pitchFamily="18" charset="0"/>
              </a:rPr>
              <a:t>2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Bernard MT Condensed" pitchFamily="18" charset="0"/>
            </a:endParaRPr>
          </a:p>
        </p:txBody>
      </p:sp>
      <p:pic>
        <p:nvPicPr>
          <p:cNvPr id="19" name="Picture 37" descr="garud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07904" y="453404"/>
            <a:ext cx="1656184" cy="1769461"/>
          </a:xfrm>
          <a:prstGeom prst="rect">
            <a:avLst/>
          </a:prstGeom>
          <a:solidFill>
            <a:srgbClr val="FF3300"/>
          </a:solidFill>
          <a:ln w="38100">
            <a:solidFill>
              <a:srgbClr val="FF33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slope"/>
          </a:sp3d>
        </p:spPr>
      </p:pic>
    </p:spTree>
    <p:extLst>
      <p:ext uri="{BB962C8B-B14F-4D97-AF65-F5344CB8AC3E}">
        <p14:creationId xmlns:p14="http://schemas.microsoft.com/office/powerpoint/2010/main" val="39471967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443756" y="3295353"/>
            <a:ext cx="6912768" cy="1501799"/>
          </a:xfrm>
          <a:prstGeom prst="roundRect">
            <a:avLst>
              <a:gd name="adj" fmla="val 4962"/>
            </a:avLst>
          </a:prstGeom>
          <a:solidFill>
            <a:srgbClr val="FFFF00"/>
          </a:solidFill>
          <a:ln w="28575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28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</a:t>
            </a:r>
          </a:p>
          <a:p>
            <a:r>
              <a:rPr lang="fi-FI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DALAM</a:t>
            </a:r>
            <a:endParaRPr lang="fi-FI" sz="2800" b="1" spc="150" dirty="0" smtClean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  <a:p>
            <a:r>
              <a:rPr lang="en-US" sz="28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SEJARAH BANGSA INDONESIA</a:t>
            </a:r>
            <a:endParaRPr lang="id-ID" sz="28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 rot="16200000">
            <a:off x="312897" y="3727401"/>
            <a:ext cx="1501799" cy="637703"/>
          </a:xfrm>
          <a:prstGeom prst="roundRect">
            <a:avLst>
              <a:gd name="adj" fmla="val 9164"/>
            </a:avLst>
          </a:prstGeom>
          <a:solidFill>
            <a:srgbClr val="421C5E"/>
          </a:solidFill>
          <a:ln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15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BAB II</a:t>
            </a:r>
            <a:endParaRPr lang="en-US" sz="36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41" name="WordArt 2"/>
          <p:cNvSpPr>
            <a:spLocks noChangeArrowheads="1" noChangeShapeType="1" noTextEdit="1"/>
          </p:cNvSpPr>
          <p:nvPr/>
        </p:nvSpPr>
        <p:spPr bwMode="auto">
          <a:xfrm>
            <a:off x="1763686" y="548680"/>
            <a:ext cx="4464498" cy="90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9050">
                  <a:solidFill>
                    <a:srgbClr val="FFFF00"/>
                  </a:solidFill>
                </a:ln>
                <a:solidFill>
                  <a:srgbClr val="421C5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9050">
                <a:solidFill>
                  <a:srgbClr val="FFFF00"/>
                </a:solidFill>
              </a:ln>
              <a:solidFill>
                <a:srgbClr val="421C5E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763686" y="1556792"/>
            <a:ext cx="4618674" cy="0"/>
          </a:xfrm>
          <a:prstGeom prst="line">
            <a:avLst/>
          </a:prstGeom>
          <a:ln w="381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6382360" y="351608"/>
            <a:ext cx="1224136" cy="1421208"/>
          </a:xfrm>
          <a:prstGeom prst="roundRect">
            <a:avLst>
              <a:gd name="adj" fmla="val 8621"/>
            </a:avLst>
          </a:prstGeom>
          <a:solidFill>
            <a:srgbClr val="421C5E"/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WordArt 2"/>
          <p:cNvSpPr>
            <a:spLocks noChangeArrowheads="1" noChangeShapeType="1" noTextEdit="1"/>
          </p:cNvSpPr>
          <p:nvPr/>
        </p:nvSpPr>
        <p:spPr bwMode="auto">
          <a:xfrm>
            <a:off x="6550320" y="548680"/>
            <a:ext cx="902000" cy="16296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P</a:t>
            </a:r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ERTEMUAN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WordArt 2"/>
          <p:cNvSpPr>
            <a:spLocks noChangeArrowheads="1" noChangeShapeType="1" noTextEdit="1"/>
          </p:cNvSpPr>
          <p:nvPr/>
        </p:nvSpPr>
        <p:spPr bwMode="auto">
          <a:xfrm>
            <a:off x="6550320" y="764704"/>
            <a:ext cx="902000" cy="6860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nard MT Condensed" pitchFamily="18" charset="0"/>
              </a:rPr>
              <a:t>2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Bernard MT Condense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2691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rgbClr val="600000"/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5</a:t>
            </a: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405477"/>
            <a:ext cx="423664" cy="56488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879486" y="2483604"/>
            <a:ext cx="67969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id-ID" dirty="0">
                <a:solidFill>
                  <a:srgbClr val="FFFF00"/>
                </a:solidFill>
                <a:latin typeface="Franklin Gothic Demi Cond" pitchFamily="34" charset="0"/>
              </a:rPr>
              <a:t>Mampu menjelaskan Pancasila dalam </a:t>
            </a:r>
            <a:r>
              <a:rPr lang="id-ID" dirty="0" smtClean="0">
                <a:solidFill>
                  <a:srgbClr val="FFFF00"/>
                </a:solidFill>
                <a:latin typeface="Franklin Gothic Demi Cond" pitchFamily="34" charset="0"/>
              </a:rPr>
              <a:t>Arus Sejarah Bangsa </a:t>
            </a:r>
            <a:r>
              <a:rPr lang="id-ID" dirty="0">
                <a:solidFill>
                  <a:srgbClr val="FFFF00"/>
                </a:solidFill>
                <a:latin typeface="Franklin Gothic Demi Cond" pitchFamily="34" charset="0"/>
              </a:rPr>
              <a:t>Indonesia </a:t>
            </a:r>
          </a:p>
        </p:txBody>
      </p:sp>
      <p:sp>
        <p:nvSpPr>
          <p:cNvPr id="17" name="Oval 16"/>
          <p:cNvSpPr/>
          <p:nvPr/>
        </p:nvSpPr>
        <p:spPr>
          <a:xfrm>
            <a:off x="1475656" y="2456131"/>
            <a:ext cx="403830" cy="39680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E1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d-ID" sz="2400" dirty="0" smtClean="0">
              <a:solidFill>
                <a:srgbClr val="3E1B59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1170209" y="2168099"/>
            <a:ext cx="7413866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173976" y="1749699"/>
            <a:ext cx="7413866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879485" y="3645287"/>
            <a:ext cx="664999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n-US" dirty="0" smtClean="0">
                <a:solidFill>
                  <a:srgbClr val="A161D1"/>
                </a:solidFill>
                <a:latin typeface="Franklin Gothic Demi Cond" pitchFamily="34" charset="0"/>
              </a:rPr>
              <a:t>KONSEP DAN URGENSI PANCASILA</a:t>
            </a:r>
          </a:p>
          <a:p>
            <a:pPr marL="0" lvl="1" algn="just">
              <a:spcBef>
                <a:spcPts val="600"/>
              </a:spcBef>
              <a:spcAft>
                <a:spcPts val="0"/>
              </a:spcAft>
            </a:pPr>
            <a:r>
              <a:rPr lang="en-US" dirty="0" smtClean="0">
                <a:solidFill>
                  <a:srgbClr val="A161D1"/>
                </a:solidFill>
                <a:latin typeface="Franklin Gothic Demi Cond" pitchFamily="34" charset="0"/>
              </a:rPr>
              <a:t>PENTINGNYA PANCASILA</a:t>
            </a:r>
          </a:p>
          <a:p>
            <a:pPr eaLnBrk="1" fontAlgn="auto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rgbClr val="A161D1"/>
                </a:solidFill>
                <a:latin typeface="Franklin Gothic Demi Cond" pitchFamily="34" charset="0"/>
              </a:rPr>
              <a:t>SUMBER HISTORIS, SOSIOLOGIS, POLITIS PANCASILA </a:t>
            </a:r>
          </a:p>
          <a:p>
            <a:pPr eaLnBrk="1" fontAlgn="auto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rgbClr val="A161D1"/>
                </a:solidFill>
                <a:latin typeface="Franklin Gothic Demi Cond" pitchFamily="34" charset="0"/>
              </a:rPr>
              <a:t>DINAMIKA DAN TANTANGAN PANCASILA </a:t>
            </a:r>
          </a:p>
          <a:p>
            <a:pPr eaLnBrk="1" fontAlgn="auto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pc="150" dirty="0" smtClean="0">
                <a:ln w="11430">
                  <a:noFill/>
                </a:ln>
                <a:solidFill>
                  <a:srgbClr val="A161D1"/>
                </a:solidFill>
                <a:latin typeface="Franklin Gothic Demi Cond" pitchFamily="34" charset="0"/>
              </a:rPr>
              <a:t>ESENSI DAN URGENSI PANCASILA</a:t>
            </a:r>
            <a:endParaRPr lang="en-US" spc="150" dirty="0">
              <a:ln w="11430">
                <a:noFill/>
              </a:ln>
              <a:solidFill>
                <a:srgbClr val="A161D1"/>
              </a:solidFill>
              <a:latin typeface="Franklin Gothic Demi Cond" pitchFamily="34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1170208" y="3491802"/>
            <a:ext cx="7413866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173975" y="3073402"/>
            <a:ext cx="7413866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97609" y="1736590"/>
            <a:ext cx="529840" cy="493686"/>
          </a:xfrm>
          <a:prstGeom prst="roundRect">
            <a:avLst/>
          </a:prstGeom>
          <a:solidFill>
            <a:srgbClr val="210E3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15617" y="1798767"/>
            <a:ext cx="38483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dirty="0" smtClean="0">
                <a:solidFill>
                  <a:prstClr val="white"/>
                </a:solidFill>
                <a:latin typeface="Franklin Gothic Demi Cond" pitchFamily="34" charset="0"/>
              </a:rPr>
              <a:t>KEMAMPUAN AKHIR YG DIHARAPKAN</a:t>
            </a:r>
            <a:endParaRPr lang="id-ID" dirty="0">
              <a:solidFill>
                <a:prstClr val="white"/>
              </a:solidFill>
              <a:latin typeface="Franklin Gothic Demi Cond" pitchFamily="3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98108" y="3068960"/>
            <a:ext cx="529840" cy="493686"/>
          </a:xfrm>
          <a:prstGeom prst="roundRect">
            <a:avLst/>
          </a:prstGeom>
          <a:solidFill>
            <a:srgbClr val="210E3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6000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15616" y="3122470"/>
            <a:ext cx="38483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dirty="0" smtClean="0">
                <a:solidFill>
                  <a:prstClr val="white"/>
                </a:solidFill>
                <a:latin typeface="Franklin Gothic Demi Cond" pitchFamily="34" charset="0"/>
              </a:rPr>
              <a:t>POKOK BAHASAN</a:t>
            </a:r>
            <a:endParaRPr lang="id-ID" dirty="0">
              <a:solidFill>
                <a:prstClr val="white"/>
              </a:solidFill>
              <a:latin typeface="Franklin Gothic Demi Cond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547664" y="3653498"/>
            <a:ext cx="360040" cy="33836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E1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A</a:t>
            </a:r>
            <a:endParaRPr lang="id-ID" sz="16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51019" y="404664"/>
            <a:ext cx="3344268" cy="565695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5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</a:t>
            </a:r>
          </a:p>
          <a:p>
            <a:r>
              <a:rPr lang="fi-FI" sz="105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DALAM</a:t>
            </a:r>
          </a:p>
          <a:p>
            <a:r>
              <a:rPr lang="en-US" sz="105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SEJARAH BANGSA INDONESIA</a:t>
            </a:r>
            <a:endParaRPr lang="id-ID" sz="105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547664" y="4024171"/>
            <a:ext cx="360040" cy="33836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E1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</a:t>
            </a:r>
            <a:endParaRPr lang="id-ID" sz="16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547664" y="4376001"/>
            <a:ext cx="360040" cy="33836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E1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C</a:t>
            </a:r>
            <a:endParaRPr lang="id-ID" sz="16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547664" y="4726329"/>
            <a:ext cx="360040" cy="33836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E1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D</a:t>
            </a:r>
            <a:endParaRPr lang="id-ID" sz="16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547664" y="5083169"/>
            <a:ext cx="360040" cy="33836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E1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E</a:t>
            </a:r>
            <a:endParaRPr lang="id-ID" sz="16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0918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0" grpId="0" animBg="1"/>
      <p:bldP spid="15" grpId="0"/>
      <p:bldP spid="31" grpId="0" animBg="1"/>
      <p:bldP spid="27" grpId="0"/>
      <p:bldP spid="32" grpId="0" animBg="1"/>
      <p:bldP spid="19" grpId="0" animBg="1"/>
      <p:bldP spid="20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107504" y="224644"/>
            <a:ext cx="853646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6</a:t>
            </a: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955188" y="1189607"/>
            <a:ext cx="5554947" cy="637703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KONSEP  DAN  URGENSI PANCASILA</a:t>
            </a:r>
          </a:p>
          <a:p>
            <a:pPr marL="404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i-FI" sz="11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DALAM </a:t>
            </a:r>
            <a:r>
              <a:rPr lang="en-US" sz="1100" b="1" spc="150" dirty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SEJARAH BANGSA </a:t>
            </a:r>
            <a:r>
              <a:rPr lang="en-US" sz="11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INDONESIA</a:t>
            </a:r>
            <a:endParaRPr lang="en-US" sz="2800" b="1" spc="150" dirty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543803" y="1117599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A</a:t>
            </a:r>
            <a:endParaRPr lang="en-US" sz="3600" b="1" spc="50" dirty="0">
              <a:ln w="11430"/>
              <a:solidFill>
                <a:srgbClr val="6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56177" y="2824525"/>
            <a:ext cx="1512167" cy="964515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PERIODE</a:t>
            </a:r>
          </a:p>
          <a:p>
            <a:pPr algn="ctr"/>
            <a:r>
              <a:rPr lang="en-US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PENGESAHANPANCASILA</a:t>
            </a:r>
            <a:endParaRPr lang="id-ID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5451527" y="2885900"/>
            <a:ext cx="728337" cy="778440"/>
          </a:xfrm>
          <a:prstGeom prst="rightArrow">
            <a:avLst>
              <a:gd name="adj1" fmla="val 62730"/>
              <a:gd name="adj2" fmla="val 16984"/>
            </a:avLst>
          </a:prstGeom>
          <a:solidFill>
            <a:srgbClr val="005426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dirty="0">
              <a:latin typeface="Franklin Gothic Demi Cond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923929" y="2824525"/>
            <a:ext cx="1512167" cy="964515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PERIODE</a:t>
            </a:r>
          </a:p>
          <a:p>
            <a:pPr algn="ctr"/>
            <a:r>
              <a:rPr lang="en-US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PERUMUSANPANCASILA</a:t>
            </a:r>
            <a:endParaRPr lang="id-ID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3230924" y="2883004"/>
            <a:ext cx="728337" cy="778440"/>
          </a:xfrm>
          <a:prstGeom prst="rightArrow">
            <a:avLst>
              <a:gd name="adj1" fmla="val 62730"/>
              <a:gd name="adj2" fmla="val 16984"/>
            </a:avLst>
          </a:prstGeom>
          <a:solidFill>
            <a:srgbClr val="005426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dirty="0">
              <a:latin typeface="Franklin Gothic Demi Cond" pitchFamily="3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697492" y="2817379"/>
            <a:ext cx="1512167" cy="964515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PERIODE</a:t>
            </a:r>
          </a:p>
          <a:p>
            <a:pPr algn="ctr"/>
            <a:r>
              <a:rPr lang="en-US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PENGUSULANPANCASILA</a:t>
            </a:r>
            <a:endParaRPr lang="id-ID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633864" y="2637618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866112" y="2648610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098360" y="2659602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3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4286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16" grpId="0" animBg="1"/>
      <p:bldP spid="23" grpId="0" animBg="1"/>
      <p:bldP spid="35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107504" y="224644"/>
            <a:ext cx="853646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7</a:t>
            </a: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76257" y="1260909"/>
            <a:ext cx="1512167" cy="741346"/>
          </a:xfrm>
          <a:prstGeom prst="roundRect">
            <a:avLst>
              <a:gd name="adj" fmla="val 12257"/>
            </a:avLst>
          </a:prstGeom>
          <a:solidFill>
            <a:schemeClr val="bg1">
              <a:lumMod val="85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PERIODE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PENGESAHAN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  <a:endParaRPr lang="id-ID" sz="1200" dirty="0" smtClean="0">
              <a:solidFill>
                <a:schemeClr val="tx1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6171607" y="1229010"/>
            <a:ext cx="728337" cy="778440"/>
          </a:xfrm>
          <a:prstGeom prst="rightArrow">
            <a:avLst>
              <a:gd name="adj1" fmla="val 62730"/>
              <a:gd name="adj2" fmla="val 16984"/>
            </a:avLst>
          </a:prstGeom>
          <a:solidFill>
            <a:srgbClr val="005426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dirty="0">
              <a:latin typeface="Franklin Gothic Demi Cond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644009" y="1260909"/>
            <a:ext cx="1512167" cy="741346"/>
          </a:xfrm>
          <a:prstGeom prst="roundRect">
            <a:avLst>
              <a:gd name="adj" fmla="val 12257"/>
            </a:avLst>
          </a:prstGeom>
          <a:solidFill>
            <a:schemeClr val="bg1">
              <a:lumMod val="85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PERIODE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PERUMUSAN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  <a:endParaRPr lang="id-ID" sz="1200" dirty="0" smtClean="0">
              <a:solidFill>
                <a:schemeClr val="tx1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3951004" y="1226114"/>
            <a:ext cx="728337" cy="778440"/>
          </a:xfrm>
          <a:prstGeom prst="rightArrow">
            <a:avLst>
              <a:gd name="adj1" fmla="val 62730"/>
              <a:gd name="adj2" fmla="val 16984"/>
            </a:avLst>
          </a:prstGeom>
          <a:solidFill>
            <a:srgbClr val="005426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dirty="0">
              <a:latin typeface="Franklin Gothic Demi Cond" pitchFamily="3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736812" y="1160489"/>
            <a:ext cx="2192927" cy="964515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PERIODE</a:t>
            </a:r>
          </a:p>
          <a:p>
            <a:pPr algn="ctr"/>
            <a:r>
              <a:rPr lang="en-US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PENGUSULAN PANCASILA</a:t>
            </a:r>
            <a:endParaRPr lang="id-ID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691680" y="980728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86192" y="1113752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18440" y="1124744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3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71960" y="5456894"/>
            <a:ext cx="2057779" cy="340519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solidFill>
                  <a:srgbClr val="FF0000"/>
                </a:solidFill>
                <a:latin typeface="Franklin Gothic Demi Cond" pitchFamily="34" charset="0"/>
              </a:rPr>
              <a:t>lahirnya</a:t>
            </a:r>
            <a:r>
              <a:rPr lang="en-US" sz="1400" dirty="0">
                <a:solidFill>
                  <a:srgbClr val="FF0000"/>
                </a:solidFill>
                <a:latin typeface="Franklin Gothic Demi Cond" pitchFamily="34" charset="0"/>
              </a:rPr>
              <a:t> rasa </a:t>
            </a:r>
            <a:r>
              <a:rPr lang="en-US" sz="1400" dirty="0" err="1">
                <a:solidFill>
                  <a:srgbClr val="FF0000"/>
                </a:solidFill>
                <a:latin typeface="Franklin Gothic Demi Cond" pitchFamily="34" charset="0"/>
              </a:rPr>
              <a:t>nasionalisme</a:t>
            </a:r>
            <a:endParaRPr lang="en-US" sz="1400" dirty="0">
              <a:solidFill>
                <a:srgbClr val="FF0000"/>
              </a:solidFill>
              <a:latin typeface="Franklin Gothic Demi Cond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353944" y="2845085"/>
            <a:ext cx="1575795" cy="540068"/>
          </a:xfrm>
          <a:prstGeom prst="roundRect">
            <a:avLst>
              <a:gd name="adj" fmla="val 1536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Franklin Gothic Demi Cond" pitchFamily="34" charset="0"/>
              </a:rPr>
              <a:t>SIDANG BPUPKI   I </a:t>
            </a:r>
            <a:r>
              <a:rPr lang="en-US" sz="1200" dirty="0" smtClean="0">
                <a:solidFill>
                  <a:srgbClr val="FF0000"/>
                </a:solidFill>
                <a:latin typeface="Franklin Gothic Demi Cond" pitchFamily="34" charset="0"/>
              </a:rPr>
              <a:t>29 mei-1 </a:t>
            </a:r>
            <a:r>
              <a:rPr lang="en-US" sz="1200" dirty="0" err="1" smtClean="0">
                <a:solidFill>
                  <a:srgbClr val="FF0000"/>
                </a:solidFill>
                <a:latin typeface="Franklin Gothic Demi Cond" pitchFamily="34" charset="0"/>
              </a:rPr>
              <a:t>juni</a:t>
            </a:r>
            <a:r>
              <a:rPr lang="en-US" sz="1200" dirty="0" smtClean="0">
                <a:solidFill>
                  <a:srgbClr val="FF0000"/>
                </a:solidFill>
                <a:latin typeface="Franklin Gothic Demi Cond" pitchFamily="34" charset="0"/>
              </a:rPr>
              <a:t> 1945</a:t>
            </a:r>
            <a:endParaRPr lang="en-US" sz="1400" dirty="0">
              <a:solidFill>
                <a:srgbClr val="FF0000"/>
              </a:solidFill>
              <a:latin typeface="Franklin Gothic Demi Cond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736812" y="2557053"/>
            <a:ext cx="2331132" cy="3312368"/>
          </a:xfrm>
          <a:prstGeom prst="roundRect">
            <a:avLst>
              <a:gd name="adj" fmla="val 6633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50152" y="3959919"/>
            <a:ext cx="164335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100" dirty="0" err="1" smtClean="0">
                <a:latin typeface="Franklin Gothic Demi Cond" pitchFamily="34" charset="0"/>
              </a:rPr>
              <a:t>momen-momen</a:t>
            </a:r>
            <a:endParaRPr lang="en-US" sz="1100" dirty="0">
              <a:latin typeface="Franklin Gothic Demi Cond" pitchFamily="34" charset="0"/>
            </a:endParaRPr>
          </a:p>
          <a:p>
            <a:pPr algn="r"/>
            <a:r>
              <a:rPr lang="it-IT" sz="1100" dirty="0">
                <a:latin typeface="Franklin Gothic Demi Cond" pitchFamily="34" charset="0"/>
              </a:rPr>
              <a:t>perumusan </a:t>
            </a:r>
            <a:r>
              <a:rPr lang="it-IT" sz="1100" dirty="0" smtClean="0">
                <a:latin typeface="Franklin Gothic Demi Cond" pitchFamily="34" charset="0"/>
              </a:rPr>
              <a:t>diri </a:t>
            </a:r>
            <a:r>
              <a:rPr lang="it-IT" sz="1100" dirty="0">
                <a:latin typeface="Franklin Gothic Demi Cond" pitchFamily="34" charset="0"/>
              </a:rPr>
              <a:t>bagi </a:t>
            </a:r>
            <a:endParaRPr lang="it-IT" sz="1100" dirty="0" smtClean="0">
              <a:latin typeface="Franklin Gothic Demi Cond" pitchFamily="34" charset="0"/>
            </a:endParaRPr>
          </a:p>
          <a:p>
            <a:pPr algn="r"/>
            <a:r>
              <a:rPr lang="it-IT" sz="1100" dirty="0" smtClean="0">
                <a:latin typeface="Franklin Gothic Demi Cond" pitchFamily="34" charset="0"/>
              </a:rPr>
              <a:t>bangsa </a:t>
            </a:r>
            <a:r>
              <a:rPr lang="it-IT" sz="1100" dirty="0">
                <a:latin typeface="Franklin Gothic Demi Cond" pitchFamily="34" charset="0"/>
              </a:rPr>
              <a:t>Indonesia</a:t>
            </a:r>
            <a:endParaRPr lang="en-US" sz="1100" dirty="0">
              <a:latin typeface="Franklin Gothic Demi Cond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16024" y="2334639"/>
            <a:ext cx="219573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7475" indent="-117475" algn="r">
              <a:buFont typeface="Wingdings" pitchFamily="2" charset="2"/>
              <a:buChar char="§"/>
            </a:pPr>
            <a:r>
              <a:rPr lang="en-US" sz="1100" dirty="0" err="1" smtClean="0">
                <a:latin typeface="Franklin Gothic Demi Cond" pitchFamily="34" charset="0"/>
              </a:rPr>
              <a:t>disetujui</a:t>
            </a:r>
            <a:r>
              <a:rPr lang="en-US" sz="1100" dirty="0" smtClean="0">
                <a:latin typeface="Franklin Gothic Demi Cond" pitchFamily="34" charset="0"/>
              </a:rPr>
              <a:t> </a:t>
            </a:r>
            <a:r>
              <a:rPr lang="en-US" sz="1100" dirty="0" err="1" smtClean="0">
                <a:latin typeface="Franklin Gothic Demi Cond" pitchFamily="34" charset="0"/>
              </a:rPr>
              <a:t>nama</a:t>
            </a:r>
            <a:r>
              <a:rPr lang="en-US" sz="1100" dirty="0" smtClean="0">
                <a:latin typeface="Franklin Gothic Demi Cond" pitchFamily="34" charset="0"/>
              </a:rPr>
              <a:t> </a:t>
            </a:r>
            <a:r>
              <a:rPr lang="en-US" sz="1100" dirty="0" err="1" smtClean="0">
                <a:latin typeface="Franklin Gothic Demi Cond" pitchFamily="34" charset="0"/>
              </a:rPr>
              <a:t>calon</a:t>
            </a:r>
            <a:r>
              <a:rPr lang="en-US" sz="1100" dirty="0" smtClean="0">
                <a:latin typeface="Franklin Gothic Demi Cond" pitchFamily="34" charset="0"/>
              </a:rPr>
              <a:t> </a:t>
            </a:r>
            <a:r>
              <a:rPr lang="en-US" sz="1100" dirty="0" err="1" smtClean="0">
                <a:latin typeface="Franklin Gothic Demi Cond" pitchFamily="34" charset="0"/>
              </a:rPr>
              <a:t>dasar</a:t>
            </a:r>
            <a:r>
              <a:rPr lang="en-US" sz="1100" dirty="0" smtClean="0">
                <a:latin typeface="Franklin Gothic Demi Cond" pitchFamily="34" charset="0"/>
              </a:rPr>
              <a:t> </a:t>
            </a:r>
            <a:r>
              <a:rPr lang="en-US" sz="1100" dirty="0" err="1" smtClean="0">
                <a:latin typeface="Franklin Gothic Demi Cond" pitchFamily="34" charset="0"/>
              </a:rPr>
              <a:t>negara</a:t>
            </a:r>
            <a:r>
              <a:rPr lang="en-US" sz="1100" dirty="0" smtClean="0">
                <a:latin typeface="Franklin Gothic Demi Cond" pitchFamily="34" charset="0"/>
              </a:rPr>
              <a:t>                    </a:t>
            </a:r>
            <a:r>
              <a:rPr lang="en-US" sz="1100" dirty="0" smtClean="0">
                <a:latin typeface="Franklin Gothic Demi Cond" pitchFamily="34" charset="0"/>
                <a:sym typeface="Wingdings" pitchFamily="2" charset="2"/>
              </a:rPr>
              <a:t> PANCASILA               </a:t>
            </a:r>
          </a:p>
          <a:p>
            <a:pPr marL="117475" indent="-117475" algn="r">
              <a:buFont typeface="Wingdings" pitchFamily="2" charset="2"/>
              <a:buChar char="§"/>
            </a:pPr>
            <a:r>
              <a:rPr lang="en-US" sz="1100" dirty="0" err="1" smtClean="0">
                <a:latin typeface="Franklin Gothic Demi Cond" pitchFamily="34" charset="0"/>
                <a:sym typeface="Wingdings" pitchFamily="2" charset="2"/>
              </a:rPr>
              <a:t>yg</a:t>
            </a:r>
            <a:r>
              <a:rPr lang="en-US" sz="1100" dirty="0" smtClean="0">
                <a:latin typeface="Franklin Gothic Demi Cond" pitchFamily="34" charset="0"/>
                <a:sym typeface="Wingdings" pitchFamily="2" charset="2"/>
              </a:rPr>
              <a:t> </a:t>
            </a:r>
            <a:r>
              <a:rPr lang="en-US" sz="1100" dirty="0" err="1" smtClean="0">
                <a:latin typeface="Franklin Gothic Demi Cond" pitchFamily="34" charset="0"/>
                <a:sym typeface="Wingdings" pitchFamily="2" charset="2"/>
              </a:rPr>
              <a:t>mengusulkan</a:t>
            </a:r>
            <a:r>
              <a:rPr lang="en-US" sz="1100" dirty="0" smtClean="0">
                <a:latin typeface="Franklin Gothic Demi Cond" pitchFamily="34" charset="0"/>
                <a:sym typeface="Wingdings" pitchFamily="2" charset="2"/>
              </a:rPr>
              <a:t> </a:t>
            </a:r>
            <a:r>
              <a:rPr lang="en-US" sz="1100" dirty="0" err="1" smtClean="0">
                <a:latin typeface="Franklin Gothic Demi Cond" pitchFamily="34" charset="0"/>
                <a:sym typeface="Wingdings" pitchFamily="2" charset="2"/>
              </a:rPr>
              <a:t>nama</a:t>
            </a:r>
            <a:r>
              <a:rPr lang="en-US" sz="1100" dirty="0" smtClean="0">
                <a:latin typeface="Franklin Gothic Demi Cond" pitchFamily="34" charset="0"/>
                <a:sym typeface="Wingdings" pitchFamily="2" charset="2"/>
              </a:rPr>
              <a:t> </a:t>
            </a:r>
            <a:r>
              <a:rPr lang="en-US" sz="1100" dirty="0" err="1" smtClean="0">
                <a:latin typeface="Franklin Gothic Demi Cond" pitchFamily="34" charset="0"/>
                <a:sym typeface="Wingdings" pitchFamily="2" charset="2"/>
              </a:rPr>
              <a:t>calon</a:t>
            </a:r>
            <a:r>
              <a:rPr lang="en-US" sz="1100" dirty="0" smtClean="0">
                <a:latin typeface="Franklin Gothic Demi Cond" pitchFamily="34" charset="0"/>
                <a:sym typeface="Wingdings" pitchFamily="2" charset="2"/>
              </a:rPr>
              <a:t> </a:t>
            </a:r>
            <a:r>
              <a:rPr lang="en-US" sz="1100" dirty="0" err="1" smtClean="0">
                <a:latin typeface="Franklin Gothic Demi Cond" pitchFamily="34" charset="0"/>
                <a:sym typeface="Wingdings" pitchFamily="2" charset="2"/>
              </a:rPr>
              <a:t>dasar</a:t>
            </a:r>
            <a:r>
              <a:rPr lang="en-US" sz="1100" dirty="0" smtClean="0">
                <a:latin typeface="Franklin Gothic Demi Cond" pitchFamily="34" charset="0"/>
                <a:sym typeface="Wingdings" pitchFamily="2" charset="2"/>
              </a:rPr>
              <a:t> </a:t>
            </a:r>
            <a:r>
              <a:rPr lang="en-US" sz="1100" dirty="0" err="1" smtClean="0">
                <a:latin typeface="Franklin Gothic Demi Cond" pitchFamily="34" charset="0"/>
                <a:sym typeface="Wingdings" pitchFamily="2" charset="2"/>
              </a:rPr>
              <a:t>negara</a:t>
            </a:r>
            <a:r>
              <a:rPr lang="en-US" sz="1100" dirty="0" smtClean="0">
                <a:latin typeface="Franklin Gothic Demi Cond" pitchFamily="34" charset="0"/>
                <a:sym typeface="Wingdings" pitchFamily="2" charset="2"/>
              </a:rPr>
              <a:t> </a:t>
            </a:r>
            <a:r>
              <a:rPr lang="en-US" sz="1100" dirty="0" err="1" smtClean="0">
                <a:latin typeface="Franklin Gothic Demi Cond" pitchFamily="34" charset="0"/>
                <a:sym typeface="Wingdings" pitchFamily="2" charset="2"/>
              </a:rPr>
              <a:t>adalah</a:t>
            </a:r>
            <a:r>
              <a:rPr lang="en-US" sz="1100" dirty="0" smtClean="0">
                <a:latin typeface="Franklin Gothic Demi Cond" pitchFamily="34" charset="0"/>
                <a:sym typeface="Wingdings" pitchFamily="2" charset="2"/>
              </a:rPr>
              <a:t> </a:t>
            </a:r>
            <a:r>
              <a:rPr lang="en-US" sz="1100" dirty="0" err="1" smtClean="0">
                <a:latin typeface="Franklin Gothic Demi Cond" pitchFamily="34" charset="0"/>
                <a:sym typeface="Wingdings" pitchFamily="2" charset="2"/>
              </a:rPr>
              <a:t>Soekarno</a:t>
            </a:r>
            <a:r>
              <a:rPr lang="en-US" sz="1100" dirty="0" smtClean="0">
                <a:latin typeface="Franklin Gothic Demi Cond" pitchFamily="34" charset="0"/>
                <a:sym typeface="Wingdings" pitchFamily="2" charset="2"/>
              </a:rPr>
              <a:t> </a:t>
            </a:r>
            <a:r>
              <a:rPr lang="en-US" sz="1100" dirty="0" err="1" smtClean="0">
                <a:latin typeface="Franklin Gothic Demi Cond" pitchFamily="34" charset="0"/>
                <a:sym typeface="Wingdings" pitchFamily="2" charset="2"/>
              </a:rPr>
              <a:t>pd</a:t>
            </a:r>
            <a:r>
              <a:rPr lang="en-US" sz="1100" dirty="0" smtClean="0">
                <a:latin typeface="Franklin Gothic Demi Cond" pitchFamily="34" charset="0"/>
                <a:sym typeface="Wingdings" pitchFamily="2" charset="2"/>
              </a:rPr>
              <a:t>        1juni 1945   </a:t>
            </a:r>
            <a:r>
              <a:rPr lang="en-US" sz="1100" dirty="0" err="1" smtClean="0">
                <a:latin typeface="Franklin Gothic Demi Cond" pitchFamily="34" charset="0"/>
                <a:sym typeface="Wingdings" pitchFamily="2" charset="2"/>
              </a:rPr>
              <a:t>hari</a:t>
            </a:r>
            <a:r>
              <a:rPr lang="en-US" sz="1100" dirty="0" smtClean="0">
                <a:latin typeface="Franklin Gothic Demi Cond" pitchFamily="34" charset="0"/>
                <a:sym typeface="Wingdings" pitchFamily="2" charset="2"/>
              </a:rPr>
              <a:t> </a:t>
            </a:r>
            <a:r>
              <a:rPr lang="en-US" sz="1100" dirty="0" err="1" smtClean="0">
                <a:latin typeface="Franklin Gothic Demi Cond" pitchFamily="34" charset="0"/>
                <a:sym typeface="Wingdings" pitchFamily="2" charset="2"/>
              </a:rPr>
              <a:t>Lahirnya</a:t>
            </a:r>
            <a:r>
              <a:rPr lang="en-US" sz="1100" dirty="0" smtClean="0">
                <a:latin typeface="Franklin Gothic Demi Cond" pitchFamily="34" charset="0"/>
                <a:sym typeface="Wingdings" pitchFamily="2" charset="2"/>
              </a:rPr>
              <a:t> </a:t>
            </a:r>
            <a:r>
              <a:rPr lang="en-US" sz="1100" dirty="0" err="1" smtClean="0">
                <a:latin typeface="Franklin Gothic Demi Cond" pitchFamily="34" charset="0"/>
                <a:sym typeface="Wingdings" pitchFamily="2" charset="2"/>
              </a:rPr>
              <a:t>Pancasila</a:t>
            </a:r>
            <a:endParaRPr lang="en-US" sz="1100" dirty="0" smtClean="0">
              <a:latin typeface="Franklin Gothic Demi Cond" pitchFamily="34" charset="0"/>
            </a:endParaRPr>
          </a:p>
          <a:p>
            <a:pPr marL="171450" indent="-171450" algn="r">
              <a:buFont typeface="Wingdings" pitchFamily="2" charset="2"/>
              <a:buChar char="§"/>
            </a:pPr>
            <a:r>
              <a:rPr lang="en-US" sz="1100" dirty="0" err="1" smtClean="0">
                <a:latin typeface="Franklin Gothic Demi Cond" pitchFamily="34" charset="0"/>
              </a:rPr>
              <a:t>menampung</a:t>
            </a:r>
            <a:r>
              <a:rPr lang="en-US" sz="1100" dirty="0" smtClean="0">
                <a:latin typeface="Franklin Gothic Demi Cond" pitchFamily="34" charset="0"/>
              </a:rPr>
              <a:t> </a:t>
            </a:r>
            <a:r>
              <a:rPr lang="en-US" sz="1100" dirty="0" err="1" smtClean="0">
                <a:latin typeface="Franklin Gothic Demi Cond" pitchFamily="34" charset="0"/>
              </a:rPr>
              <a:t>usulan</a:t>
            </a:r>
            <a:r>
              <a:rPr lang="en-US" sz="1100" dirty="0" smtClean="0">
                <a:latin typeface="Franklin Gothic Demi Cond" pitchFamily="34" charset="0"/>
              </a:rPr>
              <a:t> </a:t>
            </a:r>
            <a:r>
              <a:rPr lang="en-US" sz="1100" dirty="0" err="1" smtClean="0">
                <a:latin typeface="Franklin Gothic Demi Cond" pitchFamily="34" charset="0"/>
              </a:rPr>
              <a:t>isi</a:t>
            </a:r>
            <a:r>
              <a:rPr lang="en-US" sz="1100" dirty="0" smtClean="0">
                <a:latin typeface="Franklin Gothic Demi Cond" pitchFamily="34" charset="0"/>
              </a:rPr>
              <a:t> </a:t>
            </a:r>
            <a:r>
              <a:rPr lang="en-US" sz="1100" dirty="0" err="1" smtClean="0">
                <a:latin typeface="Franklin Gothic Demi Cond" pitchFamily="34" charset="0"/>
              </a:rPr>
              <a:t>calon</a:t>
            </a:r>
            <a:r>
              <a:rPr lang="en-US" sz="1100" dirty="0" smtClean="0">
                <a:latin typeface="Franklin Gothic Demi Cond" pitchFamily="34" charset="0"/>
              </a:rPr>
              <a:t> </a:t>
            </a:r>
            <a:r>
              <a:rPr lang="en-US" sz="1100" dirty="0" err="1" smtClean="0">
                <a:latin typeface="Franklin Gothic Demi Cond" pitchFamily="34" charset="0"/>
              </a:rPr>
              <a:t>dasar</a:t>
            </a:r>
            <a:r>
              <a:rPr lang="en-US" sz="1100" dirty="0" smtClean="0">
                <a:latin typeface="Franklin Gothic Demi Cond" pitchFamily="34" charset="0"/>
              </a:rPr>
              <a:t> </a:t>
            </a:r>
            <a:r>
              <a:rPr lang="en-US" sz="1100" dirty="0" err="1" smtClean="0">
                <a:latin typeface="Franklin Gothic Demi Cond" pitchFamily="34" charset="0"/>
              </a:rPr>
              <a:t>negara</a:t>
            </a:r>
            <a:r>
              <a:rPr lang="en-US" sz="1100" dirty="0" smtClean="0">
                <a:latin typeface="Franklin Gothic Demi Cond" pitchFamily="34" charset="0"/>
              </a:rPr>
              <a:t> </a:t>
            </a:r>
            <a:r>
              <a:rPr lang="en-US" sz="1100" dirty="0" smtClean="0">
                <a:latin typeface="Franklin Gothic Demi Cond" pitchFamily="34" charset="0"/>
                <a:sym typeface="Wingdings" pitchFamily="2" charset="2"/>
              </a:rPr>
              <a:t> </a:t>
            </a:r>
            <a:r>
              <a:rPr lang="en-US" sz="1100" dirty="0" err="1" smtClean="0">
                <a:latin typeface="Franklin Gothic Demi Cond" pitchFamily="34" charset="0"/>
                <a:sym typeface="Wingdings" pitchFamily="2" charset="2"/>
              </a:rPr>
              <a:t>ada</a:t>
            </a:r>
            <a:r>
              <a:rPr lang="en-US" sz="1100" dirty="0" smtClean="0">
                <a:latin typeface="Franklin Gothic Demi Cond" pitchFamily="34" charset="0"/>
                <a:sym typeface="Wingdings" pitchFamily="2" charset="2"/>
              </a:rPr>
              <a:t> </a:t>
            </a:r>
            <a:r>
              <a:rPr lang="en-US" sz="1100" dirty="0" err="1" smtClean="0">
                <a:latin typeface="Franklin Gothic Demi Cond" pitchFamily="34" charset="0"/>
                <a:sym typeface="Wingdings" pitchFamily="2" charset="2"/>
              </a:rPr>
              <a:t>banyak</a:t>
            </a:r>
            <a:r>
              <a:rPr lang="en-US" sz="1100" dirty="0" smtClean="0">
                <a:latin typeface="Franklin Gothic Demi Cond" pitchFamily="34" charset="0"/>
                <a:sym typeface="Wingdings" pitchFamily="2" charset="2"/>
              </a:rPr>
              <a:t> </a:t>
            </a:r>
            <a:r>
              <a:rPr lang="en-US" sz="1100" dirty="0" err="1" smtClean="0">
                <a:latin typeface="Franklin Gothic Demi Cond" pitchFamily="34" charset="0"/>
                <a:sym typeface="Wingdings" pitchFamily="2" charset="2"/>
              </a:rPr>
              <a:t>usulan</a:t>
            </a:r>
            <a:endParaRPr lang="en-US" sz="1100" dirty="0">
              <a:latin typeface="Franklin Gothic Demi Cond" pitchFamily="34" charset="0"/>
            </a:endParaRPr>
          </a:p>
        </p:txBody>
      </p:sp>
      <p:sp>
        <p:nvSpPr>
          <p:cNvPr id="31" name="Right Arrow 30"/>
          <p:cNvSpPr/>
          <p:nvPr/>
        </p:nvSpPr>
        <p:spPr>
          <a:xfrm rot="16200000">
            <a:off x="2073782" y="4024812"/>
            <a:ext cx="2057755" cy="778440"/>
          </a:xfrm>
          <a:prstGeom prst="rightArrow">
            <a:avLst>
              <a:gd name="adj1" fmla="val 62730"/>
              <a:gd name="adj2" fmla="val 16984"/>
            </a:avLst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dirty="0">
              <a:latin typeface="Franklin Gothic Demi Cond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871960" y="4789301"/>
            <a:ext cx="2057779" cy="57888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solidFill>
                  <a:srgbClr val="FF0000"/>
                </a:solidFill>
                <a:latin typeface="Franklin Gothic Demi Cond" pitchFamily="34" charset="0"/>
              </a:rPr>
              <a:t>gerakan</a:t>
            </a:r>
            <a:r>
              <a:rPr lang="en-US" sz="1400" dirty="0">
                <a:solidFill>
                  <a:srgbClr val="FF0000"/>
                </a:solidFill>
                <a:latin typeface="Franklin Gothic Demi Cond" pitchFamily="34" charset="0"/>
              </a:rPr>
              <a:t> </a:t>
            </a:r>
            <a:endParaRPr lang="en-US" sz="1400" dirty="0" smtClean="0">
              <a:solidFill>
                <a:srgbClr val="FF0000"/>
              </a:solidFill>
              <a:latin typeface="Franklin Gothic Demi Cond" pitchFamily="34" charset="0"/>
            </a:endParaRPr>
          </a:p>
          <a:p>
            <a:pPr algn="ctr"/>
            <a:r>
              <a:rPr lang="en-US" sz="1400" i="1" dirty="0" err="1" smtClean="0">
                <a:solidFill>
                  <a:srgbClr val="FF0000"/>
                </a:solidFill>
                <a:latin typeface="Franklin Gothic Demi Cond" pitchFamily="34" charset="0"/>
              </a:rPr>
              <a:t>Perhimpoenan</a:t>
            </a:r>
            <a:r>
              <a:rPr lang="en-US" sz="1400" i="1" dirty="0" smtClean="0">
                <a:solidFill>
                  <a:srgbClr val="FF0000"/>
                </a:solidFill>
                <a:latin typeface="Franklin Gothic Demi Cond" pitchFamily="34" charset="0"/>
              </a:rPr>
              <a:t> </a:t>
            </a:r>
            <a:r>
              <a:rPr lang="en-US" sz="1400" i="1" dirty="0">
                <a:solidFill>
                  <a:srgbClr val="FF0000"/>
                </a:solidFill>
                <a:latin typeface="Franklin Gothic Demi Cond" pitchFamily="34" charset="0"/>
              </a:rPr>
              <a:t>Indonesia</a:t>
            </a:r>
            <a:endParaRPr lang="en-US" sz="1400" dirty="0">
              <a:solidFill>
                <a:srgbClr val="FF0000"/>
              </a:solidFill>
              <a:latin typeface="Franklin Gothic Demi Cond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353944" y="3874463"/>
            <a:ext cx="1575795" cy="783193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solidFill>
                  <a:srgbClr val="FF0000"/>
                </a:solidFill>
                <a:latin typeface="Franklin Gothic Demi Cond" pitchFamily="34" charset="0"/>
              </a:rPr>
              <a:t>lahirnya</a:t>
            </a:r>
            <a:r>
              <a:rPr lang="en-US" sz="1400" dirty="0">
                <a:solidFill>
                  <a:srgbClr val="FF0000"/>
                </a:solidFill>
                <a:latin typeface="Franklin Gothic Demi Cond" pitchFamily="34" charset="0"/>
              </a:rPr>
              <a:t> </a:t>
            </a:r>
            <a:endParaRPr lang="en-US" sz="1400" dirty="0" smtClean="0">
              <a:solidFill>
                <a:srgbClr val="FF0000"/>
              </a:solidFill>
              <a:latin typeface="Franklin Gothic Demi Cond" pitchFamily="34" charset="0"/>
            </a:endParaRPr>
          </a:p>
          <a:p>
            <a:pPr algn="ctr"/>
            <a:r>
              <a:rPr lang="en-US" sz="1400" i="1" dirty="0" err="1" smtClean="0">
                <a:solidFill>
                  <a:srgbClr val="FF0000"/>
                </a:solidFill>
                <a:latin typeface="Franklin Gothic Demi Cond" pitchFamily="34" charset="0"/>
              </a:rPr>
              <a:t>Soempah</a:t>
            </a:r>
            <a:r>
              <a:rPr lang="en-US" sz="1400" i="1" dirty="0" smtClean="0">
                <a:solidFill>
                  <a:srgbClr val="FF0000"/>
                </a:solidFill>
                <a:latin typeface="Franklin Gothic Demi Cond" pitchFamily="34" charset="0"/>
              </a:rPr>
              <a:t> </a:t>
            </a:r>
            <a:r>
              <a:rPr lang="en-US" sz="1400" i="1" dirty="0" err="1">
                <a:solidFill>
                  <a:srgbClr val="FF0000"/>
                </a:solidFill>
                <a:latin typeface="Franklin Gothic Demi Cond" pitchFamily="34" charset="0"/>
              </a:rPr>
              <a:t>Pemoeda</a:t>
            </a:r>
            <a:r>
              <a:rPr lang="en-US" sz="1400" i="1" dirty="0">
                <a:solidFill>
                  <a:srgbClr val="FF0000"/>
                </a:solidFill>
                <a:latin typeface="Franklin Gothic Demi Cond" pitchFamily="34" charset="0"/>
              </a:rPr>
              <a:t> </a:t>
            </a:r>
            <a:endParaRPr lang="en-US" sz="1400" i="1" dirty="0" smtClean="0">
              <a:solidFill>
                <a:srgbClr val="FF0000"/>
              </a:solidFill>
              <a:latin typeface="Franklin Gothic Demi Cond" pitchFamily="34" charset="0"/>
            </a:endParaRPr>
          </a:p>
          <a:p>
            <a:pPr algn="ctr"/>
            <a:r>
              <a:rPr lang="en-US" sz="1200" dirty="0" smtClean="0">
                <a:solidFill>
                  <a:srgbClr val="FF0000"/>
                </a:solidFill>
                <a:latin typeface="Franklin Gothic Demi Cond" pitchFamily="34" charset="0"/>
              </a:rPr>
              <a:t>28 </a:t>
            </a:r>
            <a:r>
              <a:rPr lang="en-US" sz="1200" dirty="0" err="1">
                <a:solidFill>
                  <a:srgbClr val="FF0000"/>
                </a:solidFill>
                <a:latin typeface="Franklin Gothic Demi Cond" pitchFamily="34" charset="0"/>
              </a:rPr>
              <a:t>Oktober</a:t>
            </a:r>
            <a:r>
              <a:rPr lang="en-US" sz="1200" dirty="0">
                <a:solidFill>
                  <a:srgbClr val="FF0000"/>
                </a:solidFill>
                <a:latin typeface="Franklin Gothic Demi Cond" pitchFamily="34" charset="0"/>
              </a:rPr>
              <a:t> 1928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7944" y="2468202"/>
            <a:ext cx="378522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>
                <a:latin typeface="Franklin Gothic Demi Cond" pitchFamily="34" charset="0"/>
              </a:rPr>
              <a:t>usulan</a:t>
            </a:r>
            <a:r>
              <a:rPr lang="en-US" sz="1200" dirty="0" smtClean="0">
                <a:latin typeface="Franklin Gothic Demi Cond" pitchFamily="34" charset="0"/>
              </a:rPr>
              <a:t> Ir</a:t>
            </a:r>
            <a:r>
              <a:rPr lang="en-US" sz="1200" dirty="0">
                <a:latin typeface="Franklin Gothic Demi Cond" pitchFamily="34" charset="0"/>
              </a:rPr>
              <a:t>. </a:t>
            </a:r>
            <a:r>
              <a:rPr lang="en-US" sz="1200" dirty="0" err="1">
                <a:latin typeface="Franklin Gothic Demi Cond" pitchFamily="34" charset="0"/>
              </a:rPr>
              <a:t>Soekarno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smtClean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tentang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 smtClean="0">
                <a:latin typeface="Franklin Gothic Demi Cond" pitchFamily="34" charset="0"/>
              </a:rPr>
              <a:t>dasar</a:t>
            </a:r>
            <a:r>
              <a:rPr lang="en-US" sz="1200" dirty="0" smtClean="0">
                <a:latin typeface="Franklin Gothic Demi Cond" pitchFamily="34" charset="0"/>
              </a:rPr>
              <a:t> </a:t>
            </a:r>
            <a:r>
              <a:rPr lang="en-US" sz="1200" dirty="0" err="1" smtClean="0">
                <a:latin typeface="Franklin Gothic Demi Cond" pitchFamily="34" charset="0"/>
              </a:rPr>
              <a:t>negara</a:t>
            </a:r>
            <a:endParaRPr lang="en-US" sz="1200" dirty="0" smtClean="0">
              <a:latin typeface="Franklin Gothic Demi Cond" pitchFamily="34" charset="0"/>
            </a:endParaRPr>
          </a:p>
          <a:p>
            <a:r>
              <a:rPr lang="en-US" sz="1200" dirty="0">
                <a:latin typeface="Franklin Gothic Demi Cond" pitchFamily="34" charset="0"/>
              </a:rPr>
              <a:t>a. </a:t>
            </a:r>
            <a:r>
              <a:rPr lang="en-US" sz="1200" dirty="0" err="1">
                <a:latin typeface="Franklin Gothic Demi Cond" pitchFamily="34" charset="0"/>
              </a:rPr>
              <a:t>Nasionalisme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atau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Kebangsaan</a:t>
            </a:r>
            <a:r>
              <a:rPr lang="en-US" sz="1200" dirty="0">
                <a:latin typeface="Franklin Gothic Demi Cond" pitchFamily="34" charset="0"/>
              </a:rPr>
              <a:t> Indonesia,</a:t>
            </a:r>
          </a:p>
          <a:p>
            <a:r>
              <a:rPr lang="fi-FI" sz="1200" dirty="0">
                <a:latin typeface="Franklin Gothic Demi Cond" pitchFamily="34" charset="0"/>
              </a:rPr>
              <a:t>b. Internasionalisme atau Peri Kemanusiaan,</a:t>
            </a:r>
          </a:p>
          <a:p>
            <a:r>
              <a:rPr lang="en-US" sz="1200" dirty="0">
                <a:latin typeface="Franklin Gothic Demi Cond" pitchFamily="34" charset="0"/>
              </a:rPr>
              <a:t>c. </a:t>
            </a:r>
            <a:r>
              <a:rPr lang="en-US" sz="1200" dirty="0" err="1">
                <a:latin typeface="Franklin Gothic Demi Cond" pitchFamily="34" charset="0"/>
              </a:rPr>
              <a:t>Mufakat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atau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Demokrasi</a:t>
            </a:r>
            <a:r>
              <a:rPr lang="en-US" sz="1200" dirty="0">
                <a:latin typeface="Franklin Gothic Demi Cond" pitchFamily="34" charset="0"/>
              </a:rPr>
              <a:t>,</a:t>
            </a:r>
          </a:p>
          <a:p>
            <a:r>
              <a:rPr lang="en-US" sz="1200" dirty="0">
                <a:latin typeface="Franklin Gothic Demi Cond" pitchFamily="34" charset="0"/>
              </a:rPr>
              <a:t>d. </a:t>
            </a:r>
            <a:r>
              <a:rPr lang="en-US" sz="1200" dirty="0" err="1">
                <a:latin typeface="Franklin Gothic Demi Cond" pitchFamily="34" charset="0"/>
              </a:rPr>
              <a:t>Kesejahteraan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Sosial</a:t>
            </a:r>
            <a:r>
              <a:rPr lang="en-US" sz="1200" dirty="0">
                <a:latin typeface="Franklin Gothic Demi Cond" pitchFamily="34" charset="0"/>
              </a:rPr>
              <a:t>,</a:t>
            </a:r>
          </a:p>
          <a:p>
            <a:r>
              <a:rPr lang="en-US" sz="1200" dirty="0">
                <a:latin typeface="Franklin Gothic Demi Cond" pitchFamily="34" charset="0"/>
              </a:rPr>
              <a:t>e. </a:t>
            </a:r>
            <a:r>
              <a:rPr lang="en-US" sz="1200" dirty="0" err="1">
                <a:latin typeface="Franklin Gothic Demi Cond" pitchFamily="34" charset="0"/>
              </a:rPr>
              <a:t>Ketuhanan</a:t>
            </a:r>
            <a:r>
              <a:rPr lang="en-US" sz="1200" dirty="0">
                <a:latin typeface="Franklin Gothic Demi Cond" pitchFamily="34" charset="0"/>
              </a:rPr>
              <a:t> yang </a:t>
            </a:r>
            <a:r>
              <a:rPr lang="en-US" sz="1200" dirty="0" err="1">
                <a:latin typeface="Franklin Gothic Demi Cond" pitchFamily="34" charset="0"/>
              </a:rPr>
              <a:t>berkebudayaan</a:t>
            </a:r>
            <a:r>
              <a:rPr lang="en-US" sz="1200" dirty="0">
                <a:latin typeface="Franklin Gothic Demi Cond" pitchFamily="34" charset="0"/>
              </a:rPr>
              <a:t>.</a:t>
            </a:r>
          </a:p>
          <a:p>
            <a:endParaRPr lang="en-US" sz="1200" dirty="0">
              <a:latin typeface="Franklin Gothic Demi Cond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8478" y="5391708"/>
            <a:ext cx="164335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>
              <a:buFont typeface="Wingdings" pitchFamily="2" charset="2"/>
              <a:buChar char="ü"/>
            </a:pPr>
            <a:r>
              <a:rPr lang="en-US" sz="1100" dirty="0" smtClean="0">
                <a:latin typeface="Franklin Gothic Demi Cond" pitchFamily="34" charset="0"/>
              </a:rPr>
              <a:t>PEMBERONTAKAN </a:t>
            </a:r>
            <a:r>
              <a:rPr lang="en-US" sz="1100" dirty="0" err="1" smtClean="0">
                <a:latin typeface="Franklin Gothic Demi Cond" pitchFamily="34" charset="0"/>
              </a:rPr>
              <a:t>PEMBERONTAKAN</a:t>
            </a:r>
            <a:r>
              <a:rPr lang="en-US" sz="1100" dirty="0" smtClean="0">
                <a:latin typeface="Franklin Gothic Demi Cond" pitchFamily="34" charset="0"/>
              </a:rPr>
              <a:t> THD PENJAJAH</a:t>
            </a:r>
            <a:endParaRPr lang="en-US" sz="1100" dirty="0">
              <a:latin typeface="Franklin Gothic Demi Cond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995936" y="4725144"/>
            <a:ext cx="164335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lang="en-US" sz="1100" dirty="0" smtClean="0">
                <a:latin typeface="Franklin Gothic Demi Cond" pitchFamily="34" charset="0"/>
              </a:rPr>
              <a:t>BOEDI OUTOMO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en-US" sz="1100" dirty="0" smtClean="0">
                <a:latin typeface="Franklin Gothic Demi Cond" pitchFamily="34" charset="0"/>
              </a:rPr>
              <a:t>SI  </a:t>
            </a:r>
            <a:r>
              <a:rPr lang="en-US" sz="1100" dirty="0" err="1" smtClean="0">
                <a:latin typeface="Franklin Gothic Demi Cond" pitchFamily="34" charset="0"/>
              </a:rPr>
              <a:t>Serikat</a:t>
            </a:r>
            <a:r>
              <a:rPr lang="en-US" sz="1100" dirty="0" smtClean="0">
                <a:latin typeface="Franklin Gothic Demi Cond" pitchFamily="34" charset="0"/>
              </a:rPr>
              <a:t> Islam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en-US" sz="1100" dirty="0" smtClean="0">
                <a:latin typeface="Franklin Gothic Demi Cond" pitchFamily="34" charset="0"/>
              </a:rPr>
              <a:t>PNI/</a:t>
            </a:r>
            <a:r>
              <a:rPr lang="en-US" sz="1100" dirty="0" err="1" smtClean="0">
                <a:latin typeface="Franklin Gothic Demi Cond" pitchFamily="34" charset="0"/>
              </a:rPr>
              <a:t>Partindo</a:t>
            </a:r>
            <a:endParaRPr lang="en-US" sz="1100" dirty="0" smtClean="0"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en-US" sz="1100" dirty="0" smtClean="0">
                <a:latin typeface="Franklin Gothic Demi Cond" pitchFamily="34" charset="0"/>
              </a:rPr>
              <a:t> </a:t>
            </a:r>
            <a:r>
              <a:rPr lang="en-US" sz="1100" dirty="0" err="1" smtClean="0">
                <a:latin typeface="Franklin Gothic Demi Cond" pitchFamily="34" charset="0"/>
              </a:rPr>
              <a:t>dll</a:t>
            </a:r>
            <a:endParaRPr lang="en-US" sz="1100" dirty="0"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8815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16" grpId="0" animBg="1"/>
      <p:bldP spid="23" grpId="0" animBg="1"/>
      <p:bldP spid="35" grpId="0" animBg="1"/>
      <p:bldP spid="18" grpId="0" animBg="1"/>
      <p:bldP spid="19" grpId="0" animBg="1"/>
      <p:bldP spid="20" grpId="0" animBg="1"/>
      <p:bldP spid="5" grpId="0" animBg="1"/>
      <p:bldP spid="9" grpId="0" animBg="1"/>
      <p:bldP spid="12" grpId="0" animBg="1"/>
      <p:bldP spid="11" grpId="0"/>
      <p:bldP spid="29" grpId="0"/>
      <p:bldP spid="31" grpId="0" animBg="1"/>
      <p:bldP spid="6" grpId="0" animBg="1"/>
      <p:bldP spid="7" grpId="0" animBg="1"/>
      <p:bldP spid="3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107504" y="224644"/>
            <a:ext cx="853646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8</a:t>
            </a: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132634" y="972877"/>
            <a:ext cx="1512167" cy="741346"/>
          </a:xfrm>
          <a:prstGeom prst="roundRect">
            <a:avLst>
              <a:gd name="adj" fmla="val 12257"/>
            </a:avLst>
          </a:prstGeom>
          <a:solidFill>
            <a:schemeClr val="bg1">
              <a:lumMod val="85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PERIODE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PENGESAHAN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  <a:endParaRPr lang="id-ID" sz="1200" dirty="0" smtClean="0">
              <a:solidFill>
                <a:schemeClr val="tx1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4427984" y="940978"/>
            <a:ext cx="728337" cy="778440"/>
          </a:xfrm>
          <a:prstGeom prst="rightArrow">
            <a:avLst>
              <a:gd name="adj1" fmla="val 62730"/>
              <a:gd name="adj2" fmla="val 16984"/>
            </a:avLst>
          </a:prstGeom>
          <a:solidFill>
            <a:srgbClr val="005426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dirty="0">
              <a:latin typeface="Franklin Gothic Demi Cond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79512" y="844563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74817" y="836712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3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36961" y="2153415"/>
            <a:ext cx="2792088" cy="4076303"/>
          </a:xfrm>
          <a:prstGeom prst="roundRect">
            <a:avLst>
              <a:gd name="adj" fmla="val 6633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 rot="16200000">
            <a:off x="2496147" y="3429681"/>
            <a:ext cx="2077122" cy="778440"/>
          </a:xfrm>
          <a:prstGeom prst="rightArrow">
            <a:avLst>
              <a:gd name="adj1" fmla="val 62730"/>
              <a:gd name="adj2" fmla="val 16984"/>
            </a:avLst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dirty="0">
              <a:latin typeface="Franklin Gothic Demi Cond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136961" y="836712"/>
            <a:ext cx="2679971" cy="964515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PERIODE</a:t>
            </a:r>
          </a:p>
          <a:p>
            <a:pPr algn="ctr"/>
            <a:r>
              <a:rPr lang="en-US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PERUMUSAN PANCASILA</a:t>
            </a:r>
            <a:endParaRPr lang="id-ID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123728" y="620688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1355282" y="938082"/>
            <a:ext cx="728337" cy="778440"/>
          </a:xfrm>
          <a:prstGeom prst="rightArrow">
            <a:avLst>
              <a:gd name="adj1" fmla="val 62730"/>
              <a:gd name="adj2" fmla="val 16984"/>
            </a:avLst>
          </a:prstGeom>
          <a:solidFill>
            <a:srgbClr val="005426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dirty="0">
              <a:latin typeface="Franklin Gothic Demi Cond" pitchFamily="3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2195736" y="4897571"/>
            <a:ext cx="2621196" cy="1224136"/>
          </a:xfrm>
          <a:prstGeom prst="roundRect">
            <a:avLst>
              <a:gd name="adj" fmla="val 904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Franklin Gothic Demi Cond" pitchFamily="34" charset="0"/>
              </a:rPr>
              <a:t>SIDANG </a:t>
            </a:r>
            <a:r>
              <a:rPr lang="en-US" sz="1400" dirty="0">
                <a:solidFill>
                  <a:srgbClr val="FF0000"/>
                </a:solidFill>
                <a:latin typeface="Franklin Gothic Demi Cond" pitchFamily="34" charset="0"/>
              </a:rPr>
              <a:t>BPUPKI </a:t>
            </a:r>
            <a:r>
              <a:rPr lang="en-US" sz="1400" dirty="0" smtClean="0">
                <a:solidFill>
                  <a:srgbClr val="FF0000"/>
                </a:solidFill>
                <a:latin typeface="Franklin Gothic Demi Cond" pitchFamily="34" charset="0"/>
              </a:rPr>
              <a:t> II </a:t>
            </a:r>
          </a:p>
          <a:p>
            <a:pPr algn="ctr"/>
            <a:r>
              <a:rPr lang="en-US" sz="1200" dirty="0" smtClean="0">
                <a:solidFill>
                  <a:srgbClr val="FF0000"/>
                </a:solidFill>
                <a:latin typeface="Franklin Gothic Demi Cond" pitchFamily="34" charset="0"/>
              </a:rPr>
              <a:t>10 </a:t>
            </a:r>
            <a:r>
              <a:rPr lang="en-US" sz="1200" dirty="0">
                <a:solidFill>
                  <a:srgbClr val="FF0000"/>
                </a:solidFill>
                <a:latin typeface="Franklin Gothic Demi Cond" pitchFamily="34" charset="0"/>
              </a:rPr>
              <a:t>- 16 </a:t>
            </a:r>
            <a:r>
              <a:rPr lang="en-US" sz="1200" dirty="0" err="1" smtClean="0">
                <a:solidFill>
                  <a:srgbClr val="FF0000"/>
                </a:solidFill>
                <a:latin typeface="Franklin Gothic Demi Cond" pitchFamily="34" charset="0"/>
              </a:rPr>
              <a:t>Juli</a:t>
            </a:r>
            <a:r>
              <a:rPr lang="en-US" sz="1200" dirty="0" smtClean="0">
                <a:solidFill>
                  <a:srgbClr val="FF0000"/>
                </a:solidFill>
                <a:latin typeface="Franklin Gothic Demi Cond" pitchFamily="34" charset="0"/>
              </a:rPr>
              <a:t> 1945</a:t>
            </a:r>
            <a:endParaRPr lang="en-US" sz="1200" dirty="0">
              <a:solidFill>
                <a:srgbClr val="FF0000"/>
              </a:solidFill>
              <a:latin typeface="Franklin Gothic Demi Cond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504" y="4753555"/>
            <a:ext cx="2088232" cy="1461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>
              <a:buFont typeface="Wingdings" pitchFamily="2" charset="2"/>
              <a:buChar char="§"/>
            </a:pPr>
            <a:r>
              <a:rPr lang="en-US" sz="1200" dirty="0" err="1">
                <a:latin typeface="Franklin Gothic Demi Cond" pitchFamily="34" charset="0"/>
              </a:rPr>
              <a:t>disetujuinya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naskah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awal</a:t>
            </a:r>
            <a:r>
              <a:rPr lang="en-US" sz="1200" dirty="0">
                <a:latin typeface="Franklin Gothic Demi Cond" pitchFamily="34" charset="0"/>
              </a:rPr>
              <a:t> “</a:t>
            </a:r>
            <a:r>
              <a:rPr lang="en-US" sz="1200" dirty="0" err="1">
                <a:latin typeface="Franklin Gothic Demi Cond" pitchFamily="34" charset="0"/>
              </a:rPr>
              <a:t>Pembukaan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Hukum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Dasar</a:t>
            </a:r>
            <a:r>
              <a:rPr lang="en-US" sz="1200" dirty="0">
                <a:latin typeface="Franklin Gothic Demi Cond" pitchFamily="34" charset="0"/>
              </a:rPr>
              <a:t>” </a:t>
            </a:r>
            <a:r>
              <a:rPr lang="en-US" sz="1200" dirty="0" smtClean="0">
                <a:latin typeface="Franklin Gothic Demi Cond" pitchFamily="34" charset="0"/>
              </a:rPr>
              <a:t>yang </a:t>
            </a:r>
            <a:r>
              <a:rPr lang="en-US" sz="1200" dirty="0" err="1" smtClean="0">
                <a:latin typeface="Franklin Gothic Demi Cond" pitchFamily="34" charset="0"/>
              </a:rPr>
              <a:t>kemudian</a:t>
            </a:r>
            <a:r>
              <a:rPr lang="en-US" sz="1200" dirty="0" smtClean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dikenal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smtClean="0">
                <a:latin typeface="Franklin Gothic Demi Cond" pitchFamily="34" charset="0"/>
              </a:rPr>
              <a:t>dg </a:t>
            </a:r>
            <a:r>
              <a:rPr lang="en-US" sz="1200" dirty="0" err="1">
                <a:latin typeface="Franklin Gothic Demi Cond" pitchFamily="34" charset="0"/>
              </a:rPr>
              <a:t>nama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Piagam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smtClean="0">
                <a:latin typeface="Franklin Gothic Demi Cond" pitchFamily="34" charset="0"/>
              </a:rPr>
              <a:t>Jakarta</a:t>
            </a:r>
          </a:p>
          <a:p>
            <a:pPr marL="171450" indent="-171450" algn="r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dirty="0" err="1" smtClean="0">
                <a:latin typeface="Franklin Gothic Demi Cond" pitchFamily="34" charset="0"/>
              </a:rPr>
              <a:t>Piagam</a:t>
            </a:r>
            <a:r>
              <a:rPr lang="en-US" sz="1200" dirty="0" smtClean="0">
                <a:latin typeface="Franklin Gothic Demi Cond" pitchFamily="34" charset="0"/>
              </a:rPr>
              <a:t> Jakarta </a:t>
            </a:r>
            <a:r>
              <a:rPr lang="en-US" sz="1200" dirty="0" smtClean="0">
                <a:latin typeface="Franklin Gothic Demi Cond" pitchFamily="34" charset="0"/>
                <a:sym typeface="Wingdings" pitchFamily="2" charset="2"/>
              </a:rPr>
              <a:t> </a:t>
            </a:r>
            <a:r>
              <a:rPr lang="en-US" sz="1200" dirty="0" err="1" smtClean="0">
                <a:latin typeface="Franklin Gothic Demi Cond" pitchFamily="34" charset="0"/>
                <a:sym typeface="Wingdings" pitchFamily="2" charset="2"/>
              </a:rPr>
              <a:t>Pembukaan</a:t>
            </a:r>
            <a:r>
              <a:rPr lang="en-US" sz="1200" dirty="0" smtClean="0">
                <a:latin typeface="Franklin Gothic Demi Cond" pitchFamily="34" charset="0"/>
                <a:sym typeface="Wingdings" pitchFamily="2" charset="2"/>
              </a:rPr>
              <a:t> UUD 1945 dg </a:t>
            </a:r>
            <a:r>
              <a:rPr lang="en-US" sz="1200" dirty="0" err="1" smtClean="0">
                <a:latin typeface="Franklin Gothic Demi Cond" pitchFamily="34" charset="0"/>
                <a:sym typeface="Wingdings" pitchFamily="2" charset="2"/>
              </a:rPr>
              <a:t>sejumlah</a:t>
            </a:r>
            <a:r>
              <a:rPr lang="en-US" sz="1200" dirty="0" smtClean="0">
                <a:latin typeface="Franklin Gothic Demi Cond" pitchFamily="34" charset="0"/>
                <a:sym typeface="Wingdings" pitchFamily="2" charset="2"/>
              </a:rPr>
              <a:t> </a:t>
            </a:r>
            <a:r>
              <a:rPr lang="en-US" sz="1200" dirty="0" err="1" smtClean="0">
                <a:latin typeface="Franklin Gothic Demi Cond" pitchFamily="34" charset="0"/>
                <a:sym typeface="Wingdings" pitchFamily="2" charset="2"/>
              </a:rPr>
              <a:t>perubahan</a:t>
            </a:r>
            <a:endParaRPr lang="en-US" sz="1200" dirty="0">
              <a:latin typeface="Franklin Gothic Demi Cond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60948" y="4624055"/>
            <a:ext cx="40591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latin typeface="Franklin Gothic Demi Cond" pitchFamily="34" charset="0"/>
              </a:rPr>
              <a:t>rumusan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Pancasila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sebagai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berikut</a:t>
            </a:r>
            <a:r>
              <a:rPr lang="en-US" sz="1200" dirty="0">
                <a:latin typeface="Franklin Gothic Demi Cond" pitchFamily="34" charset="0"/>
              </a:rPr>
              <a:t>.</a:t>
            </a:r>
          </a:p>
          <a:p>
            <a:pPr marL="169863" indent="-169863"/>
            <a:r>
              <a:rPr lang="en-US" sz="1200" dirty="0">
                <a:latin typeface="Franklin Gothic Demi Cond" pitchFamily="34" charset="0"/>
              </a:rPr>
              <a:t>1. </a:t>
            </a:r>
            <a:r>
              <a:rPr lang="en-US" sz="1200" dirty="0" err="1">
                <a:latin typeface="Franklin Gothic Demi Cond" pitchFamily="34" charset="0"/>
              </a:rPr>
              <a:t>Ketuhanan</a:t>
            </a:r>
            <a:r>
              <a:rPr lang="en-US" sz="1200" dirty="0">
                <a:latin typeface="Franklin Gothic Demi Cond" pitchFamily="34" charset="0"/>
              </a:rPr>
              <a:t>, </a:t>
            </a:r>
            <a:r>
              <a:rPr lang="en-US" sz="1200" dirty="0" err="1">
                <a:latin typeface="Franklin Gothic Demi Cond" pitchFamily="34" charset="0"/>
              </a:rPr>
              <a:t>dengan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kewajiban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menjalankan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syariat</a:t>
            </a:r>
            <a:r>
              <a:rPr lang="en-US" sz="1200" dirty="0">
                <a:latin typeface="Franklin Gothic Demi Cond" pitchFamily="34" charset="0"/>
              </a:rPr>
              <a:t> Islam </a:t>
            </a:r>
            <a:r>
              <a:rPr lang="en-US" sz="1200" dirty="0" err="1">
                <a:latin typeface="Franklin Gothic Demi Cond" pitchFamily="34" charset="0"/>
              </a:rPr>
              <a:t>bagi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pemelukpemeluknya</a:t>
            </a:r>
            <a:r>
              <a:rPr lang="en-US" sz="1200" dirty="0">
                <a:latin typeface="Franklin Gothic Demi Cond" pitchFamily="34" charset="0"/>
              </a:rPr>
              <a:t>.</a:t>
            </a:r>
          </a:p>
          <a:p>
            <a:pPr marL="169863" indent="-169863"/>
            <a:r>
              <a:rPr lang="en-US" sz="1200" dirty="0">
                <a:latin typeface="Franklin Gothic Demi Cond" pitchFamily="34" charset="0"/>
              </a:rPr>
              <a:t>2. </a:t>
            </a:r>
            <a:r>
              <a:rPr lang="en-US" sz="1200" dirty="0" err="1">
                <a:latin typeface="Franklin Gothic Demi Cond" pitchFamily="34" charset="0"/>
              </a:rPr>
              <a:t>Kemanusiaan</a:t>
            </a:r>
            <a:r>
              <a:rPr lang="en-US" sz="1200" dirty="0">
                <a:latin typeface="Franklin Gothic Demi Cond" pitchFamily="34" charset="0"/>
              </a:rPr>
              <a:t> yang </a:t>
            </a:r>
            <a:r>
              <a:rPr lang="en-US" sz="1200" dirty="0" err="1">
                <a:latin typeface="Franklin Gothic Demi Cond" pitchFamily="34" charset="0"/>
              </a:rPr>
              <a:t>adil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dan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beradab</a:t>
            </a:r>
            <a:r>
              <a:rPr lang="en-US" sz="1200" dirty="0">
                <a:latin typeface="Franklin Gothic Demi Cond" pitchFamily="34" charset="0"/>
              </a:rPr>
              <a:t>.</a:t>
            </a:r>
          </a:p>
          <a:p>
            <a:pPr marL="169863" indent="-169863"/>
            <a:r>
              <a:rPr lang="en-US" sz="1200" dirty="0">
                <a:latin typeface="Franklin Gothic Demi Cond" pitchFamily="34" charset="0"/>
              </a:rPr>
              <a:t>3. </a:t>
            </a:r>
            <a:r>
              <a:rPr lang="en-US" sz="1200" dirty="0" err="1">
                <a:latin typeface="Franklin Gothic Demi Cond" pitchFamily="34" charset="0"/>
              </a:rPr>
              <a:t>Persatuan</a:t>
            </a:r>
            <a:r>
              <a:rPr lang="en-US" sz="1200" dirty="0">
                <a:latin typeface="Franklin Gothic Demi Cond" pitchFamily="34" charset="0"/>
              </a:rPr>
              <a:t> Indonesia</a:t>
            </a:r>
          </a:p>
          <a:p>
            <a:pPr marL="169863" indent="-169863"/>
            <a:r>
              <a:rPr lang="fi-FI" sz="1200" dirty="0">
                <a:latin typeface="Franklin Gothic Demi Cond" pitchFamily="34" charset="0"/>
              </a:rPr>
              <a:t>4. Kerakyatan yang dipimpin oleh hikmat kebijaksanaan dalam</a:t>
            </a:r>
          </a:p>
          <a:p>
            <a:pPr marL="169863" indent="-169863"/>
            <a:r>
              <a:rPr lang="en-US" sz="1200" dirty="0" smtClean="0">
                <a:latin typeface="Franklin Gothic Demi Cond" pitchFamily="34" charset="0"/>
              </a:rPr>
              <a:t>	</a:t>
            </a:r>
            <a:r>
              <a:rPr lang="en-US" sz="1200" dirty="0" err="1" smtClean="0">
                <a:latin typeface="Franklin Gothic Demi Cond" pitchFamily="34" charset="0"/>
              </a:rPr>
              <a:t>permusyawaratan</a:t>
            </a:r>
            <a:r>
              <a:rPr lang="en-US" sz="1200" dirty="0" smtClean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perwakilan</a:t>
            </a:r>
            <a:r>
              <a:rPr lang="en-US" sz="1200" dirty="0">
                <a:latin typeface="Franklin Gothic Demi Cond" pitchFamily="34" charset="0"/>
              </a:rPr>
              <a:t>.</a:t>
            </a:r>
          </a:p>
          <a:p>
            <a:pPr marL="117475" indent="-117475"/>
            <a:r>
              <a:rPr lang="en-US" sz="1200" dirty="0">
                <a:latin typeface="Franklin Gothic Demi Cond" pitchFamily="34" charset="0"/>
              </a:rPr>
              <a:t>5. </a:t>
            </a:r>
            <a:r>
              <a:rPr lang="en-US" sz="1200" dirty="0" err="1">
                <a:latin typeface="Franklin Gothic Demi Cond" pitchFamily="34" charset="0"/>
              </a:rPr>
              <a:t>Keadilan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sosial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bagi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seluruh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rakyat</a:t>
            </a:r>
            <a:r>
              <a:rPr lang="en-US" sz="1200" dirty="0">
                <a:latin typeface="Franklin Gothic Demi Cond" pitchFamily="34" charset="0"/>
              </a:rPr>
              <a:t> Indonesia.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5736" y="4177491"/>
            <a:ext cx="2621196" cy="547065"/>
          </a:xfrm>
          <a:prstGeom prst="roundRect">
            <a:avLst>
              <a:gd name="adj" fmla="val 904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rgbClr val="FF0000"/>
                </a:solidFill>
                <a:latin typeface="Franklin Gothic Demi Cond" pitchFamily="34" charset="0"/>
              </a:rPr>
              <a:t>Dibentuk</a:t>
            </a:r>
            <a:r>
              <a:rPr lang="en-US" sz="1400" dirty="0" smtClean="0">
                <a:solidFill>
                  <a:srgbClr val="FF0000"/>
                </a:solidFill>
                <a:latin typeface="Franklin Gothic Demi Cond" pitchFamily="34" charset="0"/>
              </a:rPr>
              <a:t> PPKI </a:t>
            </a:r>
          </a:p>
          <a:p>
            <a:pPr algn="ctr"/>
            <a:r>
              <a:rPr lang="en-US" sz="1200" dirty="0" smtClean="0">
                <a:solidFill>
                  <a:srgbClr val="FF0000"/>
                </a:solidFill>
                <a:latin typeface="Franklin Gothic Demi Cond" pitchFamily="34" charset="0"/>
              </a:rPr>
              <a:t>9 </a:t>
            </a:r>
            <a:r>
              <a:rPr lang="en-US" sz="1200" dirty="0" err="1" smtClean="0">
                <a:solidFill>
                  <a:srgbClr val="FF0000"/>
                </a:solidFill>
                <a:latin typeface="Franklin Gothic Demi Cond" pitchFamily="34" charset="0"/>
              </a:rPr>
              <a:t>Agustus</a:t>
            </a:r>
            <a:r>
              <a:rPr lang="en-US" sz="1200" dirty="0" smtClean="0">
                <a:solidFill>
                  <a:srgbClr val="FF0000"/>
                </a:solidFill>
                <a:latin typeface="Franklin Gothic Demi Cond" pitchFamily="34" charset="0"/>
              </a:rPr>
              <a:t> 1945</a:t>
            </a:r>
            <a:endParaRPr lang="en-US" sz="1200" dirty="0">
              <a:solidFill>
                <a:srgbClr val="FF0000"/>
              </a:solidFill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195736" y="3097371"/>
            <a:ext cx="2621196" cy="959910"/>
          </a:xfrm>
          <a:prstGeom prst="roundRect">
            <a:avLst>
              <a:gd name="adj" fmla="val 904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Franklin Gothic Demi Cond" pitchFamily="34" charset="0"/>
              </a:rPr>
              <a:t>JEPANG MENYERAH TANPA SYARAT KPD SEKUTU</a:t>
            </a:r>
          </a:p>
          <a:p>
            <a:pPr algn="ctr"/>
            <a:r>
              <a:rPr lang="en-US" sz="1200" dirty="0" smtClean="0">
                <a:solidFill>
                  <a:srgbClr val="FF0000"/>
                </a:solidFill>
                <a:latin typeface="Franklin Gothic Demi Cond" pitchFamily="34" charset="0"/>
              </a:rPr>
              <a:t>14 </a:t>
            </a:r>
            <a:r>
              <a:rPr lang="en-US" sz="1200" dirty="0" err="1" smtClean="0">
                <a:solidFill>
                  <a:srgbClr val="FF0000"/>
                </a:solidFill>
                <a:latin typeface="Franklin Gothic Demi Cond" pitchFamily="34" charset="0"/>
              </a:rPr>
              <a:t>Agustus</a:t>
            </a:r>
            <a:r>
              <a:rPr lang="en-US" sz="1200" dirty="0" smtClean="0">
                <a:solidFill>
                  <a:srgbClr val="FF0000"/>
                </a:solidFill>
                <a:latin typeface="Franklin Gothic Demi Cond" pitchFamily="34" charset="0"/>
              </a:rPr>
              <a:t> 1945</a:t>
            </a:r>
            <a:endParaRPr lang="en-US" sz="1200" dirty="0">
              <a:solidFill>
                <a:srgbClr val="FF0000"/>
              </a:solidFill>
              <a:latin typeface="Franklin Gothic Demi Cond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3445" y="4177492"/>
            <a:ext cx="15154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Franklin Gothic Demi Cond" pitchFamily="34" charset="0"/>
              </a:rPr>
              <a:t>total </a:t>
            </a:r>
            <a:r>
              <a:rPr lang="en-US" sz="1200" dirty="0" err="1">
                <a:latin typeface="Franklin Gothic Demi Cond" pitchFamily="34" charset="0"/>
              </a:rPr>
              <a:t>anggota</a:t>
            </a:r>
            <a:r>
              <a:rPr lang="en-US" sz="1200" dirty="0">
                <a:latin typeface="Franklin Gothic Demi Cond" pitchFamily="34" charset="0"/>
              </a:rPr>
              <a:t> 21 </a:t>
            </a:r>
            <a:r>
              <a:rPr lang="en-US" sz="1200" dirty="0" smtClean="0">
                <a:latin typeface="Franklin Gothic Demi Cond" pitchFamily="34" charset="0"/>
              </a:rPr>
              <a:t>orang</a:t>
            </a:r>
            <a:endParaRPr lang="en-US" sz="1200" dirty="0">
              <a:latin typeface="Franklin Gothic Demi Cond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67544" y="3348235"/>
            <a:ext cx="17225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 smtClean="0">
                <a:latin typeface="Franklin Gothic Demi Cond" pitchFamily="34" charset="0"/>
              </a:rPr>
              <a:t>DUA KALI DIBOM ATOM</a:t>
            </a:r>
            <a:endParaRPr lang="en-US" sz="1200" dirty="0">
              <a:latin typeface="Franklin Gothic Demi Cond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88024" y="3243128"/>
            <a:ext cx="40092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 smtClean="0">
                <a:latin typeface="Franklin Gothic Demi Cond" pitchFamily="34" charset="0"/>
              </a:rPr>
              <a:t>KONSEKUENSI INDONESIA BERALIH KEPADA WILAYAH PERWALIAN SEKUTU,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smtClean="0">
                <a:latin typeface="Franklin Gothic Demi Cond" pitchFamily="34" charset="0"/>
              </a:rPr>
              <a:t>TERJADI KEKOSONGAN KEKUASAAN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5736" y="2233275"/>
            <a:ext cx="2621196" cy="547065"/>
          </a:xfrm>
          <a:prstGeom prst="roundRect">
            <a:avLst>
              <a:gd name="adj" fmla="val 904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Franklin Gothic Demi Cond" pitchFamily="34" charset="0"/>
              </a:rPr>
              <a:t>PPKI AMBIL KEPUTUSAN POLITIK</a:t>
            </a:r>
            <a:endParaRPr lang="en-US" sz="1200" dirty="0">
              <a:solidFill>
                <a:srgbClr val="FF0000"/>
              </a:solidFill>
              <a:latin typeface="Franklin Gothic Demi Cond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60032" y="2184274"/>
            <a:ext cx="37839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 smtClean="0">
                <a:latin typeface="Franklin Gothic Demi Cond" pitchFamily="34" charset="0"/>
              </a:rPr>
              <a:t>MELEPASKAN </a:t>
            </a:r>
            <a:r>
              <a:rPr lang="en-US" sz="1200" dirty="0">
                <a:latin typeface="Franklin Gothic Demi Cond" pitchFamily="34" charset="0"/>
              </a:rPr>
              <a:t>DIRI DARI BAYANG-BAYANG KEKUASAAN JEPANG DAN MEMPERCEPAT RENCANA KEMERDEKAAN BANGSA INDONESIA.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328" y="972877"/>
            <a:ext cx="1512167" cy="741346"/>
          </a:xfrm>
          <a:prstGeom prst="roundRect">
            <a:avLst>
              <a:gd name="adj" fmla="val 12257"/>
            </a:avLst>
          </a:prstGeom>
          <a:solidFill>
            <a:schemeClr val="bg1">
              <a:lumMod val="85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PERIODE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PENGUSULAN 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  <a:endParaRPr lang="id-ID" sz="1200" dirty="0" smtClean="0">
              <a:solidFill>
                <a:schemeClr val="tx1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0341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18" grpId="0" animBg="1"/>
      <p:bldP spid="20" grpId="0" animBg="1"/>
      <p:bldP spid="12" grpId="0" animBg="1"/>
      <p:bldP spid="31" grpId="0" animBg="1"/>
      <p:bldP spid="25" grpId="0" animBg="1"/>
      <p:bldP spid="19" grpId="0" animBg="1"/>
      <p:bldP spid="23" grpId="0" animBg="1"/>
      <p:bldP spid="2" grpId="0" animBg="1"/>
      <p:bldP spid="3" grpId="0"/>
      <p:bldP spid="4" grpId="0"/>
      <p:bldP spid="21" grpId="0" animBg="1"/>
      <p:bldP spid="26" grpId="0" animBg="1"/>
      <p:bldP spid="5" grpId="0"/>
      <p:bldP spid="27" grpId="0"/>
      <p:bldP spid="6" grpId="0"/>
      <p:bldP spid="28" grpId="0" animBg="1"/>
      <p:bldP spid="7" grpId="0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179512" y="224644"/>
            <a:ext cx="884057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9</a:t>
            </a: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84556" y="2276872"/>
            <a:ext cx="2792088" cy="3312368"/>
          </a:xfrm>
          <a:prstGeom prst="roundRect">
            <a:avLst>
              <a:gd name="adj" fmla="val 6633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 rot="16200000">
            <a:off x="4182128" y="3275858"/>
            <a:ext cx="2200349" cy="778440"/>
          </a:xfrm>
          <a:prstGeom prst="rightArrow">
            <a:avLst>
              <a:gd name="adj1" fmla="val 62730"/>
              <a:gd name="adj2" fmla="val 16984"/>
            </a:avLst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dirty="0">
              <a:latin typeface="Franklin Gothic Demi Cond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868332" y="836712"/>
            <a:ext cx="2808312" cy="964515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PERIODE</a:t>
            </a:r>
          </a:p>
          <a:p>
            <a:pPr algn="ctr"/>
            <a:r>
              <a:rPr lang="en-US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PENGESAHAN         PANCASILA</a:t>
            </a:r>
            <a:endParaRPr lang="id-ID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3943331" y="4797151"/>
            <a:ext cx="2621196" cy="684077"/>
          </a:xfrm>
          <a:prstGeom prst="roundRect">
            <a:avLst>
              <a:gd name="adj" fmla="val 904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Franklin Gothic Demi Cond" pitchFamily="34" charset="0"/>
              </a:rPr>
              <a:t>PROKLAMASI KEMERDEKAAN</a:t>
            </a:r>
          </a:p>
          <a:p>
            <a:pPr algn="ctr"/>
            <a:r>
              <a:rPr lang="en-US" sz="1200" dirty="0" smtClean="0">
                <a:solidFill>
                  <a:srgbClr val="FF0000"/>
                </a:solidFill>
                <a:latin typeface="Franklin Gothic Demi Cond" pitchFamily="34" charset="0"/>
              </a:rPr>
              <a:t>17 AGUSTUS 1945</a:t>
            </a:r>
            <a:endParaRPr lang="en-US" sz="1200" dirty="0">
              <a:solidFill>
                <a:srgbClr val="FF0000"/>
              </a:solidFill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943331" y="2924944"/>
            <a:ext cx="2621196" cy="1656184"/>
          </a:xfrm>
          <a:prstGeom prst="roundRect">
            <a:avLst>
              <a:gd name="adj" fmla="val 661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Franklin Gothic Demi Cond" pitchFamily="34" charset="0"/>
              </a:rPr>
              <a:t>SIDANG-SIDANG  PPKI </a:t>
            </a:r>
          </a:p>
          <a:p>
            <a:pPr algn="ctr"/>
            <a:r>
              <a:rPr lang="en-US" sz="1200" dirty="0" smtClean="0">
                <a:solidFill>
                  <a:srgbClr val="FF0000"/>
                </a:solidFill>
                <a:latin typeface="Franklin Gothic Demi Cond" pitchFamily="34" charset="0"/>
              </a:rPr>
              <a:t>18-22 AGUSTUS 1945</a:t>
            </a:r>
            <a:endParaRPr lang="en-US" sz="1200" dirty="0">
              <a:solidFill>
                <a:srgbClr val="FF0000"/>
              </a:solidFill>
              <a:latin typeface="Franklin Gothic Demi Cond" pitchFamily="34" charset="0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3273434" y="940978"/>
            <a:ext cx="453314" cy="778440"/>
          </a:xfrm>
          <a:prstGeom prst="rightArrow">
            <a:avLst>
              <a:gd name="adj1" fmla="val 62730"/>
              <a:gd name="adj2" fmla="val 16984"/>
            </a:avLst>
          </a:prstGeom>
          <a:solidFill>
            <a:srgbClr val="005426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dirty="0">
              <a:latin typeface="Franklin Gothic Demi Cond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011612" y="972877"/>
            <a:ext cx="1512167" cy="741346"/>
          </a:xfrm>
          <a:prstGeom prst="roundRect">
            <a:avLst>
              <a:gd name="adj" fmla="val 12257"/>
            </a:avLst>
          </a:prstGeom>
          <a:solidFill>
            <a:schemeClr val="bg1">
              <a:lumMod val="85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PERIODE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PERUMUSAN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  <a:endParaRPr lang="id-ID" sz="1200" dirty="0" smtClean="0">
              <a:solidFill>
                <a:schemeClr val="tx1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1515789" y="938082"/>
            <a:ext cx="453314" cy="778440"/>
          </a:xfrm>
          <a:prstGeom prst="rightArrow">
            <a:avLst>
              <a:gd name="adj1" fmla="val 62730"/>
              <a:gd name="adj2" fmla="val 16984"/>
            </a:avLst>
          </a:prstGeom>
          <a:solidFill>
            <a:srgbClr val="005426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dirty="0">
              <a:latin typeface="Franklin Gothic Demi Cond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7328" y="972877"/>
            <a:ext cx="1512167" cy="741346"/>
          </a:xfrm>
          <a:prstGeom prst="roundRect">
            <a:avLst>
              <a:gd name="adj" fmla="val 12257"/>
            </a:avLst>
          </a:prstGeom>
          <a:solidFill>
            <a:schemeClr val="bg1">
              <a:lumMod val="85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PERIODE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PENGUSULAN 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  <a:endParaRPr lang="id-ID" sz="1200" dirty="0" smtClean="0">
              <a:solidFill>
                <a:schemeClr val="tx1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79512" y="844563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953795" y="836712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920266" y="620688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3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431819" y="4845060"/>
            <a:ext cx="243651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>
              <a:buFont typeface="Wingdings" pitchFamily="2" charset="2"/>
              <a:buChar char="§"/>
            </a:pPr>
            <a:r>
              <a:rPr lang="id-ID" sz="1100" dirty="0" smtClean="0">
                <a:latin typeface="Franklin Gothic Demi Cond" pitchFamily="34" charset="0"/>
              </a:rPr>
              <a:t>TITIK </a:t>
            </a:r>
            <a:r>
              <a:rPr lang="id-ID" sz="1100" dirty="0">
                <a:latin typeface="Franklin Gothic Demi Cond" pitchFamily="34" charset="0"/>
              </a:rPr>
              <a:t>BALIK DARI NEGARA YANG TERJAJAH </a:t>
            </a:r>
            <a:r>
              <a:rPr lang="id-ID" sz="1100" dirty="0" smtClean="0">
                <a:latin typeface="Franklin Gothic Demi Cond" pitchFamily="34" charset="0"/>
              </a:rPr>
              <a:t>MENJADI</a:t>
            </a:r>
            <a:r>
              <a:rPr lang="en-US" sz="1100" dirty="0" smtClean="0">
                <a:latin typeface="Franklin Gothic Demi Cond" pitchFamily="34" charset="0"/>
              </a:rPr>
              <a:t> </a:t>
            </a:r>
            <a:r>
              <a:rPr lang="id-ID" sz="1100" dirty="0" smtClean="0">
                <a:latin typeface="Franklin Gothic Demi Cond" pitchFamily="34" charset="0"/>
              </a:rPr>
              <a:t>NEGARA </a:t>
            </a:r>
            <a:r>
              <a:rPr lang="id-ID" sz="1100" dirty="0">
                <a:latin typeface="Franklin Gothic Demi Cond" pitchFamily="34" charset="0"/>
              </a:rPr>
              <a:t>YANG MERDEKA.</a:t>
            </a:r>
          </a:p>
        </p:txBody>
      </p:sp>
      <p:sp>
        <p:nvSpPr>
          <p:cNvPr id="3" name="Rectangle 2"/>
          <p:cNvSpPr/>
          <p:nvPr/>
        </p:nvSpPr>
        <p:spPr>
          <a:xfrm>
            <a:off x="309326" y="2852936"/>
            <a:ext cx="3631014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>
                <a:latin typeface="Franklin Gothic Demi Cond" pitchFamily="34" charset="0"/>
              </a:rPr>
              <a:t>PUTUSAN </a:t>
            </a:r>
            <a:r>
              <a:rPr lang="en-US" sz="1000" dirty="0" err="1" smtClean="0">
                <a:latin typeface="Franklin Gothic Demi Cond" pitchFamily="34" charset="0"/>
              </a:rPr>
              <a:t>PUTUSAN</a:t>
            </a:r>
            <a:r>
              <a:rPr lang="en-US" sz="1000" dirty="0" smtClean="0">
                <a:latin typeface="Franklin Gothic Demi Cond" pitchFamily="34" charset="0"/>
              </a:rPr>
              <a:t>  PENTING YANG DIHASILKAN SBB :</a:t>
            </a:r>
          </a:p>
          <a:p>
            <a:pPr marL="117475" indent="-117475">
              <a:spcBef>
                <a:spcPts val="600"/>
              </a:spcBef>
            </a:pPr>
            <a:r>
              <a:rPr lang="en-US" sz="1000" dirty="0" smtClean="0">
                <a:latin typeface="Franklin Gothic Demi Cond" pitchFamily="34" charset="0"/>
              </a:rPr>
              <a:t>1. MENGESAHKAN UNDANG-UNDANG DASAR NEGARA (UUD ‘45) YANG TERDIRI ATAS </a:t>
            </a:r>
            <a:r>
              <a:rPr lang="nl-NL" sz="1000" dirty="0" smtClean="0">
                <a:latin typeface="Franklin Gothic Demi Cond" pitchFamily="34" charset="0"/>
              </a:rPr>
              <a:t>PEMBUKAAN DAN BATANG TUBUH. NASKAH PEMBUKAAN BERASAL DARI PIAGAM </a:t>
            </a:r>
            <a:r>
              <a:rPr lang="en-US" sz="1000" dirty="0" smtClean="0">
                <a:latin typeface="Franklin Gothic Demi Cond" pitchFamily="34" charset="0"/>
              </a:rPr>
              <a:t>JAKARTA DENGAN SEJUMLAH PERUBAHAN. BATANG TUBUH JUGA BERASAL DARI RANCANGAN BPUPKI DENGAN SEJUMLAH PERUBAHAN PULA.</a:t>
            </a:r>
          </a:p>
          <a:p>
            <a:pPr marL="117475" indent="-117475">
              <a:spcBef>
                <a:spcPts val="600"/>
              </a:spcBef>
            </a:pPr>
            <a:r>
              <a:rPr lang="sv-SE" sz="1000" dirty="0" smtClean="0">
                <a:latin typeface="Franklin Gothic Demi Cond" pitchFamily="34" charset="0"/>
              </a:rPr>
              <a:t>2. MEMILIH PRESIDEN DAN WAKIL PRESIDEN YANG PERTAMA (SOEKARNO DAN HATTA).</a:t>
            </a:r>
          </a:p>
          <a:p>
            <a:pPr marL="117475" indent="-117475">
              <a:spcBef>
                <a:spcPts val="600"/>
              </a:spcBef>
            </a:pPr>
            <a:r>
              <a:rPr lang="en-US" sz="1000" dirty="0" smtClean="0">
                <a:latin typeface="Franklin Gothic Demi Cond" pitchFamily="34" charset="0"/>
              </a:rPr>
              <a:t>3. MEMBENTUK KNIP</a:t>
            </a:r>
            <a:endParaRPr lang="en-US" sz="1000" dirty="0">
              <a:latin typeface="Franklin Gothic Demi Cond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90250" y="2924944"/>
            <a:ext cx="232983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>
                <a:latin typeface="Franklin Gothic Demi Cond" pitchFamily="34" charset="0"/>
              </a:rPr>
              <a:t>Rumusan</a:t>
            </a:r>
            <a:r>
              <a:rPr lang="en-US" sz="1000" dirty="0">
                <a:latin typeface="Franklin Gothic Demi Cond" pitchFamily="34" charset="0"/>
              </a:rPr>
              <a:t> </a:t>
            </a:r>
            <a:r>
              <a:rPr lang="en-US" sz="1000" dirty="0" err="1">
                <a:latin typeface="Franklin Gothic Demi Cond" pitchFamily="34" charset="0"/>
              </a:rPr>
              <a:t>Pancasila</a:t>
            </a:r>
            <a:r>
              <a:rPr lang="en-US" sz="1000" dirty="0">
                <a:latin typeface="Franklin Gothic Demi Cond" pitchFamily="34" charset="0"/>
              </a:rPr>
              <a:t> </a:t>
            </a:r>
            <a:r>
              <a:rPr lang="en-US" sz="1000" dirty="0" err="1">
                <a:latin typeface="Franklin Gothic Demi Cond" pitchFamily="34" charset="0"/>
              </a:rPr>
              <a:t>dalam</a:t>
            </a:r>
            <a:r>
              <a:rPr lang="en-US" sz="1000" dirty="0">
                <a:latin typeface="Franklin Gothic Demi Cond" pitchFamily="34" charset="0"/>
              </a:rPr>
              <a:t> </a:t>
            </a:r>
            <a:r>
              <a:rPr lang="en-US" sz="1000" dirty="0" err="1">
                <a:latin typeface="Franklin Gothic Demi Cond" pitchFamily="34" charset="0"/>
              </a:rPr>
              <a:t>Pembukaan</a:t>
            </a:r>
            <a:r>
              <a:rPr lang="en-US" sz="1000" dirty="0">
                <a:latin typeface="Franklin Gothic Demi Cond" pitchFamily="34" charset="0"/>
              </a:rPr>
              <a:t> UUD 1945 </a:t>
            </a:r>
            <a:r>
              <a:rPr lang="en-US" sz="1000" dirty="0" err="1">
                <a:latin typeface="Franklin Gothic Demi Cond" pitchFamily="34" charset="0"/>
              </a:rPr>
              <a:t>adalah</a:t>
            </a:r>
            <a:r>
              <a:rPr lang="en-US" sz="1000" dirty="0">
                <a:latin typeface="Franklin Gothic Demi Cond" pitchFamily="34" charset="0"/>
              </a:rPr>
              <a:t> </a:t>
            </a:r>
            <a:r>
              <a:rPr lang="en-US" sz="1000" dirty="0" err="1" smtClean="0">
                <a:latin typeface="Franklin Gothic Demi Cond" pitchFamily="34" charset="0"/>
              </a:rPr>
              <a:t>sbb</a:t>
            </a:r>
            <a:r>
              <a:rPr lang="en-US" sz="1000" dirty="0" smtClean="0">
                <a:latin typeface="Franklin Gothic Demi Cond" pitchFamily="34" charset="0"/>
              </a:rPr>
              <a:t>  :</a:t>
            </a:r>
            <a:endParaRPr lang="en-US" sz="1000" dirty="0">
              <a:latin typeface="Franklin Gothic Demi Cond" pitchFamily="34" charset="0"/>
            </a:endParaRPr>
          </a:p>
          <a:p>
            <a:pPr marL="117475" indent="-117475"/>
            <a:r>
              <a:rPr lang="fi-FI" sz="1000" dirty="0">
                <a:latin typeface="Franklin Gothic Demi Cond" pitchFamily="34" charset="0"/>
              </a:rPr>
              <a:t>1. Ketuhanan Yang Maha Esa.</a:t>
            </a:r>
          </a:p>
          <a:p>
            <a:pPr marL="117475" indent="-117475"/>
            <a:r>
              <a:rPr lang="en-US" sz="1000" dirty="0">
                <a:latin typeface="Franklin Gothic Demi Cond" pitchFamily="34" charset="0"/>
              </a:rPr>
              <a:t>2. </a:t>
            </a:r>
            <a:r>
              <a:rPr lang="en-US" sz="1000" dirty="0" err="1">
                <a:latin typeface="Franklin Gothic Demi Cond" pitchFamily="34" charset="0"/>
              </a:rPr>
              <a:t>Kemanusiaan</a:t>
            </a:r>
            <a:r>
              <a:rPr lang="en-US" sz="1000" dirty="0">
                <a:latin typeface="Franklin Gothic Demi Cond" pitchFamily="34" charset="0"/>
              </a:rPr>
              <a:t> yang </a:t>
            </a:r>
            <a:r>
              <a:rPr lang="en-US" sz="1000" dirty="0" err="1">
                <a:latin typeface="Franklin Gothic Demi Cond" pitchFamily="34" charset="0"/>
              </a:rPr>
              <a:t>adil</a:t>
            </a:r>
            <a:r>
              <a:rPr lang="en-US" sz="1000" dirty="0">
                <a:latin typeface="Franklin Gothic Demi Cond" pitchFamily="34" charset="0"/>
              </a:rPr>
              <a:t> </a:t>
            </a:r>
            <a:r>
              <a:rPr lang="en-US" sz="1000" dirty="0" err="1">
                <a:latin typeface="Franklin Gothic Demi Cond" pitchFamily="34" charset="0"/>
              </a:rPr>
              <a:t>dan</a:t>
            </a:r>
            <a:r>
              <a:rPr lang="en-US" sz="1000" dirty="0">
                <a:latin typeface="Franklin Gothic Demi Cond" pitchFamily="34" charset="0"/>
              </a:rPr>
              <a:t> </a:t>
            </a:r>
            <a:r>
              <a:rPr lang="en-US" sz="1000" dirty="0" err="1">
                <a:latin typeface="Franklin Gothic Demi Cond" pitchFamily="34" charset="0"/>
              </a:rPr>
              <a:t>beradab</a:t>
            </a:r>
            <a:r>
              <a:rPr lang="en-US" sz="1000" dirty="0">
                <a:latin typeface="Franklin Gothic Demi Cond" pitchFamily="34" charset="0"/>
              </a:rPr>
              <a:t>.</a:t>
            </a:r>
          </a:p>
          <a:p>
            <a:pPr marL="117475" indent="-117475"/>
            <a:r>
              <a:rPr lang="en-US" sz="1000" dirty="0">
                <a:latin typeface="Franklin Gothic Demi Cond" pitchFamily="34" charset="0"/>
              </a:rPr>
              <a:t>3. </a:t>
            </a:r>
            <a:r>
              <a:rPr lang="en-US" sz="1000" dirty="0" err="1">
                <a:latin typeface="Franklin Gothic Demi Cond" pitchFamily="34" charset="0"/>
              </a:rPr>
              <a:t>Persatuan</a:t>
            </a:r>
            <a:r>
              <a:rPr lang="en-US" sz="1000" dirty="0">
                <a:latin typeface="Franklin Gothic Demi Cond" pitchFamily="34" charset="0"/>
              </a:rPr>
              <a:t> Indonesia.</a:t>
            </a:r>
          </a:p>
          <a:p>
            <a:pPr marL="117475" indent="-117475"/>
            <a:r>
              <a:rPr lang="fi-FI" sz="1000" dirty="0">
                <a:latin typeface="Franklin Gothic Demi Cond" pitchFamily="34" charset="0"/>
              </a:rPr>
              <a:t>4. Kerakyatan yang dipimpin oleh hikmat kebijaksanaan </a:t>
            </a:r>
            <a:r>
              <a:rPr lang="fi-FI" sz="1000" dirty="0" smtClean="0">
                <a:latin typeface="Franklin Gothic Demi Cond" pitchFamily="34" charset="0"/>
              </a:rPr>
              <a:t>dalam </a:t>
            </a:r>
            <a:r>
              <a:rPr lang="en-US" sz="1000" dirty="0" err="1" smtClean="0">
                <a:latin typeface="Franklin Gothic Demi Cond" pitchFamily="34" charset="0"/>
              </a:rPr>
              <a:t>permusyawaratan</a:t>
            </a:r>
            <a:r>
              <a:rPr lang="en-US" sz="1000" dirty="0" smtClean="0">
                <a:latin typeface="Franklin Gothic Demi Cond" pitchFamily="34" charset="0"/>
              </a:rPr>
              <a:t>/</a:t>
            </a:r>
            <a:r>
              <a:rPr lang="en-US" sz="1000" dirty="0">
                <a:latin typeface="Franklin Gothic Demi Cond" pitchFamily="34" charset="0"/>
              </a:rPr>
              <a:t> </a:t>
            </a:r>
            <a:r>
              <a:rPr lang="en-US" sz="1000" dirty="0" err="1" smtClean="0">
                <a:latin typeface="Franklin Gothic Demi Cond" pitchFamily="34" charset="0"/>
              </a:rPr>
              <a:t>perwakilan</a:t>
            </a:r>
            <a:r>
              <a:rPr lang="en-US" sz="1000" dirty="0">
                <a:latin typeface="Franklin Gothic Demi Cond" pitchFamily="34" charset="0"/>
              </a:rPr>
              <a:t>.</a:t>
            </a:r>
          </a:p>
          <a:p>
            <a:pPr marL="117475" indent="-117475"/>
            <a:r>
              <a:rPr lang="en-US" sz="1000" dirty="0">
                <a:latin typeface="Franklin Gothic Demi Cond" pitchFamily="34" charset="0"/>
              </a:rPr>
              <a:t>5. </a:t>
            </a:r>
            <a:r>
              <a:rPr lang="en-US" sz="1000" dirty="0" err="1">
                <a:latin typeface="Franklin Gothic Demi Cond" pitchFamily="34" charset="0"/>
              </a:rPr>
              <a:t>Keadilan</a:t>
            </a:r>
            <a:r>
              <a:rPr lang="en-US" sz="1000" dirty="0">
                <a:latin typeface="Franklin Gothic Demi Cond" pitchFamily="34" charset="0"/>
              </a:rPr>
              <a:t> </a:t>
            </a:r>
            <a:r>
              <a:rPr lang="en-US" sz="1000" dirty="0" err="1">
                <a:latin typeface="Franklin Gothic Demi Cond" pitchFamily="34" charset="0"/>
              </a:rPr>
              <a:t>sosial</a:t>
            </a:r>
            <a:r>
              <a:rPr lang="en-US" sz="1000" dirty="0">
                <a:latin typeface="Franklin Gothic Demi Cond" pitchFamily="34" charset="0"/>
              </a:rPr>
              <a:t> </a:t>
            </a:r>
            <a:r>
              <a:rPr lang="en-US" sz="1000" dirty="0" err="1">
                <a:latin typeface="Franklin Gothic Demi Cond" pitchFamily="34" charset="0"/>
              </a:rPr>
              <a:t>bagi</a:t>
            </a:r>
            <a:r>
              <a:rPr lang="en-US" sz="1000" dirty="0">
                <a:latin typeface="Franklin Gothic Demi Cond" pitchFamily="34" charset="0"/>
              </a:rPr>
              <a:t> </a:t>
            </a:r>
            <a:r>
              <a:rPr lang="en-US" sz="1000" dirty="0" err="1">
                <a:latin typeface="Franklin Gothic Demi Cond" pitchFamily="34" charset="0"/>
              </a:rPr>
              <a:t>seluruh</a:t>
            </a:r>
            <a:r>
              <a:rPr lang="en-US" sz="1000" dirty="0">
                <a:latin typeface="Franklin Gothic Demi Cond" pitchFamily="34" charset="0"/>
              </a:rPr>
              <a:t> </a:t>
            </a:r>
            <a:r>
              <a:rPr lang="en-US" sz="1000" dirty="0" err="1">
                <a:latin typeface="Franklin Gothic Demi Cond" pitchFamily="34" charset="0"/>
              </a:rPr>
              <a:t>rakyat</a:t>
            </a:r>
            <a:r>
              <a:rPr lang="en-US" sz="1000" dirty="0">
                <a:latin typeface="Franklin Gothic Demi Cond" pitchFamily="34" charset="0"/>
              </a:rPr>
              <a:t> Indonesia.</a:t>
            </a:r>
          </a:p>
        </p:txBody>
      </p:sp>
    </p:spTree>
    <p:extLst>
      <p:ext uri="{BB962C8B-B14F-4D97-AF65-F5344CB8AC3E}">
        <p14:creationId xmlns:p14="http://schemas.microsoft.com/office/powerpoint/2010/main" val="5026992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1" grpId="0" animBg="1"/>
      <p:bldP spid="25" grpId="0" animBg="1"/>
      <p:bldP spid="2" grpId="0" animBg="1"/>
      <p:bldP spid="21" grpId="0" animBg="1"/>
      <p:bldP spid="24" grpId="0" animBg="1"/>
      <p:bldP spid="17" grpId="0" animBg="1"/>
      <p:bldP spid="23" grpId="0" animBg="1"/>
      <p:bldP spid="16" grpId="0" animBg="1"/>
      <p:bldP spid="18" grpId="0" animBg="1"/>
      <p:bldP spid="20" grpId="0" animBg="1"/>
      <p:bldP spid="19" grpId="0" animBg="1"/>
      <p:bldP spid="27" grpId="0"/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10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401428" y="692696"/>
            <a:ext cx="5554947" cy="637703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DIPERLUKANNYA PANCASILA</a:t>
            </a:r>
          </a:p>
          <a:p>
            <a:pPr marL="404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i-FI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DALAM </a:t>
            </a:r>
            <a:r>
              <a:rPr lang="en-US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KAJIAN </a:t>
            </a:r>
            <a:r>
              <a:rPr lang="en-US" sz="1600" b="1" spc="150" dirty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</a:t>
            </a:r>
            <a:r>
              <a:rPr lang="en-US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INDONESIA</a:t>
            </a:r>
            <a:endParaRPr lang="en-US" sz="4000" b="1" spc="150" dirty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990043" y="620688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073756" y="1520529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IDENTITAS 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INDONESIA</a:t>
            </a:r>
            <a:endParaRPr lang="id-ID" sz="1400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21705" y="2543638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KEPRIBADIAN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INDONESIA</a:t>
            </a:r>
            <a:endParaRPr lang="id-ID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117649" y="3563448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PANDANGAN HIDUP  BANGSA INDONESIA</a:t>
            </a:r>
            <a:endParaRPr lang="id-ID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 rot="19629558">
            <a:off x="3914448" y="1844205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 rot="19629558">
            <a:off x="3468208" y="2871160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 rot="19629558">
            <a:off x="2964152" y="3901962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3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685601" y="4578705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JIWA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</a:t>
            </a:r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INDONESIA</a:t>
            </a:r>
            <a:endParaRPr lang="id-ID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 rot="19629558">
            <a:off x="2532104" y="4917219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4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253553" y="5590305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PERJANJIAN LUHUR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</a:t>
            </a:r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INDONESIA</a:t>
            </a:r>
            <a:endParaRPr lang="id-ID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 rot="19629558">
            <a:off x="2100056" y="5928819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5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9" name="WordArt 2"/>
          <p:cNvSpPr>
            <a:spLocks noChangeArrowheads="1" noChangeShapeType="1" noTextEdit="1"/>
          </p:cNvSpPr>
          <p:nvPr/>
        </p:nvSpPr>
        <p:spPr bwMode="auto">
          <a:xfrm rot="17644978">
            <a:off x="-185650" y="3841312"/>
            <a:ext cx="5628404" cy="42986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dalam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kajian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sejarah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bangsa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Indonesia</a:t>
            </a:r>
            <a:endParaRPr lang="en-US" sz="3600" b="1" i="1" u="sng" kern="10" dirty="0">
              <a:ln w="19050">
                <a:solidFill>
                  <a:schemeClr val="bg1"/>
                </a:solidFill>
              </a:ln>
              <a:solidFill>
                <a:srgbClr val="0000FF"/>
              </a:solidFill>
              <a:latin typeface="Franklin Gothic Heavy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7424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1" animBg="1"/>
      <p:bldP spid="14" grpId="1" animBg="1"/>
      <p:bldP spid="18" grpId="1" animBg="1"/>
      <p:bldP spid="19" grpId="0" animBg="1"/>
      <p:bldP spid="20" grpId="0" animBg="1"/>
      <p:bldP spid="21" grpId="0" animBg="1"/>
      <p:bldP spid="23" grpId="1" animBg="1"/>
      <p:bldP spid="24" grpId="0" animBg="1"/>
      <p:bldP spid="27" grpId="1" animBg="1"/>
      <p:bldP spid="28" grpId="0" animBg="1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323529" y="224644"/>
            <a:ext cx="8640960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11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401428" y="692696"/>
            <a:ext cx="5554947" cy="637703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DIPERLUKANNYA PANCASILA</a:t>
            </a:r>
          </a:p>
          <a:p>
            <a:pPr marL="404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i-FI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DALAM </a:t>
            </a:r>
            <a:r>
              <a:rPr lang="en-US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KAJIAN </a:t>
            </a:r>
            <a:r>
              <a:rPr lang="en-US" sz="1600" b="1" spc="150" dirty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</a:t>
            </a:r>
            <a:r>
              <a:rPr lang="en-US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INDONESIA</a:t>
            </a:r>
            <a:endParaRPr lang="en-US" sz="4000" b="1" spc="150" dirty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990043" y="620688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461465" y="2543638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KEPRIBADIAN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INDONESIA</a:t>
            </a:r>
            <a:endParaRPr lang="id-ID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57409" y="3563448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PANDANGAN HIDUP  BANGSA INDONESIA</a:t>
            </a:r>
            <a:endParaRPr lang="id-ID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 rot="19629558">
            <a:off x="1307968" y="2871160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 rot="19629558">
            <a:off x="803912" y="3901962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3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25361" y="4578705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JIWA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</a:t>
            </a:r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INDONESIA</a:t>
            </a:r>
            <a:endParaRPr lang="id-ID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 rot="19629558">
            <a:off x="371864" y="4917219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4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3313" y="5590305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PERJANJIAN LUHUR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</a:t>
            </a:r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INDONESIA</a:t>
            </a:r>
            <a:endParaRPr lang="id-ID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 rot="19629558">
            <a:off x="-60184" y="5928819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5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9" name="WordArt 2"/>
          <p:cNvSpPr>
            <a:spLocks noChangeArrowheads="1" noChangeShapeType="1" noTextEdit="1"/>
          </p:cNvSpPr>
          <p:nvPr/>
        </p:nvSpPr>
        <p:spPr bwMode="auto">
          <a:xfrm rot="17644978">
            <a:off x="-185650" y="3841312"/>
            <a:ext cx="5628404" cy="42986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dalam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kajian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sejarah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bangsa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Indonesia</a:t>
            </a:r>
            <a:endParaRPr lang="en-US" sz="3600" b="1" i="1" u="sng" kern="10" dirty="0">
              <a:ln w="19050">
                <a:solidFill>
                  <a:schemeClr val="bg1"/>
                </a:solidFill>
              </a:ln>
              <a:solidFill>
                <a:srgbClr val="0000FF"/>
              </a:solidFill>
              <a:latin typeface="Franklin Gothic Heavy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012160" y="1630541"/>
            <a:ext cx="27851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200" dirty="0" smtClean="0">
                <a:solidFill>
                  <a:schemeClr val="bg1"/>
                </a:solidFill>
                <a:latin typeface="Franklin Gothic Demi Cond" pitchFamily="34" charset="0"/>
              </a:rPr>
              <a:t>setiap BANGSA mana pun di dunia ini pasti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memiliki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IDENTITAS yang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sesuai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dengan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latar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belakang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BUDAYA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masing-masing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  <a:endParaRPr lang="en-US" sz="12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073756" y="2773637"/>
            <a:ext cx="4818724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BUDAYA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merupakan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proses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cipta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, rasa,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karsa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yang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perlu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dikelola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dikembangkan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secara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terus-menerus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. </a:t>
            </a:r>
            <a:endParaRPr lang="en-US" sz="12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BUDAYA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dapat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membentuk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identitas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suatu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bangsa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melalui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proses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inkulturasi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akulturasi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. </a:t>
            </a:r>
            <a:endParaRPr lang="en-US" sz="12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PANCASILA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sebagai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identitas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bangsa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Indonesia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merupakan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konsekuensi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dari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proses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inkulturasi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akulturasi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tersebut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</a:p>
        </p:txBody>
      </p:sp>
      <p:sp>
        <p:nvSpPr>
          <p:cNvPr id="2" name="Rectangle 1"/>
          <p:cNvSpPr/>
          <p:nvPr/>
        </p:nvSpPr>
        <p:spPr>
          <a:xfrm>
            <a:off x="3203848" y="4318645"/>
            <a:ext cx="3456384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inkulturasi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yaitu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proses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perpaduan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berbagai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elemen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budaya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kehidupan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masyarakat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sehingga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menjadikan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masyarakat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berkembang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secara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dinamis</a:t>
            </a:r>
            <a:endParaRPr lang="en-US" sz="12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akulturas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adalah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perubahan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besar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terjadi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sebagai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akibat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dr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kontak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antar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kebudayaan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yg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berlangsung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lama</a:t>
            </a:r>
            <a:endParaRPr lang="en-US" sz="12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074532" y="4578705"/>
            <a:ext cx="1817948" cy="863144"/>
          </a:xfrm>
          <a:prstGeom prst="roundRect">
            <a:avLst>
              <a:gd name="adj" fmla="val 7746"/>
            </a:avLst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ctr"/>
            <a:r>
              <a:rPr lang="id-ID" sz="1200" dirty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PANCASILA </a:t>
            </a:r>
            <a:r>
              <a:rPr lang="sv-SE" sz="1200" dirty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 DIGALI DARI</a:t>
            </a:r>
          </a:p>
          <a:p>
            <a:pPr algn="ctr"/>
            <a:r>
              <a:rPr lang="en-US" sz="12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BUDAYA/KEHIDUPAN NENEK MOYANG </a:t>
            </a:r>
            <a:r>
              <a:rPr lang="id-ID" sz="12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BANGSA </a:t>
            </a:r>
            <a:r>
              <a:rPr lang="id-ID" sz="1200" dirty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INDONESIA </a:t>
            </a:r>
          </a:p>
        </p:txBody>
      </p:sp>
      <p:sp>
        <p:nvSpPr>
          <p:cNvPr id="5" name="Down Arrow 4"/>
          <p:cNvSpPr/>
          <p:nvPr/>
        </p:nvSpPr>
        <p:spPr>
          <a:xfrm>
            <a:off x="5364088" y="2348880"/>
            <a:ext cx="1872208" cy="489204"/>
          </a:xfrm>
          <a:prstGeom prst="downArrow">
            <a:avLst>
              <a:gd name="adj1" fmla="val 64766"/>
              <a:gd name="adj2" fmla="val 50000"/>
            </a:avLst>
          </a:prstGeom>
          <a:solidFill>
            <a:srgbClr val="6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4073756" y="1520529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tx1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IDENTITAS 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INDONESIA</a:t>
            </a:r>
            <a:endParaRPr lang="id-ID" sz="1400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 rot="19629558">
            <a:off x="3914448" y="1844205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32" name="Down Arrow 31"/>
          <p:cNvSpPr/>
          <p:nvPr/>
        </p:nvSpPr>
        <p:spPr>
          <a:xfrm>
            <a:off x="7308305" y="3933056"/>
            <a:ext cx="1152127" cy="648072"/>
          </a:xfrm>
          <a:prstGeom prst="downArrow">
            <a:avLst>
              <a:gd name="adj1" fmla="val 61074"/>
              <a:gd name="adj2" fmla="val 39133"/>
            </a:avLst>
          </a:prstGeom>
          <a:solidFill>
            <a:srgbClr val="6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own Arrow 32"/>
          <p:cNvSpPr/>
          <p:nvPr/>
        </p:nvSpPr>
        <p:spPr>
          <a:xfrm rot="10800000">
            <a:off x="4308630" y="4113796"/>
            <a:ext cx="816631" cy="251308"/>
          </a:xfrm>
          <a:prstGeom prst="downArrow">
            <a:avLst>
              <a:gd name="adj1" fmla="val 64766"/>
              <a:gd name="adj2" fmla="val 56987"/>
            </a:avLst>
          </a:prstGeom>
          <a:solidFill>
            <a:srgbClr val="6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own Arrow 33"/>
          <p:cNvSpPr/>
          <p:nvPr/>
        </p:nvSpPr>
        <p:spPr>
          <a:xfrm>
            <a:off x="7074532" y="5417711"/>
            <a:ext cx="1152127" cy="315545"/>
          </a:xfrm>
          <a:prstGeom prst="downArrow">
            <a:avLst>
              <a:gd name="adj1" fmla="val 64766"/>
              <a:gd name="adj2" fmla="val 52611"/>
            </a:avLst>
          </a:prstGeom>
          <a:solidFill>
            <a:srgbClr val="6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3347864" y="5769501"/>
            <a:ext cx="5328592" cy="683835"/>
          </a:xfrm>
          <a:prstGeom prst="roundRect">
            <a:avLst>
              <a:gd name="adj" fmla="val 9473"/>
            </a:avLst>
          </a:prstGeom>
          <a:solidFill>
            <a:srgbClr val="700000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lang="id-ID" sz="1200" dirty="0">
                <a:solidFill>
                  <a:srgbClr val="FFFF00"/>
                </a:solidFill>
                <a:latin typeface="Franklin Gothic Demi Cond" pitchFamily="34" charset="0"/>
              </a:rPr>
              <a:t>BANGSA INDONESIA PADA DASARNYA ADALAH </a:t>
            </a:r>
          </a:p>
          <a:p>
            <a:pPr algn="r"/>
            <a:r>
              <a:rPr lang="id-ID" sz="1200" dirty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BANGSA YANG RELIGIUS,  HUMANIS, MENYUKAI PERSATUAN/ KEKELUARGAAN, SUKA BERMUSYAWARAH DAN LEBIH  MEMENTINGKAN KEPENTINGAN BERSAMA</a:t>
            </a:r>
          </a:p>
        </p:txBody>
      </p:sp>
      <p:sp>
        <p:nvSpPr>
          <p:cNvPr id="36" name="Down Arrow 35"/>
          <p:cNvSpPr/>
          <p:nvPr/>
        </p:nvSpPr>
        <p:spPr>
          <a:xfrm rot="16200000">
            <a:off x="6398553" y="4783395"/>
            <a:ext cx="864096" cy="315545"/>
          </a:xfrm>
          <a:prstGeom prst="downArrow">
            <a:avLst>
              <a:gd name="adj1" fmla="val 64766"/>
              <a:gd name="adj2" fmla="val 52611"/>
            </a:avLst>
          </a:prstGeom>
          <a:solidFill>
            <a:srgbClr val="6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226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7" grpId="0" animBg="1"/>
      <p:bldP spid="28" grpId="0" animBg="1"/>
      <p:bldP spid="29" grpId="0"/>
      <p:bldP spid="30" grpId="0"/>
      <p:bldP spid="31" grpId="0"/>
      <p:bldP spid="2" grpId="0"/>
      <p:bldP spid="4" grpId="0" animBg="1"/>
      <p:bldP spid="5" grpId="0" animBg="1"/>
      <p:bldP spid="12" grpId="0" animBg="1"/>
      <p:bldP spid="19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251520" y="224644"/>
            <a:ext cx="8686084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12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401428" y="692696"/>
            <a:ext cx="5554947" cy="637703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DIPERLUKANNYA PANCASILA</a:t>
            </a:r>
          </a:p>
          <a:p>
            <a:pPr marL="404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i-FI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DALAM </a:t>
            </a:r>
            <a:r>
              <a:rPr lang="en-US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KAJIAN </a:t>
            </a:r>
            <a:r>
              <a:rPr lang="en-US" sz="1600" b="1" spc="150" dirty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</a:t>
            </a:r>
            <a:r>
              <a:rPr lang="en-US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INDONESIA</a:t>
            </a:r>
            <a:endParaRPr lang="en-US" sz="4000" b="1" spc="150" dirty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990043" y="620688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913516" y="1520529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IDENTITAS 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INDONESIA</a:t>
            </a:r>
            <a:endParaRPr lang="id-ID" sz="14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57409" y="3563448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PANDANGAN HIDUP  BANGSA INDONESIA</a:t>
            </a:r>
            <a:endParaRPr lang="id-ID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 rot="19629558">
            <a:off x="1754208" y="1844205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 rot="19629558">
            <a:off x="803912" y="3901962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3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25361" y="4578705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JIWA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</a:t>
            </a:r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INDONESIA</a:t>
            </a:r>
            <a:endParaRPr lang="id-ID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 rot="19629558">
            <a:off x="371864" y="4917219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4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3313" y="5590305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PERJANJIAN LUHUR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</a:t>
            </a:r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INDONESIA</a:t>
            </a:r>
            <a:endParaRPr lang="id-ID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 rot="19629558">
            <a:off x="-60184" y="5928819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5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9" name="WordArt 2"/>
          <p:cNvSpPr>
            <a:spLocks noChangeArrowheads="1" noChangeShapeType="1" noTextEdit="1"/>
          </p:cNvSpPr>
          <p:nvPr/>
        </p:nvSpPr>
        <p:spPr bwMode="auto">
          <a:xfrm rot="17644978">
            <a:off x="-185650" y="3841312"/>
            <a:ext cx="5628404" cy="42986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dalam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kajian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sejarah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bangsa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Indonesia</a:t>
            </a:r>
            <a:endParaRPr lang="en-US" sz="3600" b="1" i="1" u="sng" kern="10" dirty="0">
              <a:ln w="19050">
                <a:solidFill>
                  <a:schemeClr val="bg1"/>
                </a:solidFill>
              </a:ln>
              <a:solidFill>
                <a:srgbClr val="0000FF"/>
              </a:solidFill>
              <a:latin typeface="Franklin Gothic Heavy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670375" y="2485345"/>
            <a:ext cx="32221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artinya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nilai-nilai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fi-FI" sz="1200" dirty="0" smtClean="0">
                <a:solidFill>
                  <a:schemeClr val="bg1"/>
                </a:solidFill>
                <a:latin typeface="Franklin Gothic Demi Cond" pitchFamily="34" charset="0"/>
              </a:rPr>
              <a:t>ketuhanan</a:t>
            </a:r>
            <a:r>
              <a:rPr lang="fi-FI" sz="1200" dirty="0">
                <a:solidFill>
                  <a:schemeClr val="bg1"/>
                </a:solidFill>
                <a:latin typeface="Franklin Gothic Demi Cond" pitchFamily="34" charset="0"/>
              </a:rPr>
              <a:t>, kemanusiaan, persatuan, kerakyatan, dan keadilan </a:t>
            </a:r>
            <a:r>
              <a:rPr lang="fi-FI" sz="1200" dirty="0">
                <a:solidFill>
                  <a:srgbClr val="FFFF00"/>
                </a:solidFill>
                <a:latin typeface="Franklin Gothic Demi Cond" pitchFamily="34" charset="0"/>
              </a:rPr>
              <a:t>diwujudkan</a:t>
            </a:r>
          </a:p>
          <a:p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SIKAP MENTAL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TINGKAH LAKU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serta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AMAL PERBUATAN</a:t>
            </a:r>
            <a:endParaRPr lang="en-US" sz="12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83968" y="3798619"/>
            <a:ext cx="4608512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SIKAP MENTAL, TINGKAH LAKU DAN PERBUATAN BANGSA INDONESIA MEMPUNYAI CIRI KHAS, ARTINYA DPT DIBEDAKAN DG BANGSA LAIN</a:t>
            </a:r>
          </a:p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MESKIPUN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NILAI KETUHANAN,</a:t>
            </a:r>
            <a:r>
              <a:rPr lang="fi-FI" sz="1200" dirty="0" smtClean="0">
                <a:solidFill>
                  <a:srgbClr val="FFFF00"/>
                </a:solidFill>
                <a:latin typeface="Franklin Gothic Demi Cond" pitchFamily="34" charset="0"/>
              </a:rPr>
              <a:t>KEMANUSIAAN, PERSATUAN, KERAKYATAN, DAN KEADILAN</a:t>
            </a:r>
            <a:r>
              <a:rPr lang="fi-FI" sz="1200" dirty="0" smtClean="0">
                <a:solidFill>
                  <a:schemeClr val="bg1"/>
                </a:solidFill>
                <a:latin typeface="Franklin Gothic Demi Cond" pitchFamily="34" charset="0"/>
              </a:rPr>
              <a:t> JUGA TERDAPAT DALAM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IDEOLOGI BANGSA-BANGSA LAIN, TETAPI BAGI BANGSA INDONESIA KELIMA SILA TERSEBUT MENCERMINKAN KEPRIBADIAN BANGSA KARENA DIANGKAT DARI NILAI-NILAI KEHIDUPAN MASYARAKAT INDONESIA SENDIRI DAN DILAKSANAKAN SECARA SIMULTAN.</a:t>
            </a:r>
            <a:endParaRPr lang="en-US" sz="12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12368" y="559098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Nilainilai</a:t>
            </a:r>
            <a:endParaRPr lang="en-US" sz="1200" dirty="0">
              <a:solidFill>
                <a:srgbClr val="FFFF00"/>
              </a:solidFill>
              <a:latin typeface="Franklin Gothic Demi Cond" pitchFamily="34" charset="0"/>
            </a:endParaRPr>
          </a:p>
          <a:p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SPIRITUAL, SISTEM PEREKONOMIAN, POLITIK, BUDAYA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merupakan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contoh</a:t>
            </a:r>
            <a:endParaRPr lang="en-US" sz="1200" dirty="0">
              <a:solidFill>
                <a:srgbClr val="FFFF00"/>
              </a:solidFill>
              <a:latin typeface="Franklin Gothic Demi Cond" pitchFamily="34" charset="0"/>
            </a:endParaRPr>
          </a:p>
          <a:p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keunggulan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berakar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dari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kepribadian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masyarakat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Indonesia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sendiri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5076056" y="3356992"/>
            <a:ext cx="1872208" cy="489204"/>
          </a:xfrm>
          <a:prstGeom prst="downArrow">
            <a:avLst>
              <a:gd name="adj1" fmla="val 64766"/>
              <a:gd name="adj2" fmla="val 50000"/>
            </a:avLst>
          </a:prstGeom>
          <a:solidFill>
            <a:srgbClr val="6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own Arrow 30"/>
          <p:cNvSpPr/>
          <p:nvPr/>
        </p:nvSpPr>
        <p:spPr>
          <a:xfrm>
            <a:off x="4283968" y="5459879"/>
            <a:ext cx="1152127" cy="315545"/>
          </a:xfrm>
          <a:prstGeom prst="downArrow">
            <a:avLst>
              <a:gd name="adj1" fmla="val 64766"/>
              <a:gd name="adj2" fmla="val 52611"/>
            </a:avLst>
          </a:prstGeom>
          <a:solidFill>
            <a:srgbClr val="6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own Arrow 32"/>
          <p:cNvSpPr/>
          <p:nvPr/>
        </p:nvSpPr>
        <p:spPr>
          <a:xfrm>
            <a:off x="5076056" y="3360652"/>
            <a:ext cx="1872208" cy="489204"/>
          </a:xfrm>
          <a:prstGeom prst="downArrow">
            <a:avLst>
              <a:gd name="adj1" fmla="val 64766"/>
              <a:gd name="adj2" fmla="val 50000"/>
            </a:avLst>
          </a:prstGeom>
          <a:solidFill>
            <a:srgbClr val="6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own Arrow 33"/>
          <p:cNvSpPr/>
          <p:nvPr/>
        </p:nvSpPr>
        <p:spPr>
          <a:xfrm>
            <a:off x="4283968" y="5463539"/>
            <a:ext cx="1152127" cy="315545"/>
          </a:xfrm>
          <a:prstGeom prst="downArrow">
            <a:avLst>
              <a:gd name="adj1" fmla="val 64766"/>
              <a:gd name="adj2" fmla="val 52611"/>
            </a:avLst>
          </a:prstGeom>
          <a:solidFill>
            <a:srgbClr val="6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3621705" y="2543638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tx1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KEPRIBADIAN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INDONESIA</a:t>
            </a:r>
            <a:endParaRPr lang="id-ID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 rot="19629558">
            <a:off x="3468208" y="2871160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7146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 animBg="1"/>
      <p:bldP spid="19" grpId="0" animBg="1"/>
      <p:bldP spid="21" grpId="0" animBg="1"/>
      <p:bldP spid="23" grpId="0" animBg="1"/>
      <p:bldP spid="24" grpId="0" animBg="1"/>
      <p:bldP spid="27" grpId="0" animBg="1"/>
      <p:bldP spid="28" grpId="0" animBg="1"/>
      <p:bldP spid="29" grpId="0"/>
      <p:bldP spid="2" grpId="0"/>
      <p:bldP spid="3" grpId="0"/>
      <p:bldP spid="4" grpId="0"/>
      <p:bldP spid="30" grpId="0" animBg="1"/>
      <p:bldP spid="31" grpId="0" animBg="1"/>
      <p:bldP spid="33" grpId="0" animBg="1"/>
      <p:bldP spid="34" grpId="0" animBg="1"/>
      <p:bldP spid="14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13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401428" y="692696"/>
            <a:ext cx="5554947" cy="637703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DIPERLUKANNYA PANCASILA</a:t>
            </a:r>
          </a:p>
          <a:p>
            <a:pPr marL="404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i-FI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DALAM </a:t>
            </a:r>
            <a:r>
              <a:rPr lang="en-US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KAJIAN </a:t>
            </a:r>
            <a:r>
              <a:rPr lang="en-US" sz="1600" b="1" spc="150" dirty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</a:t>
            </a:r>
            <a:r>
              <a:rPr lang="en-US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INDONESIA</a:t>
            </a:r>
            <a:endParaRPr lang="en-US" sz="4000" b="1" spc="150" dirty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990043" y="620688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913516" y="1520529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IDENTITAS 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INDONESIA</a:t>
            </a:r>
            <a:endParaRPr lang="id-ID" sz="14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461465" y="2543638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KEPRIBADIAN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INDONESIA</a:t>
            </a:r>
            <a:endParaRPr lang="id-ID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117649" y="3563448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tx1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PANDANGAN HIDUP  BANGSA INDONESIA</a:t>
            </a:r>
            <a:endParaRPr lang="id-ID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 rot="19629558">
            <a:off x="1754208" y="1844205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 rot="19629558">
            <a:off x="1307968" y="2871160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 rot="19629558">
            <a:off x="2964152" y="3901962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3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25361" y="4578705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JIWA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</a:t>
            </a:r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INDONESIA</a:t>
            </a:r>
            <a:endParaRPr lang="id-ID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 rot="19629558">
            <a:off x="371864" y="4917219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4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3313" y="5590305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PERJANJIAN LUHUR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</a:t>
            </a:r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INDONESIA</a:t>
            </a:r>
            <a:endParaRPr lang="id-ID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 rot="19629558">
            <a:off x="-60184" y="5928819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5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9" name="WordArt 2"/>
          <p:cNvSpPr>
            <a:spLocks noChangeArrowheads="1" noChangeShapeType="1" noTextEdit="1"/>
          </p:cNvSpPr>
          <p:nvPr/>
        </p:nvSpPr>
        <p:spPr bwMode="auto">
          <a:xfrm rot="17644978">
            <a:off x="-185650" y="3841312"/>
            <a:ext cx="5628404" cy="42986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dalam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kajian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sejarah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bangsa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Indonesia</a:t>
            </a:r>
            <a:endParaRPr lang="en-US" sz="3600" b="1" i="1" u="sng" kern="10" dirty="0">
              <a:ln w="19050">
                <a:solidFill>
                  <a:schemeClr val="bg1"/>
                </a:solidFill>
              </a:ln>
              <a:solidFill>
                <a:srgbClr val="0000FF"/>
              </a:solidFill>
              <a:latin typeface="Franklin Gothic Heavy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056053" y="3532073"/>
            <a:ext cx="3964031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artinya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endParaRPr lang="en-US" sz="12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nilai-nilai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fi-FI" sz="1200" dirty="0" smtClean="0">
                <a:solidFill>
                  <a:srgbClr val="FFFF00"/>
                </a:solidFill>
                <a:latin typeface="Franklin Gothic Demi Cond" pitchFamily="34" charset="0"/>
              </a:rPr>
              <a:t>KETUHANAN, KEMANUSIAAN, PERSATUAN, KERAKYATAN, </a:t>
            </a:r>
            <a:r>
              <a:rPr lang="fi-FI" sz="1200" dirty="0">
                <a:solidFill>
                  <a:srgbClr val="FFFF00"/>
                </a:solidFill>
                <a:latin typeface="Franklin Gothic Demi Cond" pitchFamily="34" charset="0"/>
              </a:rPr>
              <a:t>dan </a:t>
            </a:r>
            <a:r>
              <a:rPr lang="fi-FI" sz="1200" dirty="0" smtClean="0">
                <a:solidFill>
                  <a:srgbClr val="FFFF00"/>
                </a:solidFill>
                <a:latin typeface="Franklin Gothic Demi Cond" pitchFamily="34" charset="0"/>
              </a:rPr>
              <a:t>KEADILAN :</a:t>
            </a:r>
          </a:p>
          <a:p>
            <a:pPr marL="171450" indent="-171450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fi-FI" sz="1200" dirty="0" smtClean="0">
                <a:solidFill>
                  <a:schemeClr val="bg1"/>
                </a:solidFill>
                <a:latin typeface="Franklin Gothic Demi Cond" pitchFamily="34" charset="0"/>
              </a:rPr>
              <a:t>Diyakini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kebenarannya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kebaikannya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keindahannya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kegunaannya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oleh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bangsa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sv-SE" sz="1200" dirty="0" smtClean="0">
                <a:solidFill>
                  <a:schemeClr val="bg1"/>
                </a:solidFill>
                <a:latin typeface="Franklin Gothic Demi Cond" pitchFamily="34" charset="0"/>
              </a:rPr>
              <a:t>Indonesia </a:t>
            </a:r>
          </a:p>
          <a:p>
            <a:pPr marL="171450" indent="-171450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sv-SE" sz="1200" dirty="0" smtClean="0">
                <a:solidFill>
                  <a:schemeClr val="bg1"/>
                </a:solidFill>
                <a:latin typeface="Franklin Gothic Demi Cond" pitchFamily="34" charset="0"/>
              </a:rPr>
              <a:t>dijadikan </a:t>
            </a:r>
            <a:r>
              <a:rPr lang="sv-SE" sz="1200" dirty="0">
                <a:solidFill>
                  <a:schemeClr val="bg1"/>
                </a:solidFill>
                <a:latin typeface="Franklin Gothic Demi Cond" pitchFamily="34" charset="0"/>
              </a:rPr>
              <a:t>sebagai pedoman kehidupan bermasyarakat </a:t>
            </a:r>
            <a:r>
              <a:rPr lang="sv-SE" sz="1200" dirty="0" smtClean="0">
                <a:solidFill>
                  <a:schemeClr val="bg1"/>
                </a:solidFill>
                <a:latin typeface="Franklin Gothic Demi Cond" pitchFamily="34" charset="0"/>
              </a:rPr>
              <a:t>dan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berbangsa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endParaRPr lang="en-US" sz="1200" dirty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menimbulkan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tekad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kuat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untuk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mengamalkannya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kehidupan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nyata</a:t>
            </a:r>
            <a:endParaRPr lang="en-US" sz="12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0" name="Down Arrow 29"/>
          <p:cNvSpPr/>
          <p:nvPr/>
        </p:nvSpPr>
        <p:spPr>
          <a:xfrm>
            <a:off x="3900312" y="4578705"/>
            <a:ext cx="816631" cy="1110706"/>
          </a:xfrm>
          <a:prstGeom prst="downArrow">
            <a:avLst>
              <a:gd name="adj1" fmla="val 64766"/>
              <a:gd name="adj2" fmla="val 17157"/>
            </a:avLst>
          </a:prstGeom>
          <a:solidFill>
            <a:srgbClr val="6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275856" y="5689411"/>
            <a:ext cx="4572000" cy="90794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NILAI-NILAI PANCASILA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MELEKAT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DALAM KEHIDUPAN MASYARAKAT DAN DIJADIKAN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NORMA DALAM BERSIKAP DAN BERTINDAK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. </a:t>
            </a:r>
          </a:p>
          <a:p>
            <a:pPr marL="171450" indent="-171450">
              <a:spcBef>
                <a:spcPts val="600"/>
              </a:spcBef>
              <a:buFont typeface="Wingdings" pitchFamily="2" charset="2"/>
              <a:buChar char="ü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SELURUH NILAI PANCASILA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DIMANIFESTASI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KE DALAM KEHIDUPAN BERMASYARAKAT, BERBANGSA, DAN BERNEGARA.</a:t>
            </a:r>
            <a:endParaRPr lang="en-US" sz="12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31" name="Down Arrow 30"/>
          <p:cNvSpPr/>
          <p:nvPr/>
        </p:nvSpPr>
        <p:spPr>
          <a:xfrm>
            <a:off x="6275649" y="5373215"/>
            <a:ext cx="816631" cy="316195"/>
          </a:xfrm>
          <a:prstGeom prst="downArrow">
            <a:avLst>
              <a:gd name="adj1" fmla="val 64766"/>
              <a:gd name="adj2" fmla="val 37989"/>
            </a:avLst>
          </a:prstGeom>
          <a:solidFill>
            <a:srgbClr val="6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835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7" grpId="0" animBg="1"/>
      <p:bldP spid="28" grpId="0" animBg="1"/>
      <p:bldP spid="29" grpId="0"/>
      <p:bldP spid="2" grpId="0"/>
      <p:bldP spid="30" grpId="0" animBg="1"/>
      <p:bldP spid="3" grpId="0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14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401428" y="692696"/>
            <a:ext cx="5554947" cy="637703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DIPERLUKANNYA PANCASILA</a:t>
            </a:r>
          </a:p>
          <a:p>
            <a:pPr marL="404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i-FI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DALAM </a:t>
            </a:r>
            <a:r>
              <a:rPr lang="en-US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KAJIAN </a:t>
            </a:r>
            <a:r>
              <a:rPr lang="en-US" sz="1600" b="1" spc="150" dirty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</a:t>
            </a:r>
            <a:r>
              <a:rPr lang="en-US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INDONESIA</a:t>
            </a:r>
            <a:endParaRPr lang="en-US" sz="4000" b="1" spc="150" dirty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990043" y="620688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913516" y="1520529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IDENTITAS 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INDONESIA</a:t>
            </a:r>
            <a:endParaRPr lang="id-ID" sz="14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461465" y="2543638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KEPRIBADIAN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INDONESIA</a:t>
            </a:r>
            <a:endParaRPr lang="id-ID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57409" y="3563448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PANDANGAN HIDUP  BANGSA INDONESIA</a:t>
            </a:r>
            <a:endParaRPr lang="id-ID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 rot="19629558">
            <a:off x="1754208" y="1844205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 rot="19629558">
            <a:off x="1307968" y="2871160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 rot="19629558">
            <a:off x="803912" y="3901962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3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685601" y="4578705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tx1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JIWA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</a:t>
            </a:r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INDONESIA</a:t>
            </a:r>
            <a:endParaRPr lang="id-ID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 rot="19629558">
            <a:off x="2532104" y="4917219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4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3313" y="5590305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PERJANJIAN LUHUR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</a:t>
            </a:r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INDONESIA</a:t>
            </a:r>
            <a:endParaRPr lang="id-ID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 rot="19629558">
            <a:off x="-60184" y="5928819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5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9" name="WordArt 2"/>
          <p:cNvSpPr>
            <a:spLocks noChangeArrowheads="1" noChangeShapeType="1" noTextEdit="1"/>
          </p:cNvSpPr>
          <p:nvPr/>
        </p:nvSpPr>
        <p:spPr bwMode="auto">
          <a:xfrm rot="17644978">
            <a:off x="-185650" y="3841312"/>
            <a:ext cx="5628404" cy="42986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dalam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kajian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sejarah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bangsa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Indonesia</a:t>
            </a:r>
            <a:endParaRPr lang="en-US" sz="3600" b="1" i="1" u="sng" kern="10" dirty="0">
              <a:ln w="19050">
                <a:solidFill>
                  <a:schemeClr val="bg1"/>
                </a:solidFill>
              </a:ln>
              <a:solidFill>
                <a:srgbClr val="0000FF"/>
              </a:solidFill>
              <a:latin typeface="Franklin Gothic Heavy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23928" y="2866871"/>
            <a:ext cx="424847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SETIAP BANGSA MEMPUNYAI JIWANYA MASING-MASING, YANG DINAMAKAN </a:t>
            </a:r>
            <a:r>
              <a:rPr lang="en-US" sz="1200" i="1" dirty="0" smtClean="0">
                <a:solidFill>
                  <a:schemeClr val="bg1"/>
                </a:solidFill>
                <a:latin typeface="Franklin Gothic Demi Cond" pitchFamily="34" charset="0"/>
              </a:rPr>
              <a:t>VOLKGEIST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(JIWA RAKYAT ATAU JIWA </a:t>
            </a:r>
            <a:r>
              <a:rPr lang="sv-SE" sz="1200" dirty="0" smtClean="0">
                <a:solidFill>
                  <a:schemeClr val="bg1"/>
                </a:solidFill>
                <a:latin typeface="Franklin Gothic Demi Cond" pitchFamily="34" charset="0"/>
              </a:rPr>
              <a:t>BANGSA). </a:t>
            </a:r>
          </a:p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sv-SE" sz="1200" dirty="0" smtClean="0">
                <a:solidFill>
                  <a:srgbClr val="FFFF00"/>
                </a:solidFill>
                <a:latin typeface="Franklin Gothic Demi Cond" pitchFamily="34" charset="0"/>
              </a:rPr>
              <a:t>(NILAI-NILAI) PANCASILA SEBAGAI JIWA BANGSA LAHIR BERSAMAAN DENGAN LAHIRNYA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BANGSA INDONESIA. </a:t>
            </a:r>
          </a:p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sv-SE" sz="1200" dirty="0">
                <a:solidFill>
                  <a:srgbClr val="FFFF00"/>
                </a:solidFill>
                <a:latin typeface="Franklin Gothic Demi Cond" pitchFamily="34" charset="0"/>
              </a:rPr>
              <a:t>(NILAI-NILAI)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PANCASILA TELAH ADA SEJAK DAHULU KALA BERSAMAAN DENGAN ADANYA BANGSA INDONESIA</a:t>
            </a:r>
            <a:endParaRPr lang="en-US" sz="12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30" name="Down Arrow 29"/>
          <p:cNvSpPr/>
          <p:nvPr/>
        </p:nvSpPr>
        <p:spPr>
          <a:xfrm rot="10800000">
            <a:off x="3755369" y="4253532"/>
            <a:ext cx="816631" cy="251308"/>
          </a:xfrm>
          <a:prstGeom prst="downArrow">
            <a:avLst>
              <a:gd name="adj1" fmla="val 64766"/>
              <a:gd name="adj2" fmla="val 56987"/>
            </a:avLst>
          </a:prstGeom>
          <a:solidFill>
            <a:srgbClr val="6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472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7" grpId="0" animBg="1"/>
      <p:bldP spid="28" grpId="0" animBg="1"/>
      <p:bldP spid="29" grpId="0"/>
      <p:bldP spid="2" grpId="0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15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401428" y="692696"/>
            <a:ext cx="5554947" cy="637703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DIPERLUKANNYA PANCASILA</a:t>
            </a:r>
          </a:p>
          <a:p>
            <a:pPr marL="404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i-FI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DALAM </a:t>
            </a:r>
            <a:r>
              <a:rPr lang="en-US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KAJIAN </a:t>
            </a:r>
            <a:r>
              <a:rPr lang="en-US" sz="1600" b="1" spc="150" dirty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</a:t>
            </a:r>
            <a:r>
              <a:rPr lang="en-US" sz="16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INDONESIA</a:t>
            </a:r>
            <a:endParaRPr lang="en-US" sz="4000" b="1" spc="150" dirty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990043" y="620688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697492" y="1520529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IDENTITAS 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INDONESIA</a:t>
            </a:r>
            <a:endParaRPr lang="id-ID" sz="14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45441" y="2543638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KEPRIBADIAN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INDONESIA</a:t>
            </a:r>
            <a:endParaRPr lang="id-ID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1385" y="3563448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PANDANGAN HIDUP  BANGSA INDONESIA</a:t>
            </a:r>
            <a:endParaRPr lang="id-ID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 rot="19629558">
            <a:off x="1538184" y="1844205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 rot="19629558">
            <a:off x="1091944" y="2871160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 rot="19629558">
            <a:off x="587888" y="3901962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3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09337" y="4578705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JIWA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</a:t>
            </a:r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INDONESIA</a:t>
            </a:r>
            <a:endParaRPr lang="id-ID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 rot="19629558">
            <a:off x="155840" y="4917219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4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253553" y="5590305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tx1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 err="1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sebagai</a:t>
            </a:r>
            <a:endParaRPr lang="en-US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PERJANJIAN LUHUR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BANGSA </a:t>
            </a:r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INDONESIA</a:t>
            </a:r>
            <a:endParaRPr lang="id-ID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 rot="19629558">
            <a:off x="2100056" y="5928819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5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9" name="WordArt 2"/>
          <p:cNvSpPr>
            <a:spLocks noChangeArrowheads="1" noChangeShapeType="1" noTextEdit="1"/>
          </p:cNvSpPr>
          <p:nvPr/>
        </p:nvSpPr>
        <p:spPr bwMode="auto">
          <a:xfrm rot="17644978">
            <a:off x="-185650" y="3841312"/>
            <a:ext cx="5628404" cy="42986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dalam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kajian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sejarah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</a:t>
            </a:r>
            <a:r>
              <a:rPr lang="en-US" sz="3600" b="1" i="1" u="sng" kern="10" dirty="0" err="1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bangsa</a:t>
            </a:r>
            <a:r>
              <a:rPr lang="en-US" sz="3600" b="1" i="1" u="sng" kern="10" dirty="0" smtClean="0">
                <a:ln w="19050">
                  <a:solidFill>
                    <a:schemeClr val="bg1"/>
                  </a:solidFill>
                </a:ln>
                <a:solidFill>
                  <a:srgbClr val="0000FF"/>
                </a:solidFill>
                <a:latin typeface="Franklin Gothic Heavy" pitchFamily="34" charset="0"/>
              </a:rPr>
              <a:t> Indonesia</a:t>
            </a:r>
            <a:endParaRPr lang="en-US" sz="3600" b="1" i="1" u="sng" kern="10" dirty="0">
              <a:ln w="19050">
                <a:solidFill>
                  <a:schemeClr val="bg1"/>
                </a:solidFill>
              </a:ln>
              <a:solidFill>
                <a:srgbClr val="0000FF"/>
              </a:solidFill>
              <a:latin typeface="Franklin Gothic Heavy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23708" y="4522664"/>
            <a:ext cx="52367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artinya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NILAI-NILAI PANCASILA SBG JIWA BANGSA DAN </a:t>
            </a:r>
            <a:r>
              <a:rPr lang="it-IT" sz="1200" dirty="0" smtClean="0">
                <a:solidFill>
                  <a:srgbClr val="FFFF00"/>
                </a:solidFill>
                <a:latin typeface="Franklin Gothic Demi Cond" pitchFamily="34" charset="0"/>
              </a:rPr>
              <a:t>KEPRIBADIAN BANGSA DISEPAKATI OLEH PARA PENDIRI NEGARA (</a:t>
            </a:r>
            <a:r>
              <a:rPr lang="it-IT" sz="1200" i="1" dirty="0" smtClean="0">
                <a:solidFill>
                  <a:srgbClr val="FFFF00"/>
                </a:solidFill>
                <a:latin typeface="Franklin Gothic Demi Cond" pitchFamily="34" charset="0"/>
              </a:rPr>
              <a:t>POLITICAL CONSENSUS</a:t>
            </a:r>
            <a:r>
              <a:rPr lang="it-IT" sz="1200" dirty="0" smtClean="0">
                <a:solidFill>
                  <a:srgbClr val="FFFF00"/>
                </a:solidFill>
                <a:latin typeface="Franklin Gothic Demi Cond" pitchFamily="34" charset="0"/>
              </a:rPr>
              <a:t>)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SEBAGAI DASAR NEGARA INDONESIA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4007" y="5534264"/>
            <a:ext cx="36724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KESEPAKATAN PARA PENDIRI NEGARA TENTANG PANCASILA SEBAGAI DASAR NEGARA MERUPAKAN BUKTI BAHWA PILIHAN YANG DIAMBIL PADA WAKTU ITU MERUPAKAN SESUATU YANG TEPAT.</a:t>
            </a:r>
            <a:endParaRPr lang="en-US" sz="12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1" name="Down Arrow 30"/>
          <p:cNvSpPr/>
          <p:nvPr/>
        </p:nvSpPr>
        <p:spPr>
          <a:xfrm rot="10800000">
            <a:off x="3375325" y="5168995"/>
            <a:ext cx="816631" cy="328409"/>
          </a:xfrm>
          <a:prstGeom prst="downArrow">
            <a:avLst>
              <a:gd name="adj1" fmla="val 64766"/>
              <a:gd name="adj2" fmla="val 40799"/>
            </a:avLst>
          </a:prstGeom>
          <a:solidFill>
            <a:srgbClr val="6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own Arrow 31"/>
          <p:cNvSpPr/>
          <p:nvPr/>
        </p:nvSpPr>
        <p:spPr>
          <a:xfrm>
            <a:off x="5178901" y="5088407"/>
            <a:ext cx="816631" cy="328409"/>
          </a:xfrm>
          <a:prstGeom prst="downArrow">
            <a:avLst>
              <a:gd name="adj1" fmla="val 64766"/>
              <a:gd name="adj2" fmla="val 40799"/>
            </a:avLst>
          </a:prstGeom>
          <a:solidFill>
            <a:srgbClr val="6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0992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7" grpId="0" animBg="1"/>
      <p:bldP spid="28" grpId="0" animBg="1"/>
      <p:bldP spid="29" grpId="0"/>
      <p:bldP spid="2" grpId="0"/>
      <p:bldP spid="30" grpId="0"/>
      <p:bldP spid="31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16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6921" y="548680"/>
            <a:ext cx="6491052" cy="637703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404813" indent="-404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SUMBER  HISTORIS, SOSIOLOGIS, POLITIS </a:t>
            </a:r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</a:t>
            </a:r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fi-FI" sz="14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DALAM </a:t>
            </a:r>
            <a:r>
              <a:rPr lang="en-US" sz="14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KAJIAN </a:t>
            </a:r>
            <a:r>
              <a:rPr lang="en-US" sz="1400" b="1" spc="150" dirty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</a:t>
            </a:r>
            <a:r>
              <a:rPr lang="en-US" sz="14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INDONESIA</a:t>
            </a:r>
            <a:endParaRPr lang="en-US" sz="1400" b="1" spc="150" dirty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95536" y="476672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C</a:t>
            </a:r>
            <a:endParaRPr lang="en-US" sz="3600" b="1" spc="50" dirty="0">
              <a:ln w="11430"/>
              <a:solidFill>
                <a:srgbClr val="6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261665" y="1344615"/>
            <a:ext cx="1814391" cy="1140430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SUMBER HISTORIS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1662" y="2594380"/>
            <a:ext cx="1814391" cy="1140430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SUMBER </a:t>
            </a:r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SOSIOLOGIS</a:t>
            </a:r>
            <a:endParaRPr lang="en-US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1662" y="3830214"/>
            <a:ext cx="1814391" cy="1140430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SUMBER </a:t>
            </a:r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POLITIS</a:t>
            </a:r>
            <a:endParaRPr lang="en-US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</p:txBody>
      </p:sp>
      <p:sp>
        <p:nvSpPr>
          <p:cNvPr id="19" name="Rounded Rectangle 18"/>
          <p:cNvSpPr/>
          <p:nvPr/>
        </p:nvSpPr>
        <p:spPr>
          <a:xfrm rot="19629558">
            <a:off x="3102357" y="1628181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 rot="19629558">
            <a:off x="3088165" y="2881792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 rot="19629558">
            <a:off x="3088165" y="4128618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3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7257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17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6921" y="548680"/>
            <a:ext cx="6491052" cy="637703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404813" indent="-404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SUMBER  HISTORIS, SOSIOLOGIS, POLITIS </a:t>
            </a:r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</a:t>
            </a:r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fi-FI" sz="14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DALAM </a:t>
            </a:r>
            <a:r>
              <a:rPr lang="en-US" sz="14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KAJIAN </a:t>
            </a:r>
            <a:r>
              <a:rPr lang="en-US" sz="1400" b="1" spc="150" dirty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</a:t>
            </a:r>
            <a:r>
              <a:rPr lang="en-US" sz="14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INDONESIA</a:t>
            </a:r>
            <a:endParaRPr lang="en-US" sz="1400" b="1" spc="150" dirty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95536" y="476672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C</a:t>
            </a:r>
            <a:endParaRPr lang="en-US" sz="3600" b="1" spc="50" dirty="0">
              <a:ln w="11430"/>
              <a:solidFill>
                <a:srgbClr val="6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107236" y="1344615"/>
            <a:ext cx="1814391" cy="1140430"/>
          </a:xfrm>
          <a:prstGeom prst="roundRect">
            <a:avLst>
              <a:gd name="adj" fmla="val 12257"/>
            </a:avLst>
          </a:prstGeom>
          <a:solidFill>
            <a:srgbClr val="600000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SUMBER HISTORIS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330" y="2822102"/>
            <a:ext cx="1104782" cy="894930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SUMBER </a:t>
            </a:r>
            <a:r>
              <a:rPr lang="en-US" sz="11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SOSIOLOGIS</a:t>
            </a:r>
            <a:endParaRPr lang="en-US" sz="11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1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330" y="3830214"/>
            <a:ext cx="1104782" cy="894930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SUMBER </a:t>
            </a:r>
            <a:r>
              <a:rPr lang="en-US" sz="11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POLITIS</a:t>
            </a:r>
            <a:endParaRPr lang="en-US" sz="11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1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</p:txBody>
      </p:sp>
      <p:sp>
        <p:nvSpPr>
          <p:cNvPr id="19" name="Rounded Rectangle 18"/>
          <p:cNvSpPr/>
          <p:nvPr/>
        </p:nvSpPr>
        <p:spPr>
          <a:xfrm rot="19629558">
            <a:off x="947928" y="1628181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 rot="19629558">
            <a:off x="83832" y="3109514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 rot="19629558">
            <a:off x="83832" y="4128618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3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87824" y="1445875"/>
            <a:ext cx="532859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Nilai-nilai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sudah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ada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adat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istiadat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kebudayaan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agama yang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berkembang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kehidupan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bangsa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Indonesia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sejak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zaman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kerajaan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dahulu</a:t>
            </a:r>
            <a:endParaRPr lang="en-US" sz="14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403648" y="2636912"/>
            <a:ext cx="0" cy="3941089"/>
          </a:xfrm>
          <a:prstGeom prst="line">
            <a:avLst/>
          </a:prstGeom>
          <a:ln w="28575">
            <a:solidFill>
              <a:srgbClr val="FFC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94100"/>
              </p:ext>
            </p:extLst>
          </p:nvPr>
        </p:nvGraphicFramePr>
        <p:xfrm>
          <a:off x="1547664" y="2564904"/>
          <a:ext cx="7265559" cy="3435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/>
                <a:gridCol w="1080120"/>
                <a:gridCol w="1224136"/>
                <a:gridCol w="1296144"/>
                <a:gridCol w="1333817"/>
                <a:gridCol w="1251222"/>
              </a:tblGrid>
              <a:tr h="288032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0" dirty="0" smtClean="0">
                          <a:solidFill>
                            <a:srgbClr val="FFFF00"/>
                          </a:solidFill>
                          <a:latin typeface="Franklin Gothic Demi Cond" pitchFamily="34" charset="0"/>
                        </a:rPr>
                        <a:t>NILAI</a:t>
                      </a:r>
                      <a:endParaRPr lang="en-US" sz="1200" b="0" dirty="0">
                        <a:solidFill>
                          <a:srgbClr val="FFFF00"/>
                        </a:solidFill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rgbClr val="60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solidFill>
                            <a:srgbClr val="FFFF00"/>
                          </a:solidFill>
                          <a:latin typeface="Franklin Gothic Demi Cond" pitchFamily="34" charset="0"/>
                        </a:rPr>
                        <a:t>SUMBER HISTORIS</a:t>
                      </a:r>
                      <a:endParaRPr lang="en-US" sz="1200" b="0" dirty="0">
                        <a:solidFill>
                          <a:srgbClr val="FFFF00"/>
                        </a:solidFill>
                        <a:latin typeface="Franklin Gothic Demi Cond" pitchFamily="34" charset="0"/>
                      </a:endParaRPr>
                    </a:p>
                  </a:txBody>
                  <a:tcPr anchor="ctr">
                    <a:solidFill>
                      <a:srgbClr val="6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FF00"/>
                        </a:solidFill>
                        <a:latin typeface="Bernard MT Condensed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FF00"/>
                        </a:solidFill>
                        <a:latin typeface="Bernard MT Condensed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FF00"/>
                        </a:solidFill>
                        <a:latin typeface="Bernard MT Condensed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FF00"/>
                        </a:solidFill>
                        <a:latin typeface="Bernard MT Condensed" pitchFamily="18" charset="0"/>
                      </a:endParaRPr>
                    </a:p>
                  </a:txBody>
                  <a:tcPr/>
                </a:tc>
              </a:tr>
              <a:tr h="118864">
                <a:tc vMerge="1"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FF00"/>
                        </a:solidFill>
                        <a:latin typeface="Bernard MT Condensed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 smtClean="0">
                          <a:solidFill>
                            <a:srgbClr val="FFFF00"/>
                          </a:solidFill>
                          <a:latin typeface="Franklin Gothic Demi Cond" pitchFamily="34" charset="0"/>
                        </a:rPr>
                        <a:t>KER KUTAI</a:t>
                      </a:r>
                      <a:endParaRPr lang="en-US" sz="1050" b="0" dirty="0">
                        <a:solidFill>
                          <a:srgbClr val="FFFF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6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 smtClean="0">
                          <a:solidFill>
                            <a:srgbClr val="FFFF00"/>
                          </a:solidFill>
                          <a:latin typeface="Franklin Gothic Demi Cond" pitchFamily="34" charset="0"/>
                        </a:rPr>
                        <a:t>SRIWIJAYA</a:t>
                      </a:r>
                      <a:endParaRPr lang="en-US" sz="1050" b="0" dirty="0">
                        <a:solidFill>
                          <a:srgbClr val="FFFF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6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 smtClean="0">
                          <a:solidFill>
                            <a:srgbClr val="FFFF00"/>
                          </a:solidFill>
                          <a:latin typeface="Franklin Gothic Demi Cond" pitchFamily="34" charset="0"/>
                        </a:rPr>
                        <a:t>SBL MAJAPAHIT</a:t>
                      </a:r>
                      <a:endParaRPr lang="en-US" sz="1050" b="0" dirty="0">
                        <a:solidFill>
                          <a:srgbClr val="FFFF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6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 smtClean="0">
                          <a:solidFill>
                            <a:srgbClr val="FFFF00"/>
                          </a:solidFill>
                          <a:latin typeface="Franklin Gothic Demi Cond" pitchFamily="34" charset="0"/>
                        </a:rPr>
                        <a:t>MAJAPAHIT</a:t>
                      </a:r>
                      <a:endParaRPr lang="en-US" sz="1050" b="0" dirty="0">
                        <a:solidFill>
                          <a:srgbClr val="FFFF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6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 smtClean="0">
                          <a:solidFill>
                            <a:srgbClr val="FFFF00"/>
                          </a:solidFill>
                          <a:latin typeface="Franklin Gothic Demi Cond" pitchFamily="34" charset="0"/>
                        </a:rPr>
                        <a:t>PENJAJAHAN</a:t>
                      </a:r>
                      <a:endParaRPr lang="en-US" sz="1050" b="0" dirty="0">
                        <a:solidFill>
                          <a:srgbClr val="FFFF00"/>
                        </a:solidFill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600000"/>
                    </a:solidFill>
                  </a:tcPr>
                </a:tc>
              </a:tr>
              <a:tr h="468104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solidFill>
                            <a:srgbClr val="600000"/>
                          </a:solidFill>
                          <a:latin typeface="Franklin Gothic Demi Cond" pitchFamily="34" charset="0"/>
                        </a:rPr>
                        <a:t>KETUHANAN</a:t>
                      </a:r>
                      <a:endParaRPr lang="en-US" sz="1100" dirty="0">
                        <a:solidFill>
                          <a:srgbClr val="600000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7475" marR="0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BRAHMANA</a:t>
                      </a:r>
                    </a:p>
                    <a:p>
                      <a:pPr marL="117475" marR="0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KENDURI</a:t>
                      </a:r>
                    </a:p>
                    <a:p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ROKHANIAWAN</a:t>
                      </a:r>
                    </a:p>
                    <a:p>
                      <a:pPr marL="171450" indent="-171450">
                        <a:buFont typeface="Wingdings" pitchFamily="2" charset="2"/>
                        <a:buChar char="§"/>
                      </a:pPr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CANDI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VIHARA</a:t>
                      </a:r>
                    </a:p>
                    <a:p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7475" indent="-117475">
                        <a:buFont typeface="Wingdings" pitchFamily="2" charset="2"/>
                        <a:buChar char="§"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BUDHA &amp; HINDU BERDAMPINGAN</a:t>
                      </a:r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itchFamily="2" charset="2"/>
                        <a:buChar char="§"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MUNCUL BBRP KER. ISLAM</a:t>
                      </a:r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235671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solidFill>
                            <a:srgbClr val="600000"/>
                          </a:solidFill>
                          <a:latin typeface="Franklin Gothic Demi Cond" pitchFamily="34" charset="0"/>
                        </a:rPr>
                        <a:t>KEMANUSIAAN</a:t>
                      </a:r>
                      <a:endParaRPr lang="en-US" sz="1100" dirty="0">
                        <a:solidFill>
                          <a:srgbClr val="600000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SEDEKAH KPD PARA BRAHMANA</a:t>
                      </a:r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HUB. DAGANG</a:t>
                      </a:r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PERLAWANAN THD PENJAJAH BELANDA</a:t>
                      </a:r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603860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solidFill>
                            <a:srgbClr val="600000"/>
                          </a:solidFill>
                          <a:latin typeface="Franklin Gothic Demi Cond" pitchFamily="34" charset="0"/>
                        </a:rPr>
                        <a:t>PERSATUAN</a:t>
                      </a:r>
                      <a:endParaRPr lang="en-US" sz="1100" dirty="0">
                        <a:solidFill>
                          <a:srgbClr val="600000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Mpersatukan pedagang, pengrajin dg pegawai raja</a:t>
                      </a:r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itchFamily="2" charset="2"/>
                        <a:buChar char="§"/>
                      </a:pPr>
                      <a:r>
                        <a:rPr lang="id-ID" sz="1000" b="1" dirty="0" smtClean="0">
                          <a:solidFill>
                            <a:schemeClr val="tx1"/>
                          </a:solidFill>
                          <a:sym typeface="Wingdings" pitchFamily="2" charset="2"/>
                        </a:rPr>
                        <a:t>Mempersatukan seluruh nusantara</a:t>
                      </a:r>
                      <a:endParaRPr lang="en-US" sz="1000" b="1" dirty="0" smtClean="0">
                        <a:solidFill>
                          <a:schemeClr val="tx1"/>
                        </a:solidFill>
                        <a:sym typeface="Wingdings" pitchFamily="2" charset="2"/>
                      </a:endParaRPr>
                    </a:p>
                    <a:p>
                      <a:pPr marL="171450" indent="-171450">
                        <a:buFont typeface="Wingdings" pitchFamily="2" charset="2"/>
                        <a:buChar char="§"/>
                      </a:pPr>
                      <a:r>
                        <a:rPr lang="id-ID" sz="1000" b="1" dirty="0" smtClean="0">
                          <a:solidFill>
                            <a:schemeClr val="tx1"/>
                          </a:solidFill>
                          <a:sym typeface="Wingdings" pitchFamily="2" charset="2"/>
                        </a:rPr>
                        <a:t>Bhineka tunggal Ika Tan Hana Dharma Mangrua</a:t>
                      </a:r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191087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solidFill>
                            <a:srgbClr val="600000"/>
                          </a:solidFill>
                          <a:latin typeface="Franklin Gothic Demi Cond" pitchFamily="34" charset="0"/>
                        </a:rPr>
                        <a:t>KERAKYATAN</a:t>
                      </a:r>
                      <a:endParaRPr lang="en-US" sz="1100" dirty="0">
                        <a:solidFill>
                          <a:srgbClr val="600000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Rakyat &amp; brahmana bmusyawarah mminta 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A</a:t>
                      </a:r>
                      <a:r>
                        <a:rPr lang="id-ID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irlangga mjadi raja</a:t>
                      </a:r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Keputusan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diambil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 dg </a:t>
                      </a:r>
                      <a:r>
                        <a:rPr lang="en-US" sz="1000" dirty="0" err="1" smtClean="0">
                          <a:solidFill>
                            <a:schemeClr val="tx1"/>
                          </a:solidFill>
                          <a:latin typeface="Franklin Gothic Demi Cond" pitchFamily="34" charset="0"/>
                        </a:rPr>
                        <a:t>musyawarah</a:t>
                      </a:r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solidFill>
                            <a:srgbClr val="600000"/>
                          </a:solidFill>
                          <a:latin typeface="Franklin Gothic Demi Cond" pitchFamily="34" charset="0"/>
                        </a:rPr>
                        <a:t>KEADILAN</a:t>
                      </a:r>
                      <a:endParaRPr lang="en-US" sz="1100" dirty="0">
                        <a:solidFill>
                          <a:srgbClr val="600000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00" dirty="0" smtClean="0">
                          <a:solidFill>
                            <a:schemeClr val="tx1"/>
                          </a:solidFill>
                        </a:rPr>
                        <a:t>AIRLANGGA bangun tanggul &amp; waduk utk  ksejahteraan  rakyt</a:t>
                      </a:r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Down Arrow 22"/>
          <p:cNvSpPr/>
          <p:nvPr/>
        </p:nvSpPr>
        <p:spPr>
          <a:xfrm>
            <a:off x="4368502" y="2020334"/>
            <a:ext cx="1931690" cy="328409"/>
          </a:xfrm>
          <a:prstGeom prst="downArrow">
            <a:avLst>
              <a:gd name="adj1" fmla="val 64766"/>
              <a:gd name="adj2" fmla="val 40799"/>
            </a:avLst>
          </a:prstGeom>
          <a:solidFill>
            <a:srgbClr val="6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/>
              <a:t>ANTARA LAIN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038350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8" grpId="0" animBg="1"/>
      <p:bldP spid="19" grpId="0" animBg="1"/>
      <p:bldP spid="20" grpId="0" animBg="1"/>
      <p:bldP spid="21" grpId="0" animBg="1"/>
      <p:bldP spid="2" grpId="0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188640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18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6921" y="548680"/>
            <a:ext cx="6491052" cy="637703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404813" indent="-404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SUMBER  HISTORIS, SOSIOLOGIS, POLITIS </a:t>
            </a:r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</a:t>
            </a:r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fi-FI" sz="14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DALAM </a:t>
            </a:r>
            <a:r>
              <a:rPr lang="en-US" sz="14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KAJIAN </a:t>
            </a:r>
            <a:r>
              <a:rPr lang="en-US" sz="1400" b="1" spc="150" dirty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</a:t>
            </a:r>
            <a:r>
              <a:rPr lang="en-US" sz="14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INDONESIA</a:t>
            </a:r>
            <a:endParaRPr lang="en-US" sz="1400" b="1" spc="150" dirty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95536" y="476672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C</a:t>
            </a:r>
            <a:endParaRPr lang="en-US" sz="3600" b="1" spc="50" dirty="0">
              <a:ln w="11430"/>
              <a:solidFill>
                <a:srgbClr val="6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5539" y="1344615"/>
            <a:ext cx="1042305" cy="822922"/>
          </a:xfrm>
          <a:prstGeom prst="roundRect">
            <a:avLst>
              <a:gd name="adj" fmla="val 12257"/>
            </a:avLst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SUMBER HISTORIS</a:t>
            </a:r>
          </a:p>
          <a:p>
            <a:pPr algn="ctr"/>
            <a:r>
              <a:rPr lang="en-US" sz="11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65963" y="2594380"/>
            <a:ext cx="1814391" cy="1140430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SUMBER </a:t>
            </a:r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SOSIOLOGIS</a:t>
            </a:r>
            <a:endParaRPr lang="en-US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</p:txBody>
      </p:sp>
      <p:sp>
        <p:nvSpPr>
          <p:cNvPr id="19" name="Rounded Rectangle 18"/>
          <p:cNvSpPr/>
          <p:nvPr/>
        </p:nvSpPr>
        <p:spPr>
          <a:xfrm rot="19629558">
            <a:off x="180665" y="1628181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 rot="19629558">
            <a:off x="1412466" y="2881792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475656" y="1412776"/>
            <a:ext cx="0" cy="5165225"/>
          </a:xfrm>
          <a:prstGeom prst="line">
            <a:avLst/>
          </a:prstGeom>
          <a:ln w="28575">
            <a:solidFill>
              <a:srgbClr val="FFC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380354" y="1650573"/>
            <a:ext cx="5512126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fi-FI" sz="1200" dirty="0">
                <a:solidFill>
                  <a:srgbClr val="FFFF00"/>
                </a:solidFill>
                <a:latin typeface="Franklin Gothic Demi Cond" pitchFamily="34" charset="0"/>
              </a:rPr>
              <a:t>Nilai-nilai Pancasila (ketuhanan, kemanusiaan, persatuan, </a:t>
            </a:r>
            <a:r>
              <a:rPr lang="fi-FI" sz="1200" dirty="0" smtClean="0">
                <a:solidFill>
                  <a:srgbClr val="FFFF00"/>
                </a:solidFill>
                <a:latin typeface="Franklin Gothic Demi Cond" pitchFamily="34" charset="0"/>
              </a:rPr>
              <a:t>kerakyatan,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keadilan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)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secara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sosiologis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telah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ada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masyarakat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Indonesia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sejak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dahulu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hingga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sekarang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. </a:t>
            </a:r>
            <a:endParaRPr lang="en-US" sz="12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Salah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satu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nilai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dapat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ditemukan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masyarakat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Indonesia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sejak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zaman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dahulu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hingga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sekarang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adalah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nilai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GOTONG ROYONG.</a:t>
            </a:r>
          </a:p>
          <a:p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	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  <a:sym typeface="Wingdings" pitchFamily="2" charset="2"/>
              </a:rPr>
              <a:t>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kebiasaan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bergotongroyong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membantu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antar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tetangga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endParaRPr lang="en-US" sz="12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	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  <a:sym typeface="Wingdings" pitchFamily="2" charset="2"/>
              </a:rPr>
              <a:t>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bekerjasama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untuk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keperluan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umum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di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desa-desa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 </a:t>
            </a:r>
            <a:endParaRPr lang="en-US" sz="12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Kegiatan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gotong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royong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itu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dilakukan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dengan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semangat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kekeluargaan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sebagai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cerminan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dari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sila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Keadilan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Sosial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</a:p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Gotong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royong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juga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tercermin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pada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sistem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PERPAJAKAN 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di Indonesia. </a:t>
            </a:r>
            <a:endParaRPr lang="en-US" sz="12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>
              <a:tabLst>
                <a:tab pos="457200" algn="l"/>
              </a:tabLst>
            </a:pP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	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  <a:sym typeface="Wingdings" pitchFamily="2" charset="2"/>
              </a:rPr>
              <a:t>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karena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masyarakat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secara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bersama-sama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mengumpulkan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iuran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	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melalui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	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pembayaran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pajak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dimaksudkan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untuk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pelaksanaan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pembangunan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69521" y="4880858"/>
            <a:ext cx="1814391" cy="1140430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SUMBER </a:t>
            </a:r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 POLITIS</a:t>
            </a:r>
            <a:endParaRPr lang="en-US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</p:txBody>
      </p:sp>
      <p:sp>
        <p:nvSpPr>
          <p:cNvPr id="21" name="Rounded Rectangle 20"/>
          <p:cNvSpPr/>
          <p:nvPr/>
        </p:nvSpPr>
        <p:spPr>
          <a:xfrm rot="19629558">
            <a:off x="1412468" y="5073359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3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83912" y="4797152"/>
            <a:ext cx="5413380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nilai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KERAKYATAN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dapat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ditemukan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suasana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kehidupan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pedesaan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pola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kehidupan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bersama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bersatu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demokratis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dijiwai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oleh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semangat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kekeluargaan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sebagaimana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tercermin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keempat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Kerakyatan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Dipimpin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oleh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Hikmat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Kebijaksanaan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Permusyawaratan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/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Perwakilan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 </a:t>
            </a:r>
            <a:endParaRPr lang="en-US" sz="12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Semangat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seperti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ini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diperlukan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mengambil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keputusan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mencerminkan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musyawarah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93866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9" grpId="0" animBg="1"/>
      <p:bldP spid="20" grpId="0" animBg="1"/>
      <p:bldP spid="23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3252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19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671017" y="692696"/>
            <a:ext cx="5698964" cy="637703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DINAMIKA &amp; TANTANGAN  PANCASILA</a:t>
            </a:r>
          </a:p>
          <a:p>
            <a:pPr marL="404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i-FI" sz="11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DALAM </a:t>
            </a:r>
            <a:r>
              <a:rPr lang="en-US" sz="11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KAJIAN </a:t>
            </a:r>
            <a:r>
              <a:rPr lang="en-US" sz="1100" b="1" spc="150" dirty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</a:t>
            </a:r>
            <a:r>
              <a:rPr lang="en-US" sz="11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INDONESIA</a:t>
            </a:r>
            <a:endParaRPr lang="en-US" sz="2800" b="1" spc="150" dirty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259632" y="620688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409460" y="1988840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DINAMIKA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1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DALAM SEJARAH BANGSA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89457" y="4048661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TANTANGAN TERHADAP</a:t>
            </a:r>
            <a:endParaRPr lang="en-US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1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DALAM </a:t>
            </a:r>
            <a:r>
              <a:rPr lang="en-US" sz="11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KEHIDUPAN BERBANGSA DAN  BERNEGARA</a:t>
            </a:r>
            <a:endParaRPr lang="en-US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 rot="19629558">
            <a:off x="1250152" y="2312516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 rot="19629558">
            <a:off x="1235960" y="4376183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419872" y="1611957"/>
            <a:ext cx="5305412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Dinamika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sejarah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bangsa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Indonesia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memperlihatkan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adanya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PASANG SURUT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pemahaman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pelaksanaan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nilai-nilai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  <a:p>
            <a:pPr marL="233363" algn="just">
              <a:spcBef>
                <a:spcPts val="600"/>
              </a:spcBef>
            </a:pP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Misalnya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pada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masa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pemerintahan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presiden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SOEKARNO,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terutama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pada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1960 an 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NASAKOM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lebih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populer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daripada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. </a:t>
            </a:r>
            <a:endParaRPr lang="en-US" sz="12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233363" algn="just">
              <a:spcBef>
                <a:spcPts val="600"/>
              </a:spcBef>
            </a:pP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Pada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zaman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pemerintahan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presiden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SOEHARTO,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dijadikan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pembenar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kekuasaan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melalui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penataran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P-4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sehingga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pasca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turunnya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Soeharto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ada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kalangan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yang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mengidentikkan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dengan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P-4. </a:t>
            </a:r>
            <a:endParaRPr lang="en-US" sz="12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233363" algn="just">
              <a:spcBef>
                <a:spcPts val="600"/>
              </a:spcBef>
            </a:pP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Pada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masa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pemerintahan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ERA </a:t>
            </a:r>
            <a:r>
              <a:rPr lang="es-ES" sz="1200" dirty="0" smtClean="0">
                <a:solidFill>
                  <a:srgbClr val="FFFF00"/>
                </a:solidFill>
                <a:latin typeface="Franklin Gothic Demi Cond" pitchFamily="34" charset="0"/>
              </a:rPr>
              <a:t>REFORMASI, </a:t>
            </a:r>
            <a:r>
              <a:rPr lang="es-ES" sz="1200" dirty="0" err="1">
                <a:solidFill>
                  <a:srgbClr val="FFFF00"/>
                </a:solidFill>
                <a:latin typeface="Franklin Gothic Demi Cond" pitchFamily="34" charset="0"/>
              </a:rPr>
              <a:t>ada</a:t>
            </a:r>
            <a:r>
              <a:rPr lang="es-E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s-ES" sz="1200" dirty="0" err="1">
                <a:solidFill>
                  <a:srgbClr val="FFFF00"/>
                </a:solidFill>
                <a:latin typeface="Franklin Gothic Demi Cond" pitchFamily="34" charset="0"/>
              </a:rPr>
              <a:t>kecenderungan</a:t>
            </a:r>
            <a:r>
              <a:rPr lang="es-ES" sz="1200" dirty="0">
                <a:solidFill>
                  <a:srgbClr val="FFFF00"/>
                </a:solidFill>
                <a:latin typeface="Franklin Gothic Demi Cond" pitchFamily="34" charset="0"/>
              </a:rPr>
              <a:t> para </a:t>
            </a:r>
            <a:r>
              <a:rPr lang="es-ES" sz="1200" dirty="0" err="1">
                <a:solidFill>
                  <a:srgbClr val="FFFF00"/>
                </a:solidFill>
                <a:latin typeface="Franklin Gothic Demi Cond" pitchFamily="34" charset="0"/>
              </a:rPr>
              <a:t>penguasa</a:t>
            </a:r>
            <a:r>
              <a:rPr lang="es-E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s-ES" sz="1200" dirty="0" err="1">
                <a:solidFill>
                  <a:srgbClr val="FFFF00"/>
                </a:solidFill>
                <a:latin typeface="Franklin Gothic Demi Cond" pitchFamily="34" charset="0"/>
              </a:rPr>
              <a:t>tidak</a:t>
            </a:r>
            <a:r>
              <a:rPr lang="es-E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s-ES" sz="1200" dirty="0" err="1">
                <a:solidFill>
                  <a:srgbClr val="FFFF00"/>
                </a:solidFill>
                <a:latin typeface="Franklin Gothic Demi Cond" pitchFamily="34" charset="0"/>
              </a:rPr>
              <a:t>respek</a:t>
            </a:r>
            <a:r>
              <a:rPr lang="es-E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s-E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terhadap</a:t>
            </a:r>
            <a:r>
              <a:rPr lang="es-E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seolah-olah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ditinggalkan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91880" y="2132856"/>
            <a:ext cx="216024" cy="298484"/>
          </a:xfrm>
          <a:prstGeom prst="roundRect">
            <a:avLst/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3491880" y="2582980"/>
            <a:ext cx="216024" cy="298484"/>
          </a:xfrm>
          <a:prstGeom prst="roundRect">
            <a:avLst/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3491880" y="3202524"/>
            <a:ext cx="216024" cy="298484"/>
          </a:xfrm>
          <a:prstGeom prst="roundRect">
            <a:avLst/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419872" y="3757470"/>
            <a:ext cx="49685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Salah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satu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tantangan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terhadap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kehidupan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berbangsa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endParaRPr lang="en-US" sz="1200" dirty="0">
              <a:solidFill>
                <a:schemeClr val="bg1"/>
              </a:solidFill>
              <a:latin typeface="Franklin Gothic Demi Cond" pitchFamily="34" charset="0"/>
            </a:endParaRPr>
          </a:p>
          <a:p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bernegara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adalah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meletakkan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nilai-nilai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TIDAK DALAM POSISI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SEBENARNYA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sehingga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nilai-nilai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menyimpang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dari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kenyataan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hidup</a:t>
            </a:r>
            <a:endParaRPr lang="en-US" sz="1200" dirty="0">
              <a:solidFill>
                <a:schemeClr val="bg1"/>
              </a:solidFill>
              <a:latin typeface="Franklin Gothic Demi Cond" pitchFamily="34" charset="0"/>
            </a:endParaRPr>
          </a:p>
          <a:p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berbangsa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bernegara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 </a:t>
            </a:r>
            <a:endParaRPr lang="en-US" sz="12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/>
              <a:buChar char="à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PENGANGKATAN PRESIDEN SEUMUR HIDUP</a:t>
            </a:r>
          </a:p>
          <a:p>
            <a:pPr marL="171450" indent="-171450">
              <a:buFont typeface="Wingdings"/>
              <a:buChar char="à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…. ?</a:t>
            </a:r>
          </a:p>
          <a:p>
            <a:pPr marL="171450" indent="-171450">
              <a:buFont typeface="Wingdings"/>
              <a:buChar char="à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…. ?</a:t>
            </a:r>
            <a:endParaRPr lang="en-US" sz="1200" dirty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/>
              <a:buChar char="à"/>
            </a:pPr>
            <a:endParaRPr lang="en-US" sz="12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8981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3" grpId="0" animBg="1"/>
      <p:bldP spid="16" grpId="0" animBg="1"/>
      <p:bldP spid="17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20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401428" y="548680"/>
            <a:ext cx="5698964" cy="637703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ESENSI &amp; URGENSI PANCASILA</a:t>
            </a:r>
          </a:p>
          <a:p>
            <a:pPr marL="404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i-FI" sz="11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DALAM </a:t>
            </a:r>
            <a:r>
              <a:rPr lang="en-US" sz="11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KAJIAN </a:t>
            </a:r>
            <a:r>
              <a:rPr lang="en-US" sz="1100" b="1" spc="150" dirty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</a:t>
            </a:r>
            <a:r>
              <a:rPr lang="en-US" sz="11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INDONESIA</a:t>
            </a:r>
            <a:endParaRPr lang="en-US" sz="2800" b="1" spc="150" dirty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990043" y="476672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E</a:t>
            </a:r>
            <a:endParaRPr lang="en-US" sz="3600" b="1" spc="50" dirty="0">
              <a:ln w="11430"/>
              <a:solidFill>
                <a:srgbClr val="6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61388" y="1376513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tx1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ESENSI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1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DALAM KAJIAN SEJARAH BANGSA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385" y="3544605"/>
            <a:ext cx="1938404" cy="964515"/>
          </a:xfrm>
          <a:prstGeom prst="roundRect">
            <a:avLst>
              <a:gd name="adj" fmla="val 12257"/>
            </a:avLst>
          </a:prstGeom>
          <a:solidFill>
            <a:schemeClr val="tx1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URGENSI</a:t>
            </a:r>
            <a:endParaRPr lang="en-US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1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DALAM KAJIAN SEJARAH BANGSA</a:t>
            </a:r>
          </a:p>
        </p:txBody>
      </p:sp>
      <p:sp>
        <p:nvSpPr>
          <p:cNvPr id="19" name="Rounded Rectangle 18"/>
          <p:cNvSpPr/>
          <p:nvPr/>
        </p:nvSpPr>
        <p:spPr>
          <a:xfrm rot="19629558">
            <a:off x="602080" y="1700189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 rot="19629558">
            <a:off x="587888" y="3872127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04290" y="1282803"/>
            <a:ext cx="5656142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pada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hakikatnya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merupakan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i="1" dirty="0" smtClean="0">
                <a:solidFill>
                  <a:srgbClr val="FFFF00"/>
                </a:solidFill>
                <a:latin typeface="Franklin Gothic Demi Cond" pitchFamily="34" charset="0"/>
              </a:rPr>
              <a:t>FILSAFAT NEGARA </a:t>
            </a:r>
            <a:r>
              <a:rPr lang="en-US" sz="1200" i="1" dirty="0" err="1" smtClean="0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endParaRPr lang="en-US" sz="1200" i="1" dirty="0">
              <a:solidFill>
                <a:srgbClr val="FFFF00"/>
              </a:solidFill>
              <a:latin typeface="Franklin Gothic Demi Cond" pitchFamily="34" charset="0"/>
            </a:endParaRPr>
          </a:p>
          <a:p>
            <a:r>
              <a:rPr lang="en-US" sz="1200" i="1" dirty="0" smtClean="0">
                <a:solidFill>
                  <a:srgbClr val="FFFF00"/>
                </a:solidFill>
                <a:latin typeface="Franklin Gothic Demi Cond" pitchFamily="34" charset="0"/>
              </a:rPr>
              <a:t>PANDANGAN HIDUP BANGSA. </a:t>
            </a:r>
          </a:p>
          <a:p>
            <a:pPr>
              <a:spcBef>
                <a:spcPts val="600"/>
              </a:spcBef>
            </a:pP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dikatakan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sbg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dasar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filsafat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negara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krn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mengandung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unsur-unsur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sbb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:</a:t>
            </a:r>
            <a:endParaRPr lang="en-US" sz="1200" dirty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455613" indent="-285750">
              <a:buFont typeface="Wingdings" pitchFamily="2" charset="2"/>
              <a:buChar char="ü"/>
            </a:pP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alasan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filosofis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berdirinya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suatu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; </a:t>
            </a:r>
            <a:endParaRPr lang="en-US" sz="12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455613" indent="-285750">
              <a:buFont typeface="Wingdings" pitchFamily="2" charset="2"/>
              <a:buChar char="ü"/>
            </a:pP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setiap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produk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hukum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di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Indonesia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harus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berdasarkan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nilai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 </a:t>
            </a:r>
            <a:endParaRPr lang="en-US" sz="12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sebagai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pandangan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hidup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bangsa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mengandung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unsur-unsur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sbb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:</a:t>
            </a:r>
          </a:p>
          <a:p>
            <a:pPr marL="455613" indent="-285750">
              <a:spcBef>
                <a:spcPts val="600"/>
              </a:spcBef>
              <a:buFont typeface="Wingdings" pitchFamily="2" charset="2"/>
              <a:buChar char="ü"/>
            </a:pP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nilai-nilai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agama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budaya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adat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istiadat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38417" y="1340768"/>
            <a:ext cx="216024" cy="298484"/>
          </a:xfrm>
          <a:prstGeom prst="roundRect">
            <a:avLst/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2638417" y="1873533"/>
            <a:ext cx="216024" cy="298484"/>
          </a:xfrm>
          <a:prstGeom prst="roundRect">
            <a:avLst/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2638417" y="2564904"/>
            <a:ext cx="216024" cy="298484"/>
          </a:xfrm>
          <a:prstGeom prst="roundRect">
            <a:avLst/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746429" y="3140968"/>
            <a:ext cx="6050863" cy="167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Survei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 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KOMPAS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rilis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 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1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Juni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2008  :</a:t>
            </a:r>
            <a:endParaRPr lang="en-US" sz="1200" dirty="0">
              <a:solidFill>
                <a:srgbClr val="FFFF00"/>
              </a:solidFill>
              <a:latin typeface="Franklin Gothic Demi Cond" pitchFamily="34" charset="0"/>
            </a:endParaRPr>
          </a:p>
          <a:p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BAHWA PENGETAHUAN MASYARAKAT TENTANG PANCASILA MEROSOT SECARA TAJAM</a:t>
            </a:r>
          </a:p>
          <a:p>
            <a:pPr marL="287338">
              <a:spcBef>
                <a:spcPts val="600"/>
              </a:spcBef>
            </a:pP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48,4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%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responden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berusia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17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sampai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29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tahun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tidak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mampu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menyebutkan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silai-sila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secara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benar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lengkap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 </a:t>
            </a:r>
            <a:endParaRPr lang="en-US" sz="12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287338">
              <a:spcBef>
                <a:spcPts val="600"/>
              </a:spcBef>
            </a:pP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42,7%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salah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menyebut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sila-sila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endParaRPr lang="en-US" sz="12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287338">
              <a:spcBef>
                <a:spcPts val="600"/>
              </a:spcBef>
            </a:pP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60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%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responden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berusia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46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tahun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atas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salah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menyebutkan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sila-sila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 </a:t>
            </a:r>
            <a:endParaRPr lang="en-US" sz="12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287338" indent="-287338"/>
            <a:r>
              <a:rPr lang="en-US" sz="1600" dirty="0" smtClean="0">
                <a:solidFill>
                  <a:srgbClr val="FFFF00"/>
                </a:solidFill>
                <a:latin typeface="Franklin Gothic Demi Cond" pitchFamily="34" charset="0"/>
              </a:rPr>
              <a:t>MEMPRIHATINKAN</a:t>
            </a:r>
            <a:endParaRPr lang="en-US" sz="16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843808" y="3663867"/>
            <a:ext cx="216024" cy="149242"/>
          </a:xfrm>
          <a:prstGeom prst="roundRect">
            <a:avLst/>
          </a:prstGeom>
          <a:solidFill>
            <a:srgbClr val="FFFF00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2843808" y="4114577"/>
            <a:ext cx="216024" cy="149242"/>
          </a:xfrm>
          <a:prstGeom prst="roundRect">
            <a:avLst/>
          </a:prstGeom>
          <a:solidFill>
            <a:srgbClr val="FFFF00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2843808" y="4357274"/>
            <a:ext cx="216024" cy="149242"/>
          </a:xfrm>
          <a:prstGeom prst="roundRect">
            <a:avLst/>
          </a:prstGeom>
          <a:solidFill>
            <a:srgbClr val="FFFF00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1388292" y="5085184"/>
            <a:ext cx="6729842" cy="1293971"/>
          </a:xfrm>
          <a:prstGeom prst="roundRect">
            <a:avLst>
              <a:gd name="adj" fmla="val 8450"/>
            </a:avLst>
          </a:prstGeom>
          <a:solidFill>
            <a:srgbClr val="600000"/>
          </a:solidFill>
        </p:spPr>
        <p:txBody>
          <a:bodyPr wrap="square">
            <a:spAutoFit/>
          </a:bodyPr>
          <a:lstStyle/>
          <a:p>
            <a:pPr marL="339725" indent="-339725"/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pentingnya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sejarah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bangsa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Indonesia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dikarenakan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hal-hal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berikut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: </a:t>
            </a:r>
            <a:endParaRPr lang="en-US" sz="14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339725"/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pengidentikan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dengan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ideologi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lain,</a:t>
            </a:r>
          </a:p>
          <a:p>
            <a:pPr marL="339725"/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penyalahgunaan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sebagai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alat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justifikasi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kekuasaan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rezim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tertentu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,</a:t>
            </a:r>
          </a:p>
          <a:p>
            <a:pPr marL="339725"/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melemahnya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pemahaman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pelaksanaan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nilai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kehidupan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berbangsa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bernegara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94563" y="5412086"/>
            <a:ext cx="216024" cy="149242"/>
          </a:xfrm>
          <a:prstGeom prst="roundRect">
            <a:avLst/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1494563" y="5629349"/>
            <a:ext cx="216024" cy="149242"/>
          </a:xfrm>
          <a:prstGeom prst="roundRect">
            <a:avLst/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1494563" y="5850780"/>
            <a:ext cx="216024" cy="149242"/>
          </a:xfrm>
          <a:prstGeom prst="roundRect">
            <a:avLst/>
          </a:prstGeom>
          <a:solidFill>
            <a:schemeClr val="bg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59632" y="5207934"/>
            <a:ext cx="162923" cy="144016"/>
          </a:xfrm>
          <a:prstGeom prst="ellipse">
            <a:avLst/>
          </a:prstGeom>
          <a:solidFill>
            <a:schemeClr val="tx1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518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7" grpId="0" animBg="1"/>
      <p:bldP spid="18" grpId="0" animBg="1"/>
      <p:bldP spid="21" grpId="0" animBg="1"/>
      <p:bldP spid="23" grpId="0" animBg="1"/>
      <p:bldP spid="24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20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619672" y="548680"/>
            <a:ext cx="6768752" cy="1080120"/>
          </a:xfrm>
          <a:prstGeom prst="roundRect">
            <a:avLst>
              <a:gd name="adj" fmla="val 530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404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15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RANGKUMAN </a:t>
            </a:r>
          </a:p>
          <a:p>
            <a:pPr marL="404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15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PENGERTIAN DAN PENTINGNYA  PANCASILA</a:t>
            </a:r>
          </a:p>
          <a:p>
            <a:pPr marL="404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i-FI" sz="11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DALAM </a:t>
            </a:r>
            <a:r>
              <a:rPr lang="en-US" sz="11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KAJIAN </a:t>
            </a:r>
            <a:r>
              <a:rPr lang="en-US" sz="1100" b="1" spc="150" dirty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</a:t>
            </a:r>
            <a:r>
              <a:rPr lang="en-US" sz="1100" b="1" spc="150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INDONESIA</a:t>
            </a:r>
            <a:endParaRPr lang="en-US" sz="2800" b="1" spc="150" dirty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043608" y="692696"/>
            <a:ext cx="781757" cy="792088"/>
          </a:xfrm>
          <a:prstGeom prst="roundRect">
            <a:avLst/>
          </a:prstGeom>
          <a:solidFill>
            <a:srgbClr val="FF0000"/>
          </a:solidFill>
          <a:ln w="28575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600" b="1" spc="50" dirty="0">
              <a:ln w="11430"/>
              <a:solidFill>
                <a:srgbClr val="6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47664" y="1844824"/>
            <a:ext cx="691276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PENGERTIAN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sejarah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bangsa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Indonesia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menunjukkan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hal-hal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sbb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: </a:t>
            </a:r>
            <a:endParaRPr lang="en-US" sz="14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91680" y="2136339"/>
            <a:ext cx="6624736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4813" indent="-404813">
              <a:spcBef>
                <a:spcPts val="600"/>
              </a:spcBef>
            </a:pPr>
            <a:r>
              <a:rPr lang="it-IT" sz="1200" dirty="0">
                <a:solidFill>
                  <a:schemeClr val="bg1"/>
                </a:solidFill>
                <a:latin typeface="Franklin Gothic Demi Cond" pitchFamily="34" charset="0"/>
              </a:rPr>
              <a:t>1. </a:t>
            </a:r>
            <a:r>
              <a:rPr lang="it-IT" sz="1200" dirty="0" smtClean="0">
                <a:solidFill>
                  <a:schemeClr val="bg1"/>
                </a:solidFill>
                <a:latin typeface="Franklin Gothic Demi Cond" pitchFamily="34" charset="0"/>
              </a:rPr>
              <a:t>	Pancasila </a:t>
            </a:r>
            <a:r>
              <a:rPr lang="it-IT" sz="1200" dirty="0">
                <a:solidFill>
                  <a:schemeClr val="bg1"/>
                </a:solidFill>
                <a:latin typeface="Franklin Gothic Demi Cond" pitchFamily="34" charset="0"/>
              </a:rPr>
              <a:t>merupakan produk otentik pendiri negara Indonesia (</a:t>
            </a:r>
            <a:r>
              <a:rPr lang="it-IT" sz="1200" i="1" dirty="0" smtClean="0">
                <a:solidFill>
                  <a:schemeClr val="bg1"/>
                </a:solidFill>
                <a:latin typeface="Franklin Gothic Demi Cond" pitchFamily="34" charset="0"/>
              </a:rPr>
              <a:t>The </a:t>
            </a:r>
            <a:r>
              <a:rPr lang="en-US" sz="1200" i="1" dirty="0" smtClean="0">
                <a:solidFill>
                  <a:schemeClr val="bg1"/>
                </a:solidFill>
                <a:latin typeface="Franklin Gothic Demi Cond" pitchFamily="34" charset="0"/>
              </a:rPr>
              <a:t>Founding </a:t>
            </a:r>
            <a:r>
              <a:rPr lang="en-US" sz="1200" i="1" dirty="0">
                <a:solidFill>
                  <a:schemeClr val="bg1"/>
                </a:solidFill>
                <a:latin typeface="Franklin Gothic Demi Cond" pitchFamily="34" charset="0"/>
              </a:rPr>
              <a:t>fathers).</a:t>
            </a:r>
          </a:p>
          <a:p>
            <a:pPr marL="404813" indent="-404813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2.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	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Nilai-nilai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bersumber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digali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dari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nilai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agama,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kebudayaan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adat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istiadat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  <a:p>
            <a:pPr marL="404813" indent="-404813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3.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	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merupakan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pandangan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hidup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bangsa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dasar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filsafat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kenegaraan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19672" y="2125476"/>
            <a:ext cx="360040" cy="792088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600" b="1" spc="50" dirty="0">
              <a:ln w="11430"/>
              <a:solidFill>
                <a:srgbClr val="6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47664" y="3121223"/>
            <a:ext cx="691276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PENTINGNYA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sejarah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bangsa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Indonesia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menunjukkan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hal-hal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berikut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91680" y="3362216"/>
            <a:ext cx="6696744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4813" indent="-404813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1.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	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Betapapun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lemahnya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pemerintahan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suatu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rezim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tetapi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tetap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bertahan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kehidupan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berbangsa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bernegara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  <a:p>
            <a:pPr marL="404813" indent="-404813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2.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	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Betapapun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ada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upaya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untuk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mengganti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sebagai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ideologi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bangsa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tetapi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terbukti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merupakan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pilihan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terbaik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bagi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bangsa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Indonesia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  <a:p>
            <a:pPr marL="404813" indent="-404813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3.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	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merupakan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pilihan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terbaik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bagi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bangsa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Indonesia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karena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bersumber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digali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dari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nilai-nilai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agama,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kebudayaan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adat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istiadat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hidup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berkembang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di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bumi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Indonesia.</a:t>
            </a:r>
          </a:p>
          <a:p>
            <a:pPr marL="404813" indent="-404813">
              <a:spcBef>
                <a:spcPts val="600"/>
              </a:spcBef>
            </a:pP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4.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	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Kemukakan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argumen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Anda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tentang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sebagai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pilihan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terbaik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bangsa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Indonesia.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19672" y="3407733"/>
            <a:ext cx="360040" cy="1570309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600" b="1" spc="50" dirty="0">
              <a:ln w="11430"/>
              <a:solidFill>
                <a:srgbClr val="6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3681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9538</TotalTime>
  <Words>1876</Words>
  <Application>Microsoft Office PowerPoint</Application>
  <PresentationFormat>On-screen Show (4:3)</PresentationFormat>
  <Paragraphs>498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tantular</cp:lastModifiedBy>
  <cp:revision>925</cp:revision>
  <cp:lastPrinted>2019-08-05T16:04:30Z</cp:lastPrinted>
  <dcterms:created xsi:type="dcterms:W3CDTF">2017-12-16T16:52:32Z</dcterms:created>
  <dcterms:modified xsi:type="dcterms:W3CDTF">2021-10-04T09:02:20Z</dcterms:modified>
</cp:coreProperties>
</file>