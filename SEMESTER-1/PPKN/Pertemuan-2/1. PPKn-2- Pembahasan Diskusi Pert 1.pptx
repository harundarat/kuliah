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97" r:id="rId2"/>
    <p:sldId id="298" r:id="rId3"/>
    <p:sldId id="304" r:id="rId4"/>
    <p:sldId id="305" r:id="rId5"/>
  </p:sldIdLst>
  <p:sldSz cx="9144000" cy="6858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0147"/>
    <a:srgbClr val="070262"/>
    <a:srgbClr val="7F0303"/>
    <a:srgbClr val="0B03A9"/>
    <a:srgbClr val="004620"/>
    <a:srgbClr val="00602B"/>
    <a:srgbClr val="A40000"/>
    <a:srgbClr val="05014F"/>
    <a:srgbClr val="3F35FD"/>
    <a:srgbClr val="8439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35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7676E8-B5E8-4454-87C0-1FA68BBFFE09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400"/>
            <a:ext cx="5486400" cy="44751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718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7213"/>
            <a:ext cx="29718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ECBB2-9D7F-48D4-9DEC-3A19FA00D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33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3</a:t>
            </a:fld>
            <a:endParaRPr lang="en-US" altLang="id-ID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223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4</a:t>
            </a:fld>
            <a:endParaRPr lang="en-US" altLang="id-ID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223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3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33971-5BE3-4C81-8DEE-78ACBF072F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1" name="Frame 10"/>
          <p:cNvSpPr/>
          <p:nvPr/>
        </p:nvSpPr>
        <p:spPr>
          <a:xfrm>
            <a:off x="415718" y="188640"/>
            <a:ext cx="8286808" cy="2143140"/>
          </a:xfrm>
          <a:prstGeom prst="frame">
            <a:avLst>
              <a:gd name="adj1" fmla="val 18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ln w="9525">
                <a:solidFill>
                  <a:schemeClr val="tx1"/>
                </a:solidFill>
              </a:ln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8" name="Rounded Rectangle 27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id-ID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3" name="Frame 32"/>
          <p:cNvSpPr/>
          <p:nvPr/>
        </p:nvSpPr>
        <p:spPr>
          <a:xfrm>
            <a:off x="421294" y="2636912"/>
            <a:ext cx="8286808" cy="3785933"/>
          </a:xfrm>
          <a:prstGeom prst="frame">
            <a:avLst>
              <a:gd name="adj1" fmla="val 1191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>
            <a:off x="899592" y="3212976"/>
            <a:ext cx="7344816" cy="115212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C000"/>
                  </a:solidFill>
                </a:ln>
                <a:solidFill>
                  <a:srgbClr val="461F6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1430">
                <a:solidFill>
                  <a:srgbClr val="FFC000"/>
                </a:solidFill>
              </a:ln>
              <a:solidFill>
                <a:srgbClr val="461F63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sp>
        <p:nvSpPr>
          <p:cNvPr id="34" name="WordArt 2"/>
          <p:cNvSpPr>
            <a:spLocks noChangeArrowheads="1" noChangeShapeType="1" noTextEdit="1"/>
          </p:cNvSpPr>
          <p:nvPr/>
        </p:nvSpPr>
        <p:spPr bwMode="auto">
          <a:xfrm>
            <a:off x="899592" y="4488860"/>
            <a:ext cx="7344816" cy="380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/>
            <a:r>
              <a:rPr lang="id-ID" sz="3600" b="1" kern="10" spc="0" dirty="0" smtClean="0">
                <a:ln w="28575">
                  <a:noFill/>
                  <a:round/>
                  <a:headEnd/>
                  <a:tailEnd/>
                </a:ln>
                <a:solidFill>
                  <a:srgbClr val="FFC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Pendidikan Pancasila dan Kewarganegaraan</a:t>
            </a:r>
            <a:endParaRPr lang="en-US" sz="3600" b="1" kern="10" spc="0" dirty="0">
              <a:ln w="28575">
                <a:noFill/>
                <a:round/>
                <a:headEnd/>
                <a:tailEnd/>
              </a:ln>
              <a:solidFill>
                <a:srgbClr val="FFC000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411760" y="4797152"/>
            <a:ext cx="428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Tahun Akademik 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20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21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/202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 </a:t>
            </a:r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Semester Ganjil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41"/>
          <a:stretch/>
        </p:blipFill>
        <p:spPr bwMode="auto">
          <a:xfrm>
            <a:off x="2970972" y="576066"/>
            <a:ext cx="3185204" cy="235820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84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188641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2</a:t>
            </a: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1" name="WordArt 2"/>
          <p:cNvSpPr>
            <a:spLocks noChangeArrowheads="1" noChangeShapeType="1" noTextEdit="1"/>
          </p:cNvSpPr>
          <p:nvPr/>
        </p:nvSpPr>
        <p:spPr bwMode="auto">
          <a:xfrm>
            <a:off x="1763686" y="2348880"/>
            <a:ext cx="4464498" cy="90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9050">
                  <a:solidFill>
                    <a:srgbClr val="FFFF00"/>
                  </a:solidFill>
                </a:ln>
                <a:solidFill>
                  <a:srgbClr val="421C5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9050">
                <a:solidFill>
                  <a:srgbClr val="FFFF00"/>
                </a:solidFill>
              </a:ln>
              <a:solidFill>
                <a:srgbClr val="421C5E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763686" y="3429000"/>
            <a:ext cx="4618674" cy="0"/>
          </a:xfrm>
          <a:prstGeom prst="line">
            <a:avLst/>
          </a:prstGeom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6382360" y="2151808"/>
            <a:ext cx="1224136" cy="1421208"/>
          </a:xfrm>
          <a:prstGeom prst="roundRect">
            <a:avLst>
              <a:gd name="adj" fmla="val 8621"/>
            </a:avLst>
          </a:prstGeom>
          <a:solidFill>
            <a:srgbClr val="421C5E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WordArt 2"/>
          <p:cNvSpPr>
            <a:spLocks noChangeArrowheads="1" noChangeShapeType="1" noTextEdit="1"/>
          </p:cNvSpPr>
          <p:nvPr/>
        </p:nvSpPr>
        <p:spPr bwMode="auto">
          <a:xfrm>
            <a:off x="6550320" y="2348880"/>
            <a:ext cx="902000" cy="16296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P</a:t>
            </a:r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ERTEMUAN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WordArt 2"/>
          <p:cNvSpPr>
            <a:spLocks noChangeArrowheads="1" noChangeShapeType="1" noTextEdit="1"/>
          </p:cNvSpPr>
          <p:nvPr/>
        </p:nvSpPr>
        <p:spPr bwMode="auto">
          <a:xfrm>
            <a:off x="6550320" y="2564904"/>
            <a:ext cx="902000" cy="6860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kern="10" dirty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nard MT Condensed" pitchFamily="18" charset="0"/>
              </a:rPr>
              <a:t>2</a:t>
            </a:r>
          </a:p>
        </p:txBody>
      </p:sp>
      <p:pic>
        <p:nvPicPr>
          <p:cNvPr id="19" name="Picture 37" descr="garud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07904" y="453404"/>
            <a:ext cx="1656184" cy="1769461"/>
          </a:xfrm>
          <a:prstGeom prst="rect">
            <a:avLst/>
          </a:prstGeom>
          <a:solidFill>
            <a:srgbClr val="FF3300"/>
          </a:solidFill>
          <a:ln w="38100">
            <a:solidFill>
              <a:srgbClr val="FF33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slope"/>
          </a:sp3d>
        </p:spPr>
      </p:pic>
    </p:spTree>
    <p:extLst>
      <p:ext uri="{BB962C8B-B14F-4D97-AF65-F5344CB8AC3E}">
        <p14:creationId xmlns:p14="http://schemas.microsoft.com/office/powerpoint/2010/main" val="156395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874446" y="188641"/>
            <a:ext cx="7874018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37" name="Rounded Rectangle 3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 flipH="1">
            <a:off x="827584" y="1052736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en-US" sz="2400" b="1" dirty="0" smtClean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  <a:latin typeface="Franklin Gothic Heavy" pitchFamily="34" charset="0"/>
                <a:cs typeface="Arial" charset="0"/>
              </a:rPr>
              <a:t>1</a:t>
            </a:r>
            <a:endParaRPr lang="id-ID" altLang="en-US" sz="2400" b="1" dirty="0">
              <a:ln>
                <a:solidFill>
                  <a:schemeClr val="bg1"/>
                </a:solidFill>
              </a:ln>
              <a:solidFill>
                <a:srgbClr val="C00000"/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3" name="Oval 12"/>
          <p:cNvSpPr/>
          <p:nvPr/>
        </p:nvSpPr>
        <p:spPr>
          <a:xfrm flipH="1">
            <a:off x="755576" y="2492896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en-US" sz="2400" b="1" dirty="0" smtClean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  <a:latin typeface="Franklin Gothic Heavy" pitchFamily="34" charset="0"/>
                <a:cs typeface="Arial" charset="0"/>
              </a:rPr>
              <a:t>2</a:t>
            </a:r>
            <a:endParaRPr lang="id-ID" altLang="en-US" sz="2400" b="1" dirty="0">
              <a:ln>
                <a:solidFill>
                  <a:schemeClr val="bg1"/>
                </a:solidFill>
              </a:ln>
              <a:solidFill>
                <a:srgbClr val="C00000"/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331640" y="1412776"/>
            <a:ext cx="7042833" cy="648072"/>
          </a:xfrm>
          <a:prstGeom prst="roundRect">
            <a:avLst>
              <a:gd name="adj" fmla="val 488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t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342900" indent="-342900" algn="just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PANCASILA 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DISAHKAN OLEH PPKI  PADA TANGGAL 18 AGUSTUS 1945 DAN 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TERCANTUM 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DALAM PEMBUKAAN UUD 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1945   (</a:t>
            </a: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alinea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ke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4)</a:t>
            </a:r>
          </a:p>
          <a:p>
            <a:pPr marL="342900" indent="-342900" algn="just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PANCASILA YANG DIUNDANGKAN 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DLM BERITA  R.I TH. II NO. 7 BERSAMA SAMA DG BATANG TUBUH UUD 1945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.  </a:t>
            </a:r>
            <a:endParaRPr lang="en-US" sz="1100" b="1" spc="50" dirty="0">
              <a:ln w="11430"/>
              <a:solidFill>
                <a:srgbClr val="00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  <a:p>
            <a:pPr marL="342900" indent="-342900" algn="just">
              <a:buFont typeface="Wingdings" pitchFamily="2" charset="2"/>
              <a:buChar char="§"/>
              <a:defRPr/>
            </a:pPr>
            <a:endParaRPr lang="en-US" sz="1100" b="1" spc="50" dirty="0" smtClean="0">
              <a:ln w="11430"/>
              <a:solidFill>
                <a:srgbClr val="00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  <a:p>
            <a:pPr marL="342900" indent="-342900" algn="just">
              <a:buFont typeface="Wingdings" pitchFamily="2" charset="2"/>
              <a:buChar char="ü"/>
              <a:defRPr/>
            </a:pPr>
            <a:endParaRPr lang="en-US" sz="11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27804" y="2708920"/>
            <a:ext cx="7246696" cy="14927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spcBef>
                <a:spcPct val="20000"/>
              </a:spcBef>
              <a:defRPr/>
            </a:pPr>
            <a:r>
              <a:rPr lang="id-ID" sz="1400" b="1" u="sng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P</a:t>
            </a:r>
            <a:r>
              <a:rPr lang="en-US" sz="1400" b="1" u="sng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ANCASILA</a:t>
            </a:r>
          </a:p>
          <a:p>
            <a:pPr marL="355600" indent="-355600">
              <a:spcBef>
                <a:spcPct val="20000"/>
              </a:spcBef>
              <a:buFontTx/>
              <a:buAutoNum type="arabicPeriod"/>
              <a:defRPr/>
            </a:pP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Ketuhanan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Yang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Maha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Esa</a:t>
            </a:r>
            <a:endParaRPr lang="en-US" sz="1100" b="1" spc="50" dirty="0">
              <a:ln w="11430"/>
              <a:solidFill>
                <a:srgbClr val="00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ookman Old Style" pitchFamily="18" charset="0"/>
            </a:endParaRPr>
          </a:p>
          <a:p>
            <a:pPr marL="355600" indent="-355600">
              <a:spcBef>
                <a:spcPct val="20000"/>
              </a:spcBef>
              <a:defRPr/>
            </a:pP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2. 	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Kemanusiaan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yang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adil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dan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beradab</a:t>
            </a:r>
            <a:endParaRPr lang="en-US" sz="1100" b="1" spc="50" dirty="0">
              <a:ln w="11430"/>
              <a:solidFill>
                <a:srgbClr val="00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ookman Old Style" pitchFamily="18" charset="0"/>
            </a:endParaRPr>
          </a:p>
          <a:p>
            <a:pPr marL="355600" indent="-355600">
              <a:spcBef>
                <a:spcPct val="20000"/>
              </a:spcBef>
              <a:defRPr/>
            </a:pP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3. 	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Persatuan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Indonesia</a:t>
            </a:r>
          </a:p>
          <a:p>
            <a:pPr marL="355600" indent="-355600">
              <a:spcBef>
                <a:spcPct val="20000"/>
              </a:spcBef>
              <a:buFontTx/>
              <a:buAutoNum type="arabicPeriod" startAt="4"/>
              <a:defRPr/>
            </a:pP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Kerakyatan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yang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dipimpin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oleh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hikmat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kebijak</a:t>
            </a:r>
            <a:r>
              <a:rPr lang="id-ID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sanaan 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dalam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permusyawaratan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/ </a:t>
            </a: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perwakilan</a:t>
            </a:r>
            <a:endParaRPr lang="en-US" sz="1100" b="1" spc="50" dirty="0">
              <a:ln w="11430"/>
              <a:solidFill>
                <a:srgbClr val="00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ookman Old Style" pitchFamily="18" charset="0"/>
            </a:endParaRPr>
          </a:p>
          <a:p>
            <a:pPr marL="355600" indent="-355600">
              <a:spcBef>
                <a:spcPct val="20000"/>
              </a:spcBef>
              <a:defRPr/>
            </a:pP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5.	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Keadilan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sosial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bagi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seluruh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rakyat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Indonesia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15643" y="1074222"/>
            <a:ext cx="6192688" cy="3077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lvl="0" algn="just">
              <a:defRPr/>
            </a:pP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Pancasila</a:t>
            </a:r>
            <a:r>
              <a:rPr lang="id-ID" sz="1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 </a:t>
            </a: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yg</a:t>
            </a:r>
            <a:r>
              <a:rPr lang="en-US" sz="1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 </a:t>
            </a: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benar</a:t>
            </a:r>
            <a:r>
              <a:rPr lang="en-US" sz="1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 </a:t>
            </a: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dan</a:t>
            </a:r>
            <a:r>
              <a:rPr lang="en-US" sz="1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 </a:t>
            </a: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syah</a:t>
            </a:r>
            <a:r>
              <a:rPr lang="en-US" sz="1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 </a:t>
            </a: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sebagai</a:t>
            </a:r>
            <a:r>
              <a:rPr lang="en-US" sz="1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 </a:t>
            </a: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dasar</a:t>
            </a:r>
            <a:r>
              <a:rPr lang="en-US" sz="1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 </a:t>
            </a: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negara</a:t>
            </a:r>
            <a:r>
              <a:rPr lang="en-US" sz="1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 </a:t>
            </a: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adalah</a:t>
            </a:r>
            <a:r>
              <a:rPr lang="en-US" sz="1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  <a:cs typeface="+mn-cs"/>
              </a:rPr>
              <a:t>  :</a:t>
            </a:r>
            <a:endParaRPr lang="en-US" sz="1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31640" y="2498232"/>
            <a:ext cx="1283749" cy="307777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Teks</a:t>
            </a:r>
            <a:r>
              <a:rPr lang="en-US" sz="1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Pancasila</a:t>
            </a:r>
            <a:endParaRPr lang="en-US" sz="1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pic>
        <p:nvPicPr>
          <p:cNvPr id="23" name="Picture 2" descr="Makna Lambang Garuda Pancasil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6" r="3362"/>
          <a:stretch/>
        </p:blipFill>
        <p:spPr bwMode="auto">
          <a:xfrm>
            <a:off x="179512" y="182076"/>
            <a:ext cx="694934" cy="576064"/>
          </a:xfrm>
          <a:prstGeom prst="roundRect">
            <a:avLst>
              <a:gd name="adj" fmla="val 4282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Oval 16"/>
          <p:cNvSpPr/>
          <p:nvPr/>
        </p:nvSpPr>
        <p:spPr>
          <a:xfrm flipH="1">
            <a:off x="755576" y="4581128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en-US" sz="2400" b="1" dirty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  <a:latin typeface="Franklin Gothic Heavy" pitchFamily="34" charset="0"/>
                <a:cs typeface="Arial" charset="0"/>
              </a:rPr>
              <a:t>3</a:t>
            </a:r>
            <a:endParaRPr lang="id-ID" altLang="en-US" sz="2400" b="1" dirty="0">
              <a:ln>
                <a:solidFill>
                  <a:schemeClr val="bg1"/>
                </a:solidFill>
              </a:ln>
              <a:solidFill>
                <a:srgbClr val="C00000"/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331640" y="4586464"/>
            <a:ext cx="7128792" cy="3077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Nilai-nilai</a:t>
            </a:r>
            <a:r>
              <a:rPr lang="en-US" sz="1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yang </a:t>
            </a: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terkandung</a:t>
            </a:r>
            <a:r>
              <a:rPr lang="en-US" sz="1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dalan</a:t>
            </a:r>
            <a:r>
              <a:rPr lang="en-US" sz="1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tiap-tiap</a:t>
            </a:r>
            <a:r>
              <a:rPr lang="en-US" sz="1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sila</a:t>
            </a:r>
            <a:r>
              <a:rPr lang="en-US" sz="1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Pancasila</a:t>
            </a:r>
            <a:endParaRPr lang="en-US" sz="1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331640" y="5013176"/>
            <a:ext cx="7042833" cy="1440160"/>
          </a:xfrm>
          <a:prstGeom prst="roundRect">
            <a:avLst>
              <a:gd name="adj" fmla="val 488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t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342900" indent="-342900" algn="just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Sila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kesatu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mengandung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nilai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 </a:t>
            </a:r>
            <a:r>
              <a:rPr lang="en-US" sz="11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RELIGIUS 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(</a:t>
            </a: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Ketuhanan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)</a:t>
            </a:r>
          </a:p>
          <a:p>
            <a:pPr marL="342900" indent="-342900" algn="just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Sila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kedua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mengandung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nilai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 </a:t>
            </a:r>
            <a:r>
              <a:rPr lang="en-US" sz="11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KEMANUSIAAN </a:t>
            </a:r>
          </a:p>
          <a:p>
            <a:pPr marL="342900" indent="-342900" algn="just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Sila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ketiga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mengandung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nilai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PERSATUAN BANGSA</a:t>
            </a:r>
          </a:p>
          <a:p>
            <a:pPr marL="342900" indent="-342900" algn="just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Sila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keempat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mengandung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nilai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KERAKYATAN</a:t>
            </a:r>
          </a:p>
          <a:p>
            <a:pPr marL="342900" indent="-342900" algn="just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Ila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kelima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mengandung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nilai</a:t>
            </a:r>
            <a:r>
              <a:rPr lang="en-US" sz="11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en-US" sz="11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KEADILAN SOSIAL</a:t>
            </a:r>
          </a:p>
          <a:p>
            <a:pPr marL="342900" indent="-342900" algn="just">
              <a:buFont typeface="Wingdings" pitchFamily="2" charset="2"/>
              <a:buChar char="§"/>
              <a:defRPr/>
            </a:pPr>
            <a:endParaRPr lang="en-US" sz="1100" b="1" spc="50" dirty="0" smtClean="0">
              <a:ln w="11430"/>
              <a:solidFill>
                <a:srgbClr val="00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  <a:p>
            <a:pPr marL="342900" indent="-342900" algn="just">
              <a:buFont typeface="Wingdings" pitchFamily="2" charset="2"/>
              <a:buChar char="ü"/>
              <a:defRPr/>
            </a:pPr>
            <a:endParaRPr lang="en-US" sz="11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525449" y="44624"/>
            <a:ext cx="5854863" cy="504056"/>
          </a:xfrm>
          <a:prstGeom prst="roundRect">
            <a:avLst>
              <a:gd name="adj" fmla="val 1416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PEMBAHASAN DISKUSI </a:t>
            </a:r>
            <a:r>
              <a:rPr lang="en-US" sz="20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pert. 1 :  </a:t>
            </a:r>
            <a:r>
              <a:rPr lang="en-US" sz="1400" spc="50" dirty="0" smtClean="0">
                <a:ln w="11430">
                  <a:noFill/>
                </a:ln>
                <a:solidFill>
                  <a:srgbClr val="C00000"/>
                </a:solidFill>
                <a:latin typeface="Franklin Gothic Demi Cond" pitchFamily="34" charset="0"/>
              </a:rPr>
              <a:t>PANCASILA</a:t>
            </a:r>
            <a:endParaRPr lang="en-US" sz="1600" spc="50" dirty="0">
              <a:ln w="11430">
                <a:noFill/>
              </a:ln>
              <a:solidFill>
                <a:srgbClr val="C00000"/>
              </a:solidFill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 flipH="1">
            <a:off x="1134265" y="44624"/>
            <a:ext cx="402995" cy="711024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1537260" y="476672"/>
            <a:ext cx="7465865" cy="3374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872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2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2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2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2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20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5" grpId="0"/>
      <p:bldP spid="7" grpId="0"/>
      <p:bldP spid="8" grpId="0"/>
      <p:bldP spid="17" grpId="0" animBg="1"/>
      <p:bldP spid="22" grpId="0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874446" y="188641"/>
            <a:ext cx="7874018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187624" y="1340768"/>
            <a:ext cx="7128792" cy="3384376"/>
          </a:xfrm>
          <a:prstGeom prst="roundRect">
            <a:avLst>
              <a:gd name="adj" fmla="val 7339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37" name="Rounded Rectangle 3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4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 flipH="1">
            <a:off x="2051720" y="620688"/>
            <a:ext cx="2304257" cy="397989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en-US" sz="2400" b="1" dirty="0" smtClean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  <a:latin typeface="Franklin Gothic Heavy" pitchFamily="34" charset="0"/>
                <a:cs typeface="Arial" charset="0"/>
              </a:rPr>
              <a:t>AWAS</a:t>
            </a:r>
            <a:endParaRPr lang="id-ID" altLang="en-US" sz="2400" b="1" dirty="0">
              <a:ln>
                <a:solidFill>
                  <a:schemeClr val="bg1"/>
                </a:solidFill>
              </a:ln>
              <a:solidFill>
                <a:srgbClr val="C00000"/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27804" y="1988840"/>
            <a:ext cx="7246696" cy="191129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spcBef>
                <a:spcPct val="20000"/>
              </a:spcBef>
              <a:defRPr/>
            </a:pPr>
            <a:r>
              <a:rPr lang="id-ID" b="1" u="sng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P</a:t>
            </a:r>
            <a:r>
              <a:rPr lang="en-US" b="1" u="sng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ANCASILA</a:t>
            </a:r>
          </a:p>
          <a:p>
            <a:pPr marL="355600" indent="-355600">
              <a:spcBef>
                <a:spcPts val="600"/>
              </a:spcBef>
              <a:buFontTx/>
              <a:buAutoNum type="arabicPeriod"/>
              <a:defRPr/>
            </a:pP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Ketuhanan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Yang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Maha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Esa</a:t>
            </a:r>
            <a:endParaRPr lang="en-US" sz="1400" b="1" spc="50" dirty="0">
              <a:ln w="11430"/>
              <a:solidFill>
                <a:srgbClr val="00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ookman Old Style" pitchFamily="18" charset="0"/>
            </a:endParaRPr>
          </a:p>
          <a:p>
            <a:pPr marL="355600" indent="-355600">
              <a:spcBef>
                <a:spcPct val="20000"/>
              </a:spcBef>
              <a:defRPr/>
            </a:pP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2. 	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Kemanusiaan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yang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adil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dan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beradab</a:t>
            </a:r>
            <a:endParaRPr lang="en-US" sz="1400" b="1" spc="50" dirty="0">
              <a:ln w="11430"/>
              <a:solidFill>
                <a:srgbClr val="00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ookman Old Style" pitchFamily="18" charset="0"/>
            </a:endParaRPr>
          </a:p>
          <a:p>
            <a:pPr marL="355600" indent="-355600">
              <a:spcBef>
                <a:spcPct val="20000"/>
              </a:spcBef>
              <a:defRPr/>
            </a:pP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3. 	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Persatuan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Indonesia</a:t>
            </a:r>
          </a:p>
          <a:p>
            <a:pPr marL="355600" indent="-355600">
              <a:spcBef>
                <a:spcPct val="20000"/>
              </a:spcBef>
              <a:buFontTx/>
              <a:buAutoNum type="arabicPeriod" startAt="4"/>
              <a:defRPr/>
            </a:pP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Kerakyatan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yang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dipimpin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oleh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hikmat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kebijak</a:t>
            </a:r>
            <a:r>
              <a:rPr lang="id-ID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sanaan 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dalam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permusyawaratan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4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/ </a:t>
            </a:r>
            <a:r>
              <a:rPr lang="en-US" sz="14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perwakilan</a:t>
            </a:r>
            <a:endParaRPr lang="en-US" sz="1400" b="1" spc="50" dirty="0">
              <a:ln w="11430"/>
              <a:solidFill>
                <a:srgbClr val="00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ookman Old Style" pitchFamily="18" charset="0"/>
            </a:endParaRPr>
          </a:p>
          <a:p>
            <a:pPr marL="355600" indent="-355600">
              <a:spcBef>
                <a:spcPct val="20000"/>
              </a:spcBef>
              <a:defRPr/>
            </a:pP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5.	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Keadilan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sosial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bagi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seluruh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n-US" sz="1400" b="1" spc="50" dirty="0" err="1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rakyat</a:t>
            </a:r>
            <a:r>
              <a:rPr lang="en-US" sz="1400" b="1" spc="50" dirty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man Old Style" pitchFamily="18" charset="0"/>
              </a:rPr>
              <a:t> Indonesia</a:t>
            </a:r>
          </a:p>
        </p:txBody>
      </p:sp>
      <p:sp>
        <p:nvSpPr>
          <p:cNvPr id="2" name="Oval 1"/>
          <p:cNvSpPr/>
          <p:nvPr/>
        </p:nvSpPr>
        <p:spPr>
          <a:xfrm>
            <a:off x="3995936" y="1943872"/>
            <a:ext cx="1872208" cy="477016"/>
          </a:xfrm>
          <a:prstGeom prst="ellipse">
            <a:avLst/>
          </a:prstGeom>
          <a:noFill/>
          <a:ln w="127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295146" y="2172206"/>
            <a:ext cx="468542" cy="1832858"/>
          </a:xfrm>
          <a:prstGeom prst="ellipse">
            <a:avLst/>
          </a:prstGeom>
          <a:noFill/>
          <a:ln w="127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2843808" y="2204864"/>
            <a:ext cx="288032" cy="441013"/>
          </a:xfrm>
          <a:prstGeom prst="ellipse">
            <a:avLst/>
          </a:prstGeom>
          <a:noFill/>
          <a:ln w="127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380522" y="2226636"/>
            <a:ext cx="288032" cy="441013"/>
          </a:xfrm>
          <a:prstGeom prst="ellipse">
            <a:avLst/>
          </a:prstGeom>
          <a:noFill/>
          <a:ln w="127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949894" y="2215750"/>
            <a:ext cx="288032" cy="441013"/>
          </a:xfrm>
          <a:prstGeom prst="ellipse">
            <a:avLst/>
          </a:prstGeom>
          <a:noFill/>
          <a:ln w="127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148064" y="2503473"/>
            <a:ext cx="288032" cy="441013"/>
          </a:xfrm>
          <a:prstGeom prst="ellipse">
            <a:avLst/>
          </a:prstGeom>
          <a:noFill/>
          <a:ln w="127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526731" y="3284984"/>
            <a:ext cx="288032" cy="441013"/>
          </a:xfrm>
          <a:prstGeom prst="ellipse">
            <a:avLst/>
          </a:prstGeom>
          <a:noFill/>
          <a:ln w="127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Left Arrow 41"/>
          <p:cNvSpPr/>
          <p:nvPr/>
        </p:nvSpPr>
        <p:spPr>
          <a:xfrm flipH="1">
            <a:off x="4412097" y="625894"/>
            <a:ext cx="399358" cy="397989"/>
          </a:xfrm>
          <a:prstGeom prst="leftArrow">
            <a:avLst>
              <a:gd name="adj1" fmla="val 71882"/>
              <a:gd name="adj2" fmla="val 22648"/>
            </a:avLst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2400" b="1" dirty="0">
              <a:ln>
                <a:solidFill>
                  <a:schemeClr val="bg1"/>
                </a:solidFill>
              </a:ln>
              <a:solidFill>
                <a:srgbClr val="C00000"/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4860032" y="625894"/>
            <a:ext cx="288032" cy="441013"/>
          </a:xfrm>
          <a:prstGeom prst="ellipse">
            <a:avLst/>
          </a:prstGeom>
          <a:noFill/>
          <a:ln w="127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 flipH="1">
            <a:off x="1187623" y="5373216"/>
            <a:ext cx="7128791" cy="397989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en-US" b="1" dirty="0" smtClean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  <a:latin typeface="Franklin Gothic Heavy" pitchFamily="34" charset="0"/>
                <a:cs typeface="Arial" charset="0"/>
              </a:rPr>
              <a:t>SUDAHKAH ANDA MENULIS DENGAN BENMAR </a:t>
            </a:r>
            <a:r>
              <a:rPr lang="en-US" altLang="en-US" sz="2400" b="1" dirty="0" smtClean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  <a:latin typeface="Franklin Gothic Heavy" pitchFamily="34" charset="0"/>
                <a:cs typeface="Arial" charset="0"/>
              </a:rPr>
              <a:t>???</a:t>
            </a:r>
            <a:endParaRPr lang="id-ID" altLang="en-US" sz="2400" b="1" dirty="0">
              <a:ln>
                <a:solidFill>
                  <a:schemeClr val="bg1"/>
                </a:solidFill>
              </a:ln>
              <a:solidFill>
                <a:srgbClr val="C00000"/>
              </a:solidFill>
              <a:latin typeface="Franklin Gothic Heavy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25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3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5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/>
      <p:bldP spid="2" grpId="0" animBg="1"/>
      <p:bldP spid="28" grpId="0" animBg="1"/>
      <p:bldP spid="30" grpId="0" animBg="1"/>
      <p:bldP spid="31" grpId="0" animBg="1"/>
      <p:bldP spid="32" grpId="0" animBg="1"/>
      <p:bldP spid="38" grpId="0" animBg="1"/>
      <p:bldP spid="39" grpId="0" animBg="1"/>
      <p:bldP spid="42" grpId="0" animBg="1"/>
      <p:bldP spid="43" grpId="0" animBg="1"/>
      <p:bldP spid="4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2547</TotalTime>
  <Words>145</Words>
  <Application>Microsoft Office PowerPoint</Application>
  <PresentationFormat>On-screen Show (4:3)</PresentationFormat>
  <Paragraphs>40</Paragraphs>
  <Slides>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aa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</dc:creator>
  <cp:lastModifiedBy>tantular</cp:lastModifiedBy>
  <cp:revision>157</cp:revision>
  <dcterms:created xsi:type="dcterms:W3CDTF">2012-12-14T01:57:49Z</dcterms:created>
  <dcterms:modified xsi:type="dcterms:W3CDTF">2021-10-04T09:02:53Z</dcterms:modified>
</cp:coreProperties>
</file>