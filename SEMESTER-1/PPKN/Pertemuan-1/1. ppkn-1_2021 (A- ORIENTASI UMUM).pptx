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79" r:id="rId2"/>
    <p:sldId id="308" r:id="rId3"/>
    <p:sldId id="482" r:id="rId4"/>
    <p:sldId id="505" r:id="rId5"/>
    <p:sldId id="508" r:id="rId6"/>
    <p:sldId id="515" r:id="rId7"/>
    <p:sldId id="483" r:id="rId8"/>
    <p:sldId id="526" r:id="rId9"/>
    <p:sldId id="525" r:id="rId10"/>
    <p:sldId id="393" r:id="rId11"/>
    <p:sldId id="487" r:id="rId12"/>
    <p:sldId id="514" r:id="rId13"/>
    <p:sldId id="519" r:id="rId14"/>
    <p:sldId id="490" r:id="rId15"/>
  </p:sldIdLst>
  <p:sldSz cx="9144000" cy="6858000" type="screen4x3"/>
  <p:notesSz cx="6858000" cy="93138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21C5E"/>
    <a:srgbClr val="8B8BFF"/>
    <a:srgbClr val="ED9513"/>
    <a:srgbClr val="005024"/>
    <a:srgbClr val="005C2A"/>
    <a:srgbClr val="210E30"/>
    <a:srgbClr val="C0BC00"/>
    <a:srgbClr val="B3B3FF"/>
    <a:srgbClr val="4B4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03" autoAdjust="0"/>
    <p:restoredTop sz="48403" autoAdjust="0"/>
  </p:normalViewPr>
  <p:slideViewPr>
    <p:cSldViewPr>
      <p:cViewPr>
        <p:scale>
          <a:sx n="90" d="100"/>
          <a:sy n="90" d="100"/>
        </p:scale>
        <p:origin x="-1218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CD72A1E-A15A-4353-B246-653D9C25F163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5568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5568"/>
            <a:ext cx="2971800" cy="46680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C1E8C60-3F71-421E-A4EE-424BF4405625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000016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32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32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E1AFF8A-3052-4760-8568-6E84C042C774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0138" y="698500"/>
            <a:ext cx="4657725" cy="3494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271"/>
            <a:ext cx="5486400" cy="41908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7055"/>
            <a:ext cx="2971800" cy="46532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7055"/>
            <a:ext cx="2971800" cy="46532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7130AD5-259B-40C9-978B-C5B432313C84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17856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6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10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7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10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8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10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9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10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10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011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11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011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12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25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13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25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14</a:t>
            </a:fld>
            <a:endParaRPr lang="en-US" altLang="id-ID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25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45937-C7CA-4F43-83BE-69F46718CB32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FF348-963D-4164-9152-D65B6290086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932135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8CFFF-BF18-47CE-8FE0-29A8CF424B5E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A8C3A-1E2B-4E8A-BD92-C6787644AFA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4868476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895BA-9421-45D5-B610-B6A27539BE30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8B6A2-E6F9-40CD-B31D-2A7ACBE0288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7812346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54B61-BE65-4A35-9BD9-BBA2DBF74D4C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D5430-D0C4-41B6-9ABA-03BFFAC8322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7987999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092A6-F8B3-4094-8B0A-3B3956C86E71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CA513-7E7B-4F4D-9947-33236A2C497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343867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BFEFC-794E-47BB-9E24-34139C148C02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4BA47-9E02-415B-94B8-78D7CDF49CF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53420375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7CCD9-9E09-4C0E-A910-0406E3B646DE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B9C7D-CD75-47CA-A688-C20D95AB6A2F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7893534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3CEAF-6C76-4AAD-8E10-CB64E678BE4D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C468-A786-43D6-9722-840F1A28811D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7837920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EE35-9C35-4128-84DF-222ED950306D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9A7B2-7899-4D89-B82A-224B7D606073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959082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A5354-BF8A-4B40-8A86-2AA70411B717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61A0B-C309-46D2-AF15-045986B03DAC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00659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F8C53-3D6C-476B-88E9-E76080626783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3657B-1F74-49FD-A38F-CD3CAD54FE7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794334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2">
              <a:lumMod val="75000"/>
            </a:schemeClr>
          </a:fgClr>
          <a:bgClr>
            <a:schemeClr val="bg2">
              <a:lumMod val="1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text styles</a:t>
            </a:r>
          </a:p>
          <a:p>
            <a:pPr lvl="1"/>
            <a:r>
              <a:rPr lang="en-US" altLang="id-ID" smtClean="0"/>
              <a:t>Second level</a:t>
            </a:r>
          </a:p>
          <a:p>
            <a:pPr lvl="2"/>
            <a:r>
              <a:rPr lang="en-US" altLang="id-ID" smtClean="0"/>
              <a:t>Third level</a:t>
            </a:r>
          </a:p>
          <a:p>
            <a:pPr lvl="3"/>
            <a:r>
              <a:rPr lang="en-US" altLang="id-ID" smtClean="0"/>
              <a:t>Fourth level</a:t>
            </a:r>
          </a:p>
          <a:p>
            <a:pPr lvl="4"/>
            <a:r>
              <a:rPr lang="en-US" altLang="id-ID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3414F5D-E921-4DF8-A0B8-3BBB76D65E32}" type="datetimeFigureOut">
              <a:rPr lang="en-US" altLang="en-US"/>
              <a:pPr>
                <a:defRPr/>
              </a:pPr>
              <a:t>9/26/2021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61D0A8B-D8C4-47E4-9E91-00D3B1C1511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rgbClr val="210E30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468122"/>
            <a:ext cx="2736304" cy="15841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379903"/>
            <a:ext cx="8143932" cy="6217449"/>
          </a:xfrm>
          <a:prstGeom prst="roundRect">
            <a:avLst>
              <a:gd name="adj" fmla="val 6014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Tw Cen MT Condensed Extra Bold" pitchFamily="34" charset="0"/>
              </a:rPr>
              <a:t>	   </a:t>
            </a:r>
            <a:r>
              <a:rPr lang="en-US" sz="4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Tw Cen MT Condensed Extra Bold" pitchFamily="34" charset="0"/>
              </a:rPr>
              <a:t>Untung</a:t>
            </a:r>
            <a:r>
              <a:rPr lang="en-US" sz="4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Tw Cen MT Condensed Extra Bold" pitchFamily="34" charset="0"/>
              </a:rPr>
              <a:t> </a:t>
            </a:r>
            <a:r>
              <a:rPr lang="en-US" sz="4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Tw Cen MT Condensed Extra Bold" pitchFamily="34" charset="0"/>
              </a:rPr>
              <a:t>Wiyana</a:t>
            </a:r>
            <a:r>
              <a:rPr lang="en-US" sz="4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Tw Cen MT Condensed Extra Bold" pitchFamily="34" charset="0"/>
              </a:rPr>
              <a:t>, </a:t>
            </a:r>
            <a:r>
              <a:rPr lang="en-US" sz="4400" b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latin typeface="Tw Cen MT Condensed Extra Bold" pitchFamily="34" charset="0"/>
              </a:rPr>
              <a:t>S.Kom</a:t>
            </a: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059832" y="1529066"/>
            <a:ext cx="4903986" cy="637703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081327755879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63764" y="2235344"/>
            <a:ext cx="4903985" cy="637703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err="1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utgwyn</a:t>
            </a:r>
            <a:r>
              <a:rPr lang="en-US" sz="32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@gmail.com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059832" y="2955424"/>
            <a:ext cx="4903985" cy="1985744"/>
          </a:xfrm>
          <a:prstGeom prst="roundRect">
            <a:avLst>
              <a:gd name="adj" fmla="val 6191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spc="50" dirty="0" err="1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watumas</a:t>
            </a:r>
            <a:endParaRPr lang="en-US" sz="2800" b="1" spc="50" dirty="0" smtClean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spc="50" dirty="0" err="1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jl.</a:t>
            </a:r>
            <a:r>
              <a:rPr lang="en-US" sz="28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2800" b="1" spc="50" dirty="0" err="1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watusari</a:t>
            </a:r>
            <a:r>
              <a:rPr lang="en-US" sz="28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gang </a:t>
            </a:r>
            <a:r>
              <a:rPr lang="en-US" sz="2800" b="1" spc="50" dirty="0" err="1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pisang</a:t>
            </a:r>
            <a:r>
              <a:rPr lang="en-US" sz="28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no.06 rt.09 rw.04 </a:t>
            </a:r>
            <a:r>
              <a:rPr lang="en-US" sz="2800" b="1" spc="50" dirty="0" err="1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purwanegara</a:t>
            </a:r>
            <a:r>
              <a:rPr lang="en-US" sz="28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2800" b="1" spc="50" dirty="0" err="1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purwokerto</a:t>
            </a:r>
            <a:r>
              <a:rPr lang="en-US" sz="28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2800" b="1" spc="50" dirty="0" err="1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utara</a:t>
            </a:r>
            <a:endParaRPr lang="en-US" sz="32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53759" y="548680"/>
            <a:ext cx="987619" cy="864096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928197" y="1518906"/>
            <a:ext cx="987619" cy="637703"/>
            <a:chOff x="1219491" y="1354570"/>
            <a:chExt cx="987619" cy="637703"/>
          </a:xfrm>
        </p:grpSpPr>
        <p:sp>
          <p:nvSpPr>
            <p:cNvPr id="16" name="Rounded Rectangle 15"/>
            <p:cNvSpPr/>
            <p:nvPr/>
          </p:nvSpPr>
          <p:spPr>
            <a:xfrm>
              <a:off x="1219491" y="1354570"/>
              <a:ext cx="987619" cy="637703"/>
            </a:xfrm>
            <a:prstGeom prst="roundRect">
              <a:avLst>
                <a:gd name="adj" fmla="val 14166"/>
              </a:avLst>
            </a:prstGeom>
            <a:solidFill>
              <a:schemeClr val="bg2">
                <a:lumMod val="25000"/>
              </a:schemeClr>
            </a:solidFill>
            <a:ln w="3175"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600" b="1" spc="50" dirty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endParaRPr>
            </a:p>
          </p:txBody>
        </p:sp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1791" y="1409199"/>
              <a:ext cx="274791" cy="52844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5342" y="1409199"/>
              <a:ext cx="331821" cy="52844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AutoShape 2" descr="Hasil gambar untuk icon symbol email"/>
          <p:cNvSpPr>
            <a:spLocks noChangeAspect="1" noChangeArrowheads="1"/>
          </p:cNvSpPr>
          <p:nvPr/>
        </p:nvSpPr>
        <p:spPr bwMode="auto">
          <a:xfrm>
            <a:off x="155575" y="-547688"/>
            <a:ext cx="1076325" cy="115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916822" y="2245047"/>
            <a:ext cx="987619" cy="637703"/>
            <a:chOff x="1208116" y="2080711"/>
            <a:chExt cx="987619" cy="637703"/>
          </a:xfrm>
        </p:grpSpPr>
        <p:sp>
          <p:nvSpPr>
            <p:cNvPr id="17" name="Rounded Rectangle 16"/>
            <p:cNvSpPr/>
            <p:nvPr/>
          </p:nvSpPr>
          <p:spPr>
            <a:xfrm>
              <a:off x="1208116" y="2080711"/>
              <a:ext cx="987619" cy="637703"/>
            </a:xfrm>
            <a:prstGeom prst="roundRect">
              <a:avLst>
                <a:gd name="adj" fmla="val 14166"/>
              </a:avLst>
            </a:prstGeom>
            <a:solidFill>
              <a:schemeClr val="bg2">
                <a:lumMod val="25000"/>
              </a:schemeClr>
            </a:solidFill>
            <a:ln w="3175"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600" b="1" spc="50" dirty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endParaRPr>
            </a:p>
          </p:txBody>
        </p:sp>
        <p:pic>
          <p:nvPicPr>
            <p:cNvPr id="2051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duotone>
                <a:prstClr val="black"/>
                <a:schemeClr val="accent4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070"/>
            <a:stretch/>
          </p:blipFill>
          <p:spPr bwMode="auto">
            <a:xfrm>
              <a:off x="1389091" y="2183656"/>
              <a:ext cx="648072" cy="389105"/>
            </a:xfrm>
            <a:prstGeom prst="roundRect">
              <a:avLst>
                <a:gd name="adj" fmla="val 9805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1907704" y="2985740"/>
            <a:ext cx="987619" cy="637703"/>
            <a:chOff x="1198998" y="2821404"/>
            <a:chExt cx="987619" cy="637703"/>
          </a:xfrm>
        </p:grpSpPr>
        <p:sp>
          <p:nvSpPr>
            <p:cNvPr id="21" name="Rounded Rectangle 20"/>
            <p:cNvSpPr/>
            <p:nvPr/>
          </p:nvSpPr>
          <p:spPr>
            <a:xfrm>
              <a:off x="1198998" y="2821404"/>
              <a:ext cx="987619" cy="637703"/>
            </a:xfrm>
            <a:prstGeom prst="roundRect">
              <a:avLst>
                <a:gd name="adj" fmla="val 14166"/>
              </a:avLst>
            </a:prstGeom>
            <a:solidFill>
              <a:schemeClr val="bg2">
                <a:lumMod val="25000"/>
              </a:schemeClr>
            </a:solidFill>
            <a:ln w="3175"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3600" b="1" spc="50" dirty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endParaRPr>
            </a:p>
          </p:txBody>
        </p:sp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8164" y="2898989"/>
              <a:ext cx="789799" cy="457116"/>
            </a:xfrm>
            <a:prstGeom prst="roundRect">
              <a:avLst>
                <a:gd name="adj" fmla="val 12259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58696"/>
            <a:ext cx="1013967" cy="864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1979712" y="1268760"/>
            <a:ext cx="532859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E:\KASUBBAG\Redmi\images\kelg\IMG_20180819_223523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867"/>
          <a:stretch/>
        </p:blipFill>
        <p:spPr bwMode="auto">
          <a:xfrm>
            <a:off x="828695" y="463437"/>
            <a:ext cx="1068376" cy="1120154"/>
          </a:xfrm>
          <a:prstGeom prst="roundRect">
            <a:avLst>
              <a:gd name="adj" fmla="val 10696"/>
            </a:avLst>
          </a:prstGeom>
          <a:ln>
            <a:solidFill>
              <a:schemeClr val="bg1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ounded Rectangle 23"/>
          <p:cNvSpPr/>
          <p:nvPr/>
        </p:nvSpPr>
        <p:spPr>
          <a:xfrm>
            <a:off x="1940365" y="5085184"/>
            <a:ext cx="987619" cy="702333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2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!</a:t>
            </a:r>
            <a:endParaRPr lang="en-US" sz="72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59830" y="5085184"/>
            <a:ext cx="4903985" cy="1349942"/>
          </a:xfrm>
          <a:prstGeom prst="roundRect">
            <a:avLst>
              <a:gd name="adj" fmla="val 6191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  <a:defRPr/>
            </a:pPr>
            <a:endParaRPr lang="en-US" sz="28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  <p:bldP spid="41" grpId="0" animBg="1"/>
      <p:bldP spid="24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65936" y="2044836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ORIENTASI UMUM MATA KULIAH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4179" y="2044836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A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772804" y="2791297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B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565937" y="2771434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KONTRAK PERKULIAHAN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5486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1628800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3516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5486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7647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1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773848" y="3531697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C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566981" y="3511834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bg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D I S K U S I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2691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20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877892" y="1268760"/>
            <a:ext cx="4216605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bobot</a:t>
            </a:r>
            <a:r>
              <a:rPr lang="en-US" sz="2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mata</a:t>
            </a:r>
            <a:r>
              <a:rPr lang="en-US" sz="2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kuliah</a:t>
            </a:r>
            <a:endParaRPr lang="en-US" sz="24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7892" y="2262753"/>
            <a:ext cx="4216607" cy="440172"/>
          </a:xfrm>
          <a:prstGeom prst="roundRect">
            <a:avLst>
              <a:gd name="adj" fmla="val 11129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 smtClean="0"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capaian</a:t>
            </a:r>
            <a:r>
              <a:rPr lang="en-US" sz="2400" b="1" dirty="0" smtClean="0"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pembelajaran</a:t>
            </a:r>
            <a:endParaRPr lang="id-ID" sz="2400" b="1" dirty="0">
              <a:solidFill>
                <a:srgbClr val="421C5E"/>
              </a:solidFill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511290" y="1268760"/>
            <a:ext cx="262728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1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511290" y="1782752"/>
            <a:ext cx="262728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2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877893" y="1762889"/>
            <a:ext cx="4216604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referensi</a:t>
            </a:r>
            <a:endParaRPr lang="en-US" sz="24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519895" y="2299130"/>
            <a:ext cx="262727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3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877892" y="2785859"/>
            <a:ext cx="4216606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tujuan</a:t>
            </a:r>
            <a:r>
              <a:rPr lang="en-US" sz="2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pembelajaran</a:t>
            </a:r>
            <a:endParaRPr lang="en-US" sz="24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519895" y="2785859"/>
            <a:ext cx="262727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4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877893" y="3280390"/>
            <a:ext cx="4216606" cy="440172"/>
          </a:xfrm>
          <a:prstGeom prst="roundRect">
            <a:avLst>
              <a:gd name="adj" fmla="val 11129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 smtClean="0"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kompetensi</a:t>
            </a:r>
            <a:endParaRPr lang="id-ID" sz="2400" b="1" dirty="0">
              <a:solidFill>
                <a:srgbClr val="421C5E"/>
              </a:solidFill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519895" y="3316767"/>
            <a:ext cx="262727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5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877893" y="3803496"/>
            <a:ext cx="4216606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proyek</a:t>
            </a:r>
            <a:r>
              <a:rPr lang="en-US" sz="2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akhir</a:t>
            </a:r>
            <a:r>
              <a:rPr lang="en-US" sz="2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/ </a:t>
            </a: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tugas</a:t>
            </a:r>
            <a:endParaRPr lang="en-US" sz="24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515765" y="3811185"/>
            <a:ext cx="262727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6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79512" y="44624"/>
            <a:ext cx="2309337" cy="378052"/>
            <a:chOff x="1916086" y="4600080"/>
            <a:chExt cx="5842810" cy="1421208"/>
          </a:xfrm>
        </p:grpSpPr>
        <p:sp>
          <p:nvSpPr>
            <p:cNvPr id="19" name="WordArt 2"/>
            <p:cNvSpPr>
              <a:spLocks noChangeArrowheads="1" noChangeShapeType="1" noTextEdit="1"/>
            </p:cNvSpPr>
            <p:nvPr/>
          </p:nvSpPr>
          <p:spPr bwMode="auto">
            <a:xfrm>
              <a:off x="1916086" y="4797152"/>
              <a:ext cx="4464498" cy="90200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 algn="ctr" rtl="0"/>
              <a:r>
                <a:rPr lang="id-ID" sz="3600" b="1" kern="10" dirty="0" smtClean="0">
                  <a:ln w="19050">
                    <a:solidFill>
                      <a:srgbClr val="FFFF00"/>
                    </a:solidFill>
                  </a:ln>
                  <a:solidFill>
                    <a:srgbClr val="421C5E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Stencil" pitchFamily="82" charset="0"/>
                </a:rPr>
                <a:t>PPKN</a:t>
              </a:r>
              <a:endParaRPr lang="en-US" sz="3600" b="1" kern="10" dirty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endParaRPr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1916086" y="5877272"/>
              <a:ext cx="4618674" cy="0"/>
            </a:xfrm>
            <a:prstGeom prst="line">
              <a:avLst/>
            </a:prstGeom>
            <a:ln w="38100">
              <a:solidFill>
                <a:srgbClr val="FFFF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6534760" y="4600080"/>
              <a:ext cx="1224136" cy="1421208"/>
            </a:xfrm>
            <a:prstGeom prst="roundRect">
              <a:avLst>
                <a:gd name="adj" fmla="val 8621"/>
              </a:avLst>
            </a:prstGeom>
            <a:solidFill>
              <a:srgbClr val="421C5E"/>
            </a:solidFill>
            <a:ln w="1905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WordArt 2"/>
            <p:cNvSpPr>
              <a:spLocks noChangeArrowheads="1" noChangeShapeType="1" noTextEdit="1"/>
            </p:cNvSpPr>
            <p:nvPr/>
          </p:nvSpPr>
          <p:spPr bwMode="auto">
            <a:xfrm>
              <a:off x="6702720" y="4797152"/>
              <a:ext cx="902000" cy="1629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 algn="ctr" rtl="0"/>
              <a:r>
                <a:rPr lang="id-ID" sz="3600" b="1" kern="10" dirty="0" smtClean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Franklin Gothic Demi Cond" pitchFamily="34" charset="0"/>
                </a:rPr>
                <a:t>P</a:t>
              </a:r>
              <a:r>
                <a:rPr lang="en-US" sz="3600" b="1" kern="10" dirty="0" smtClean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Franklin Gothic Demi Cond" pitchFamily="34" charset="0"/>
                </a:rPr>
                <a:t>ERTEMUAN</a:t>
              </a:r>
              <a:endParaRPr lang="en-US" sz="3600" b="1" kern="10" dirty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endParaRPr>
            </a:p>
          </p:txBody>
        </p:sp>
        <p:sp>
          <p:nvSpPr>
            <p:cNvPr id="28" name="WordArt 2"/>
            <p:cNvSpPr>
              <a:spLocks noChangeArrowheads="1" noChangeShapeType="1" noTextEdit="1"/>
            </p:cNvSpPr>
            <p:nvPr/>
          </p:nvSpPr>
          <p:spPr bwMode="auto">
            <a:xfrm>
              <a:off x="6702720" y="5013176"/>
              <a:ext cx="902000" cy="6860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 algn="ctr" rtl="0"/>
              <a:r>
                <a:rPr lang="en-US" sz="3600" b="1" kern="10" dirty="0" smtClean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Bernard MT Condensed" pitchFamily="18" charset="0"/>
                </a:rPr>
                <a:t>1</a:t>
              </a:r>
              <a:endParaRPr lang="en-US" sz="3600" b="1" kern="10" dirty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endParaRP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1403648" y="531559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ORIENTASI UMUM MATA KULIAH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1891" y="531559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A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877892" y="4798664"/>
            <a:ext cx="4216607" cy="440172"/>
          </a:xfrm>
          <a:prstGeom prst="roundRect">
            <a:avLst>
              <a:gd name="adj" fmla="val 11129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err="1" smtClean="0"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kalender</a:t>
            </a:r>
            <a:r>
              <a:rPr lang="en-US" sz="2400" b="1" dirty="0" smtClean="0"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akademis</a:t>
            </a:r>
            <a:endParaRPr lang="id-ID" sz="2400" b="1" dirty="0">
              <a:solidFill>
                <a:srgbClr val="421C5E"/>
              </a:solidFill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511290" y="4318663"/>
            <a:ext cx="262728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7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877893" y="4298800"/>
            <a:ext cx="4216604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materi</a:t>
            </a:r>
            <a:endParaRPr lang="en-US" sz="24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519895" y="4835041"/>
            <a:ext cx="262727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8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877892" y="5321770"/>
            <a:ext cx="4216606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jadwal</a:t>
            </a:r>
            <a:r>
              <a:rPr lang="en-US" sz="2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ppkn</a:t>
            </a:r>
            <a:endParaRPr lang="en-US" sz="24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519895" y="5321770"/>
            <a:ext cx="262727" cy="416417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9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996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3" grpId="0" animBg="1"/>
      <p:bldP spid="24" grpId="0" animBg="1"/>
      <p:bldP spid="42" grpId="0" animBg="1"/>
      <p:bldP spid="43" grpId="0" animBg="1"/>
      <p:bldP spid="44" grpId="0" animBg="1"/>
      <p:bldP spid="45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20579" y="1652897"/>
            <a:ext cx="3567030" cy="637703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3  SKS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4995" y="3319316"/>
            <a:ext cx="2160242" cy="422976"/>
          </a:xfrm>
          <a:prstGeom prst="roundRect">
            <a:avLst>
              <a:gd name="adj" fmla="val 11129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2">
                    <a:lumMod val="10000"/>
                  </a:schemeClr>
                </a:solidFill>
                <a:latin typeface="Bernard MT Condensed" pitchFamily="18" charset="0"/>
                <a:cs typeface="Arial" pitchFamily="34" charset="0"/>
              </a:rPr>
              <a:t>14 MATERI</a:t>
            </a:r>
            <a:endParaRPr lang="id-ID" sz="2400" b="1" dirty="0">
              <a:solidFill>
                <a:schemeClr val="bg2">
                  <a:lumMod val="10000"/>
                </a:schemeClr>
              </a:solidFill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553976" y="1652897"/>
            <a:ext cx="262728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553976" y="2399358"/>
            <a:ext cx="262728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920579" y="2379495"/>
            <a:ext cx="3567029" cy="637703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16 PERTEMUAN</a:t>
            </a: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917289" y="3327516"/>
            <a:ext cx="154114" cy="400149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144995" y="3829149"/>
            <a:ext cx="2160241" cy="422976"/>
          </a:xfrm>
          <a:prstGeom prst="roundRect">
            <a:avLst>
              <a:gd name="adj" fmla="val 11129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2">
                    <a:lumMod val="10000"/>
                  </a:schemeClr>
                </a:solidFill>
                <a:latin typeface="Bernard MT Condensed" pitchFamily="18" charset="0"/>
                <a:cs typeface="Arial" pitchFamily="34" charset="0"/>
              </a:rPr>
              <a:t>1   UTS</a:t>
            </a:r>
            <a:endParaRPr lang="id-ID" sz="2400" b="1" dirty="0">
              <a:solidFill>
                <a:schemeClr val="bg2">
                  <a:lumMod val="10000"/>
                </a:schemeClr>
              </a:solidFill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917289" y="3820939"/>
            <a:ext cx="154114" cy="400149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144995" y="4338992"/>
            <a:ext cx="2160241" cy="400149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1  UAS</a:t>
            </a:r>
            <a:endParaRPr lang="en-US" sz="2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917288" y="4338992"/>
            <a:ext cx="154114" cy="400149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79512" y="44624"/>
            <a:ext cx="2309337" cy="648073"/>
            <a:chOff x="179512" y="44624"/>
            <a:chExt cx="2309337" cy="648073"/>
          </a:xfrm>
        </p:grpSpPr>
        <p:grpSp>
          <p:nvGrpSpPr>
            <p:cNvPr id="18" name="Group 17"/>
            <p:cNvGrpSpPr/>
            <p:nvPr/>
          </p:nvGrpSpPr>
          <p:grpSpPr>
            <a:xfrm>
              <a:off x="179512" y="44624"/>
              <a:ext cx="2309337" cy="378052"/>
              <a:chOff x="1916086" y="4600080"/>
              <a:chExt cx="5842810" cy="1421208"/>
            </a:xfrm>
          </p:grpSpPr>
          <p:sp>
            <p:nvSpPr>
              <p:cNvPr id="19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16086" y="4797152"/>
                <a:ext cx="4464498" cy="9020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9050">
                      <a:solidFill>
                        <a:srgbClr val="FFFF00"/>
                      </a:solidFill>
                    </a:ln>
                    <a:solidFill>
                      <a:srgbClr val="421C5E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Stencil" pitchFamily="82" charset="0"/>
                  </a:rPr>
                  <a:t>PPKN</a:t>
                </a:r>
                <a:endParaRPr lang="en-US" sz="3600" b="1" kern="10" dirty="0">
                  <a:ln w="19050">
                    <a:solidFill>
                      <a:srgbClr val="FFFF00"/>
                    </a:solidFill>
                  </a:ln>
                  <a:solidFill>
                    <a:srgbClr val="421C5E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Stencil" pitchFamily="82" charset="0"/>
                </a:endParaRPr>
              </a:p>
            </p:txBody>
          </p:sp>
          <p:cxnSp>
            <p:nvCxnSpPr>
              <p:cNvPr id="25" name="Straight Connector 24"/>
              <p:cNvCxnSpPr/>
              <p:nvPr/>
            </p:nvCxnSpPr>
            <p:spPr>
              <a:xfrm>
                <a:off x="1916086" y="5877272"/>
                <a:ext cx="461867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ounded Rectangle 25"/>
              <p:cNvSpPr/>
              <p:nvPr/>
            </p:nvSpPr>
            <p:spPr>
              <a:xfrm>
                <a:off x="6534760" y="4600080"/>
                <a:ext cx="1224136" cy="1421208"/>
              </a:xfrm>
              <a:prstGeom prst="roundRect">
                <a:avLst>
                  <a:gd name="adj" fmla="val 8621"/>
                </a:avLst>
              </a:prstGeom>
              <a:solidFill>
                <a:srgbClr val="421C5E"/>
              </a:solidFill>
              <a:ln w="1905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4797152"/>
                <a:ext cx="902000" cy="1629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P</a:t>
                </a:r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ERTEMUAN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Franklin Gothic Demi Cond" pitchFamily="34" charset="0"/>
                </a:endParaRPr>
              </a:p>
            </p:txBody>
          </p:sp>
          <p:sp>
            <p:nvSpPr>
              <p:cNvPr id="28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5013176"/>
                <a:ext cx="902000" cy="6860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Bernard MT Condensed" pitchFamily="18" charset="0"/>
                  </a:rPr>
                  <a:t>1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179513" y="476673"/>
              <a:ext cx="1825504" cy="216024"/>
              <a:chOff x="774291" y="5887641"/>
              <a:chExt cx="5822317" cy="637703"/>
            </a:xfrm>
          </p:grpSpPr>
          <p:sp>
            <p:nvSpPr>
              <p:cNvPr id="34" name="Rounded Rectangle 33"/>
              <p:cNvSpPr/>
              <p:nvPr/>
            </p:nvSpPr>
            <p:spPr>
              <a:xfrm>
                <a:off x="1556048" y="5887641"/>
                <a:ext cx="5040560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8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ORIENTASI UMUM MATA KULIAH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774291" y="5887641"/>
                <a:ext cx="699589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9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A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</p:grpSp>
      <p:sp>
        <p:nvSpPr>
          <p:cNvPr id="36" name="Rounded Rectangle 35"/>
          <p:cNvSpPr/>
          <p:nvPr/>
        </p:nvSpPr>
        <p:spPr>
          <a:xfrm>
            <a:off x="1483807" y="775475"/>
            <a:ext cx="4003801" cy="785818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Bobot</a:t>
            </a:r>
            <a:r>
              <a:rPr lang="en-US" sz="4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makul</a:t>
            </a:r>
            <a:endParaRPr lang="en-US" sz="48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95536" y="764704"/>
            <a:ext cx="987619" cy="785818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1</a:t>
            </a: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448075" y="3284984"/>
            <a:ext cx="1046973" cy="696275"/>
          </a:xfrm>
          <a:prstGeom prst="roundRect">
            <a:avLst>
              <a:gd name="adj" fmla="val 8324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sng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TAHAP I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8</a:t>
            </a:r>
            <a:r>
              <a:rPr lang="en-US" sz="1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pert</a:t>
            </a:r>
            <a:endParaRPr lang="en-US" sz="1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591595" y="3303933"/>
            <a:ext cx="2919107" cy="675009"/>
          </a:xfrm>
          <a:prstGeom prst="roundRect">
            <a:avLst>
              <a:gd name="adj" fmla="val 8324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169863" indent="-169863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7</a:t>
            </a:r>
            <a:r>
              <a:rPr lang="en-US" sz="1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pert : METERI &amp;/ PENUGASAN</a:t>
            </a:r>
          </a:p>
          <a:p>
            <a:pPr marL="169863" indent="-169863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r>
              <a:rPr lang="en-US" sz="1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pert : U T S</a:t>
            </a:r>
            <a:endParaRPr lang="en-US" sz="1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46057" y="4068862"/>
            <a:ext cx="1046973" cy="696275"/>
          </a:xfrm>
          <a:prstGeom prst="roundRect">
            <a:avLst>
              <a:gd name="adj" fmla="val 8324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sng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TAHAP II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8</a:t>
            </a:r>
            <a:r>
              <a:rPr lang="en-US" sz="1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pert</a:t>
            </a:r>
            <a:endParaRPr lang="en-US" sz="1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591595" y="4077072"/>
            <a:ext cx="2919107" cy="675009"/>
          </a:xfrm>
          <a:prstGeom prst="roundRect">
            <a:avLst>
              <a:gd name="adj" fmla="val 8324"/>
            </a:avLst>
          </a:prstGeom>
          <a:solidFill>
            <a:schemeClr val="bg2">
              <a:lumMod val="25000"/>
            </a:schemeClr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169863" indent="-169863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spc="50" dirty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7 </a:t>
            </a:r>
            <a:r>
              <a:rPr lang="en-US" sz="1400" b="1" spc="50" dirty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pert</a:t>
            </a:r>
            <a:r>
              <a:rPr lang="en-US" sz="2000" b="1" spc="50" dirty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: </a:t>
            </a:r>
            <a:r>
              <a:rPr lang="en-US" sz="1400" b="1" spc="50" dirty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METERI &amp;/ PENUGASAN</a:t>
            </a:r>
          </a:p>
          <a:p>
            <a:pPr marL="169863" indent="-169863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0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1</a:t>
            </a:r>
            <a:r>
              <a:rPr lang="en-US" sz="1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Demi Cond" pitchFamily="34" charset="0"/>
              </a:rPr>
              <a:t> pert : U A S</a:t>
            </a:r>
            <a:endParaRPr lang="en-US" sz="1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8756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42" grpId="0" animBg="1"/>
      <p:bldP spid="43" grpId="0" animBg="1"/>
      <p:bldP spid="44" grpId="0" animBg="1"/>
      <p:bldP spid="45" grpId="0" animBg="1"/>
      <p:bldP spid="36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500034" y="688598"/>
            <a:ext cx="8143932" cy="5597922"/>
          </a:xfrm>
          <a:prstGeom prst="roundRect">
            <a:avLst>
              <a:gd name="adj" fmla="val 6014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512412" y="980728"/>
            <a:ext cx="5365134" cy="785818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referensi</a:t>
            </a:r>
            <a:endParaRPr lang="en-US" sz="48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0000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6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915816" y="1916832"/>
            <a:ext cx="4961730" cy="1678454"/>
          </a:xfrm>
          <a:prstGeom prst="roundRect">
            <a:avLst>
              <a:gd name="adj" fmla="val 4376"/>
            </a:avLst>
          </a:prstGeom>
          <a:solidFill>
            <a:srgbClr val="ED9513"/>
          </a:solidFill>
          <a:ln w="28575">
            <a:solidFill>
              <a:schemeClr val="bg2">
                <a:lumMod val="1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marL="169863" lvl="0" indent="-169863">
              <a:buFont typeface="Wingdings" pitchFamily="2" charset="2"/>
              <a:buChar char="§"/>
            </a:pPr>
            <a:r>
              <a:rPr lang="en-US" sz="1600" dirty="0">
                <a:latin typeface="Franklin Gothic Demi Cond" pitchFamily="34" charset="0"/>
              </a:rPr>
              <a:t>RISTEKDIKTI. 2016. </a:t>
            </a:r>
            <a:r>
              <a:rPr lang="en-US" sz="1600" dirty="0" err="1">
                <a:latin typeface="Franklin Gothic Demi Cond" pitchFamily="34" charset="0"/>
              </a:rPr>
              <a:t>Buku</a:t>
            </a:r>
            <a:r>
              <a:rPr lang="en-US" sz="1600" dirty="0">
                <a:latin typeface="Franklin Gothic Demi Cond" pitchFamily="34" charset="0"/>
              </a:rPr>
              <a:t> Ajar Mata </a:t>
            </a:r>
            <a:r>
              <a:rPr lang="en-US" sz="1600" dirty="0" err="1">
                <a:latin typeface="Franklin Gothic Demi Cond" pitchFamily="34" charset="0"/>
              </a:rPr>
              <a:t>Kuliah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Wajib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Umum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Pendidikan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Pancasila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Untuk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Perguruan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Tinggi</a:t>
            </a:r>
            <a:r>
              <a:rPr lang="en-US" sz="1600" dirty="0">
                <a:latin typeface="Franklin Gothic Demi Cond" pitchFamily="34" charset="0"/>
              </a:rPr>
              <a:t>. RISTEKDIKTI: Jakarta.</a:t>
            </a:r>
          </a:p>
          <a:p>
            <a:pPr marL="169863" lvl="0" indent="-169863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1600" dirty="0">
                <a:latin typeface="Franklin Gothic Demi Cond" pitchFamily="34" charset="0"/>
              </a:rPr>
              <a:t>RISTEKDIKTI. 2016. </a:t>
            </a:r>
            <a:r>
              <a:rPr lang="en-US" sz="1600" dirty="0" err="1">
                <a:latin typeface="Franklin Gothic Demi Cond" pitchFamily="34" charset="0"/>
              </a:rPr>
              <a:t>Buku</a:t>
            </a:r>
            <a:r>
              <a:rPr lang="en-US" sz="1600" dirty="0">
                <a:latin typeface="Franklin Gothic Demi Cond" pitchFamily="34" charset="0"/>
              </a:rPr>
              <a:t> Ajar Mata </a:t>
            </a:r>
            <a:r>
              <a:rPr lang="en-US" sz="1600" dirty="0" err="1">
                <a:latin typeface="Franklin Gothic Demi Cond" pitchFamily="34" charset="0"/>
              </a:rPr>
              <a:t>Kuliah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Wajib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Umum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Pendidikan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Kewarganegaraan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Untuk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Perguruan</a:t>
            </a:r>
            <a:r>
              <a:rPr lang="en-US" sz="1600" dirty="0">
                <a:latin typeface="Franklin Gothic Demi Cond" pitchFamily="34" charset="0"/>
              </a:rPr>
              <a:t> </a:t>
            </a:r>
            <a:r>
              <a:rPr lang="en-US" sz="1600" dirty="0" err="1">
                <a:latin typeface="Franklin Gothic Demi Cond" pitchFamily="34" charset="0"/>
              </a:rPr>
              <a:t>Tinggi</a:t>
            </a:r>
            <a:r>
              <a:rPr lang="en-US" sz="1600" dirty="0">
                <a:latin typeface="Franklin Gothic Demi Cond" pitchFamily="34" charset="0"/>
              </a:rPr>
              <a:t>. RISTEKDIKTI: Jakarta</a:t>
            </a:r>
            <a:r>
              <a:rPr lang="en-US" sz="1600" dirty="0" smtClean="0">
                <a:latin typeface="Franklin Gothic Demi Cond" pitchFamily="34" charset="0"/>
              </a:rPr>
              <a:t>.</a:t>
            </a:r>
            <a:endParaRPr lang="en-US" sz="1600" b="1" dirty="0">
              <a:ln w="19050">
                <a:solidFill>
                  <a:srgbClr val="FFFF00"/>
                </a:solidFill>
                <a:prstDash val="solid"/>
              </a:ln>
              <a:solidFill>
                <a:schemeClr val="bg2">
                  <a:lumMod val="1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Franklin Gothic Demi Cond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55776" y="1916832"/>
            <a:ext cx="308270" cy="423327"/>
          </a:xfrm>
          <a:prstGeom prst="roundRect">
            <a:avLst>
              <a:gd name="adj" fmla="val 10616"/>
            </a:avLst>
          </a:prstGeom>
          <a:solidFill>
            <a:srgbClr val="421C5E"/>
          </a:solidFill>
          <a:ln w="28575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2000" b="1" dirty="0" smtClean="0">
                <a:ln w="3175">
                  <a:solidFill>
                    <a:srgbClr val="FFFF00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Cooper Black" pitchFamily="18" charset="0"/>
                <a:cs typeface="Arial" panose="020B0604020202020204" pitchFamily="34" charset="0"/>
              </a:rPr>
              <a:t> </a:t>
            </a:r>
            <a:endParaRPr lang="en-US" sz="2000" b="1" dirty="0">
              <a:ln w="3175">
                <a:solidFill>
                  <a:srgbClr val="FFFF00"/>
                </a:solidFill>
                <a:prstDash val="solid"/>
              </a:ln>
              <a:solidFill>
                <a:schemeClr val="bg2">
                  <a:lumMod val="1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Cooper Black" pitchFamily="18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15816" y="3695827"/>
            <a:ext cx="4961730" cy="423327"/>
          </a:xfrm>
          <a:prstGeom prst="roundRect">
            <a:avLst>
              <a:gd name="adj" fmla="val 10616"/>
            </a:avLst>
          </a:prstGeom>
          <a:solidFill>
            <a:srgbClr val="ED9513"/>
          </a:solidFill>
          <a:ln w="28575">
            <a:solidFill>
              <a:schemeClr val="bg2">
                <a:lumMod val="1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2000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Referensi lain yang mendukung</a:t>
            </a:r>
            <a:r>
              <a:rPr lang="id-ID" sz="20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.</a:t>
            </a:r>
            <a:endParaRPr lang="en-US" sz="2000" b="1" dirty="0">
              <a:ln w="19050">
                <a:solidFill>
                  <a:srgbClr val="FFFF00"/>
                </a:solidFill>
                <a:prstDash val="solid"/>
              </a:ln>
              <a:solidFill>
                <a:schemeClr val="bg2">
                  <a:lumMod val="1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Cooper Black" pitchFamily="18" charset="0"/>
              <a:cs typeface="Arial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55776" y="3695827"/>
            <a:ext cx="308270" cy="423327"/>
          </a:xfrm>
          <a:prstGeom prst="roundRect">
            <a:avLst>
              <a:gd name="adj" fmla="val 10616"/>
            </a:avLst>
          </a:prstGeom>
          <a:solidFill>
            <a:srgbClr val="421C5E"/>
          </a:solidFill>
          <a:ln w="28575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2000" b="1" dirty="0" smtClean="0">
                <a:ln w="3175">
                  <a:solidFill>
                    <a:srgbClr val="FFFF00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Cooper Black" pitchFamily="18" charset="0"/>
                <a:cs typeface="Arial" panose="020B0604020202020204" pitchFamily="34" charset="0"/>
              </a:rPr>
              <a:t> </a:t>
            </a:r>
            <a:endParaRPr lang="en-US" sz="2000" b="1" dirty="0">
              <a:ln w="3175">
                <a:solidFill>
                  <a:srgbClr val="FFFF00"/>
                </a:solidFill>
                <a:prstDash val="solid"/>
              </a:ln>
              <a:solidFill>
                <a:schemeClr val="bg2">
                  <a:lumMod val="1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Cooper Black" pitchFamily="18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79512" y="44624"/>
            <a:ext cx="2309337" cy="648073"/>
            <a:chOff x="179512" y="44624"/>
            <a:chExt cx="2309337" cy="648073"/>
          </a:xfrm>
        </p:grpSpPr>
        <p:grpSp>
          <p:nvGrpSpPr>
            <p:cNvPr id="17" name="Group 16"/>
            <p:cNvGrpSpPr/>
            <p:nvPr/>
          </p:nvGrpSpPr>
          <p:grpSpPr>
            <a:xfrm>
              <a:off x="179512" y="44624"/>
              <a:ext cx="2309337" cy="378052"/>
              <a:chOff x="1916086" y="4600080"/>
              <a:chExt cx="5842810" cy="1421208"/>
            </a:xfrm>
          </p:grpSpPr>
          <p:sp>
            <p:nvSpPr>
              <p:cNvPr id="21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16086" y="4797152"/>
                <a:ext cx="4464498" cy="9020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9050">
                      <a:solidFill>
                        <a:srgbClr val="FFFF00"/>
                      </a:solidFill>
                    </a:ln>
                    <a:solidFill>
                      <a:srgbClr val="421C5E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Stencil" pitchFamily="82" charset="0"/>
                  </a:rPr>
                  <a:t>PPKN</a:t>
                </a:r>
                <a:endParaRPr lang="en-US" sz="3600" b="1" kern="10" dirty="0">
                  <a:ln w="19050">
                    <a:solidFill>
                      <a:srgbClr val="FFFF00"/>
                    </a:solidFill>
                  </a:ln>
                  <a:solidFill>
                    <a:srgbClr val="421C5E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Stencil" pitchFamily="82" charset="0"/>
                </a:endParaRPr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1916086" y="5877272"/>
                <a:ext cx="461867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ounded Rectangle 22"/>
              <p:cNvSpPr/>
              <p:nvPr/>
            </p:nvSpPr>
            <p:spPr>
              <a:xfrm>
                <a:off x="6534760" y="4600080"/>
                <a:ext cx="1224136" cy="1421208"/>
              </a:xfrm>
              <a:prstGeom prst="roundRect">
                <a:avLst>
                  <a:gd name="adj" fmla="val 8621"/>
                </a:avLst>
              </a:prstGeom>
              <a:solidFill>
                <a:srgbClr val="421C5E"/>
              </a:solidFill>
              <a:ln w="1905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4797152"/>
                <a:ext cx="902000" cy="1629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P</a:t>
                </a:r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ERTEMUAN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Franklin Gothic Demi Cond" pitchFamily="34" charset="0"/>
                </a:endParaRPr>
              </a:p>
            </p:txBody>
          </p:sp>
          <p:sp>
            <p:nvSpPr>
              <p:cNvPr id="25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5013176"/>
                <a:ext cx="902000" cy="6860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Bernard MT Condensed" pitchFamily="18" charset="0"/>
                  </a:rPr>
                  <a:t>1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179513" y="476673"/>
              <a:ext cx="1825504" cy="216024"/>
              <a:chOff x="774291" y="5887641"/>
              <a:chExt cx="5822317" cy="637703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1556048" y="5887641"/>
                <a:ext cx="5040560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8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ORIENTASI UMUM MATA KULIAH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774291" y="5887641"/>
                <a:ext cx="699589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9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A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</p:grpSp>
      <p:sp>
        <p:nvSpPr>
          <p:cNvPr id="26" name="Rounded Rectangle 25"/>
          <p:cNvSpPr/>
          <p:nvPr/>
        </p:nvSpPr>
        <p:spPr>
          <a:xfrm>
            <a:off x="1424141" y="984575"/>
            <a:ext cx="987619" cy="785818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2</a:t>
            </a: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7" name="AutoShape 34"/>
          <p:cNvSpPr>
            <a:spLocks noChangeArrowheads="1"/>
          </p:cNvSpPr>
          <p:nvPr/>
        </p:nvSpPr>
        <p:spPr bwMode="auto">
          <a:xfrm>
            <a:off x="3203847" y="5301110"/>
            <a:ext cx="4673699" cy="504154"/>
          </a:xfrm>
          <a:prstGeom prst="round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defRPr/>
            </a:pPr>
            <a:r>
              <a:rPr lang="en-US" sz="1400" dirty="0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Drs. H. </a:t>
            </a:r>
            <a:r>
              <a:rPr lang="en-US" sz="1400" dirty="0" err="1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Burhanuddin</a:t>
            </a:r>
            <a:r>
              <a:rPr lang="en-US" sz="1400" dirty="0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 Salam,  </a:t>
            </a:r>
            <a:r>
              <a:rPr lang="en-US" sz="1400" dirty="0" err="1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Fisafat</a:t>
            </a:r>
            <a:r>
              <a:rPr lang="en-US" sz="1400" dirty="0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1400" dirty="0" err="1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Pancasilaisme</a:t>
            </a:r>
            <a:r>
              <a:rPr lang="en-US" sz="1400" dirty="0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, </a:t>
            </a:r>
            <a:r>
              <a:rPr lang="en-US" sz="1400" dirty="0" err="1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Rineka</a:t>
            </a:r>
            <a:r>
              <a:rPr lang="en-US" sz="1400" dirty="0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1400" dirty="0" err="1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Cipta,Edisi</a:t>
            </a:r>
            <a:r>
              <a:rPr lang="en-US" sz="1400" dirty="0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 </a:t>
            </a:r>
            <a:r>
              <a:rPr lang="en-US" sz="1400" dirty="0" err="1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Revisi</a:t>
            </a:r>
            <a:endParaRPr lang="en-US" sz="1400" dirty="0">
              <a:ln w="11430"/>
              <a:solidFill>
                <a:schemeClr val="bg1">
                  <a:lumMod val="9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lin Sans FB" pitchFamily="34" charset="0"/>
            </a:endParaRPr>
          </a:p>
        </p:txBody>
      </p:sp>
      <p:sp>
        <p:nvSpPr>
          <p:cNvPr id="28" name="AutoShape 33"/>
          <p:cNvSpPr>
            <a:spLocks noChangeArrowheads="1"/>
          </p:cNvSpPr>
          <p:nvPr/>
        </p:nvSpPr>
        <p:spPr bwMode="auto">
          <a:xfrm>
            <a:off x="3203847" y="4743791"/>
            <a:ext cx="4673699" cy="504154"/>
          </a:xfrm>
          <a:prstGeom prst="round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defRPr/>
            </a:pPr>
            <a:r>
              <a:rPr lang="fi-FI" sz="1400" dirty="0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Prof. Darji Darmodiharjo, S.H, 1991 Santiaji Pancasila, Usaha Nasional Surabaya Indonesia, Edisi Revisi</a:t>
            </a:r>
            <a:endParaRPr lang="en-US" sz="1400" dirty="0">
              <a:ln w="11430"/>
              <a:solidFill>
                <a:schemeClr val="bg1">
                  <a:lumMod val="9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lin Sans FB" pitchFamily="34" charset="0"/>
            </a:endParaRPr>
          </a:p>
        </p:txBody>
      </p:sp>
      <p:sp>
        <p:nvSpPr>
          <p:cNvPr id="30" name="AutoShape 32"/>
          <p:cNvSpPr>
            <a:spLocks noChangeArrowheads="1"/>
          </p:cNvSpPr>
          <p:nvPr/>
        </p:nvSpPr>
        <p:spPr bwMode="auto">
          <a:xfrm>
            <a:off x="3203847" y="4220990"/>
            <a:ext cx="4673699" cy="472059"/>
          </a:xfrm>
          <a:prstGeom prst="roundRect">
            <a:avLst/>
          </a:prstGeom>
          <a:noFill/>
          <a:ln w="9525">
            <a:solidFill>
              <a:srgbClr val="FFC000"/>
            </a:solidFill>
            <a:miter lim="800000"/>
            <a:headEnd/>
            <a:tailEnd/>
          </a:ln>
        </p:spPr>
        <p:txBody>
          <a:bodyPr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defRPr/>
            </a:pPr>
            <a:r>
              <a:rPr lang="fi-FI" sz="1400" dirty="0">
                <a:ln w="11430"/>
                <a:solidFill>
                  <a:schemeClr val="bg1">
                    <a:lumMod val="9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lin Sans FB" pitchFamily="34" charset="0"/>
              </a:rPr>
              <a:t>Drs. H. Kaelan, M.S, 2004  Pendidikan Pancasila, Paradigma Yogyakarta, Edisi Reformasi 2008.</a:t>
            </a:r>
            <a:endParaRPr lang="en-US" sz="1400" dirty="0">
              <a:ln w="11430"/>
              <a:solidFill>
                <a:schemeClr val="bg1">
                  <a:lumMod val="9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lin Sans FB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 rot="5400000">
            <a:off x="2923877" y="4340141"/>
            <a:ext cx="308270" cy="213985"/>
          </a:xfrm>
          <a:prstGeom prst="triangle">
            <a:avLst/>
          </a:prstGeom>
          <a:solidFill>
            <a:srgbClr val="ED9513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00" b="1" dirty="0" smtClean="0">
                <a:ln w="3175">
                  <a:solidFill>
                    <a:srgbClr val="FFFF00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Cooper Black" pitchFamily="18" charset="0"/>
                <a:cs typeface="Arial" panose="020B0604020202020204" pitchFamily="34" charset="0"/>
              </a:rPr>
              <a:t> </a:t>
            </a:r>
            <a:endParaRPr lang="en-US" sz="100" b="1" dirty="0">
              <a:ln w="3175">
                <a:solidFill>
                  <a:srgbClr val="FFFF00"/>
                </a:solidFill>
                <a:prstDash val="solid"/>
              </a:ln>
              <a:solidFill>
                <a:schemeClr val="bg2">
                  <a:lumMod val="1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Cooper Black" pitchFamily="18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 rot="5400000">
            <a:off x="2930049" y="4844197"/>
            <a:ext cx="308270" cy="213985"/>
          </a:xfrm>
          <a:prstGeom prst="triangle">
            <a:avLst/>
          </a:prstGeom>
          <a:solidFill>
            <a:srgbClr val="ED9513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00" b="1" dirty="0" smtClean="0">
                <a:ln w="3175">
                  <a:solidFill>
                    <a:srgbClr val="FFFF00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Cooper Black" pitchFamily="18" charset="0"/>
                <a:cs typeface="Arial" panose="020B0604020202020204" pitchFamily="34" charset="0"/>
              </a:rPr>
              <a:t> </a:t>
            </a:r>
            <a:endParaRPr lang="en-US" sz="100" b="1" dirty="0">
              <a:ln w="3175">
                <a:solidFill>
                  <a:srgbClr val="FFFF00"/>
                </a:solidFill>
                <a:prstDash val="solid"/>
              </a:ln>
              <a:solidFill>
                <a:schemeClr val="bg2">
                  <a:lumMod val="1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Cooper Black" pitchFamily="18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 rot="5400000">
            <a:off x="2936221" y="5420261"/>
            <a:ext cx="308270" cy="213985"/>
          </a:xfrm>
          <a:prstGeom prst="triangle">
            <a:avLst/>
          </a:prstGeom>
          <a:solidFill>
            <a:srgbClr val="ED9513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100" b="1" dirty="0" smtClean="0">
                <a:ln w="3175">
                  <a:solidFill>
                    <a:srgbClr val="FFFF00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Cooper Black" pitchFamily="18" charset="0"/>
                <a:cs typeface="Arial" panose="020B0604020202020204" pitchFamily="34" charset="0"/>
              </a:rPr>
              <a:t> </a:t>
            </a:r>
            <a:endParaRPr lang="en-US" sz="100" b="1" dirty="0">
              <a:ln w="3175">
                <a:solidFill>
                  <a:srgbClr val="FFFF00"/>
                </a:solidFill>
                <a:prstDash val="solid"/>
              </a:ln>
              <a:solidFill>
                <a:schemeClr val="bg2">
                  <a:lumMod val="1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Cooper Black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8551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8" grpId="0" animBg="1"/>
      <p:bldP spid="39" grpId="0" animBg="1"/>
      <p:bldP spid="40" grpId="0" animBg="1"/>
      <p:bldP spid="41" grpId="0" animBg="1"/>
      <p:bldP spid="27" grpId="0" animBg="1"/>
      <p:bldP spid="28" grpId="0" animBg="1"/>
      <p:bldP spid="30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500034" y="688598"/>
            <a:ext cx="8288778" cy="6032278"/>
          </a:xfrm>
          <a:prstGeom prst="roundRect">
            <a:avLst>
              <a:gd name="adj" fmla="val 6014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11799" y="559451"/>
            <a:ext cx="5365134" cy="785818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capaian</a:t>
            </a:r>
            <a:r>
              <a:rPr lang="en-US" sz="4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pembelajaran</a:t>
            </a:r>
            <a:endParaRPr lang="en-US" sz="48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7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43608" y="1442390"/>
            <a:ext cx="4889722" cy="376476"/>
          </a:xfrm>
          <a:prstGeom prst="roundRect">
            <a:avLst>
              <a:gd name="adj" fmla="val 24146"/>
            </a:avLst>
          </a:prstGeom>
          <a:solidFill>
            <a:srgbClr val="ED9513"/>
          </a:solidFill>
          <a:ln w="28575">
            <a:solidFill>
              <a:schemeClr val="bg2">
                <a:lumMod val="1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Capaian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Pembelajaran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Lulusan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  (CPL)</a:t>
            </a:r>
            <a:endParaRPr lang="id-ID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1560" y="1412776"/>
            <a:ext cx="360040" cy="423327"/>
          </a:xfrm>
          <a:prstGeom prst="roundRect">
            <a:avLst>
              <a:gd name="adj" fmla="val 10616"/>
            </a:avLst>
          </a:prstGeom>
          <a:solidFill>
            <a:srgbClr val="421C5E"/>
          </a:solidFill>
          <a:ln w="28575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2000" b="1" dirty="0" smtClean="0">
                <a:ln w="3175">
                  <a:solidFill>
                    <a:srgbClr val="FFFF00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Cooper Black" pitchFamily="18" charset="0"/>
                <a:cs typeface="Arial" panose="020B0604020202020204" pitchFamily="34" charset="0"/>
              </a:rPr>
              <a:t> </a:t>
            </a:r>
            <a:endParaRPr lang="en-US" sz="2000" b="1" dirty="0">
              <a:ln w="3175">
                <a:solidFill>
                  <a:srgbClr val="FFFF00"/>
                </a:solidFill>
                <a:prstDash val="solid"/>
              </a:ln>
              <a:solidFill>
                <a:schemeClr val="bg2">
                  <a:lumMod val="1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Cooper Black" pitchFamily="18" charset="0"/>
              <a:cs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3528" y="548680"/>
            <a:ext cx="987619" cy="785818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3</a:t>
            </a: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79512" y="44624"/>
            <a:ext cx="2309337" cy="648073"/>
            <a:chOff x="179512" y="44624"/>
            <a:chExt cx="2309337" cy="648073"/>
          </a:xfrm>
        </p:grpSpPr>
        <p:grpSp>
          <p:nvGrpSpPr>
            <p:cNvPr id="13" name="Group 12"/>
            <p:cNvGrpSpPr/>
            <p:nvPr/>
          </p:nvGrpSpPr>
          <p:grpSpPr>
            <a:xfrm>
              <a:off x="179512" y="44624"/>
              <a:ext cx="2309337" cy="378052"/>
              <a:chOff x="1916086" y="4600080"/>
              <a:chExt cx="5842810" cy="1421208"/>
            </a:xfrm>
          </p:grpSpPr>
          <p:sp>
            <p:nvSpPr>
              <p:cNvPr id="19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16086" y="4797152"/>
                <a:ext cx="4464498" cy="9020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9050">
                      <a:solidFill>
                        <a:srgbClr val="FFFF00"/>
                      </a:solidFill>
                    </a:ln>
                    <a:solidFill>
                      <a:srgbClr val="421C5E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Stencil" pitchFamily="82" charset="0"/>
                  </a:rPr>
                  <a:t>PPKN</a:t>
                </a:r>
                <a:endParaRPr lang="en-US" sz="3600" b="1" kern="10" dirty="0">
                  <a:ln w="19050">
                    <a:solidFill>
                      <a:srgbClr val="FFFF00"/>
                    </a:solidFill>
                  </a:ln>
                  <a:solidFill>
                    <a:srgbClr val="421C5E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Stencil" pitchFamily="82" charset="0"/>
                </a:endParaRPr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1916086" y="5877272"/>
                <a:ext cx="461867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ounded Rectangle 20"/>
              <p:cNvSpPr/>
              <p:nvPr/>
            </p:nvSpPr>
            <p:spPr>
              <a:xfrm>
                <a:off x="6534760" y="4600080"/>
                <a:ext cx="1224136" cy="1421208"/>
              </a:xfrm>
              <a:prstGeom prst="roundRect">
                <a:avLst>
                  <a:gd name="adj" fmla="val 8621"/>
                </a:avLst>
              </a:prstGeom>
              <a:solidFill>
                <a:srgbClr val="421C5E"/>
              </a:solidFill>
              <a:ln w="1905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4797152"/>
                <a:ext cx="902000" cy="1629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P</a:t>
                </a:r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ERTEMUAN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Franklin Gothic Demi Cond" pitchFamily="34" charset="0"/>
                </a:endParaRPr>
              </a:p>
            </p:txBody>
          </p:sp>
          <p:sp>
            <p:nvSpPr>
              <p:cNvPr id="23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5013176"/>
                <a:ext cx="902000" cy="6860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Bernard MT Condensed" pitchFamily="18" charset="0"/>
                  </a:rPr>
                  <a:t>1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79513" y="476673"/>
              <a:ext cx="1825504" cy="216024"/>
              <a:chOff x="774291" y="5887641"/>
              <a:chExt cx="5822317" cy="637703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556048" y="5887641"/>
                <a:ext cx="5040560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8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ORIENTASI UMUM MATA KULIAH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774291" y="5887641"/>
                <a:ext cx="699589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9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A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</p:grpSp>
      <p:sp>
        <p:nvSpPr>
          <p:cNvPr id="24" name="TextBox 23"/>
          <p:cNvSpPr txBox="1"/>
          <p:nvPr/>
        </p:nvSpPr>
        <p:spPr>
          <a:xfrm>
            <a:off x="677039" y="1900396"/>
            <a:ext cx="1306711" cy="355402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r>
              <a:rPr lang="en-US" sz="1400" dirty="0" smtClean="0">
                <a:solidFill>
                  <a:schemeClr val="bg2">
                    <a:lumMod val="90000"/>
                  </a:schemeClr>
                </a:solidFill>
                <a:latin typeface="Franklin Gothic Demi Cond" pitchFamily="34" charset="0"/>
              </a:rPr>
              <a:t>SIKAP</a:t>
            </a:r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027916" y="1872114"/>
            <a:ext cx="6546584" cy="2541210"/>
          </a:xfrm>
          <a:prstGeom prst="roundRect">
            <a:avLst>
              <a:gd name="adj" fmla="val 3946"/>
            </a:avLst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Bertakwa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kepada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Tuhan</a:t>
            </a:r>
            <a:r>
              <a:rPr lang="en-SG" sz="1200" dirty="0">
                <a:latin typeface="Franklin Gothic Demi Cond" pitchFamily="34" charset="0"/>
              </a:rPr>
              <a:t> Yang </a:t>
            </a:r>
            <a:r>
              <a:rPr lang="en-SG" sz="1200" dirty="0" err="1">
                <a:latin typeface="Franklin Gothic Demi Cond" pitchFamily="34" charset="0"/>
              </a:rPr>
              <a:t>Maha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Esa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mampu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menunjukkan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sikap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smtClean="0">
                <a:latin typeface="Franklin Gothic Demi Cond" pitchFamily="34" charset="0"/>
              </a:rPr>
              <a:t>religious;</a:t>
            </a:r>
            <a:endParaRPr lang="en-US" sz="1200" dirty="0">
              <a:latin typeface="Franklin Gothic Demi Cond" pitchFamily="34" charset="0"/>
            </a:endParaRP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Menjunjung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tinggi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nilai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kemanusiaan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dlm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menjalankan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tugas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berdasarkan</a:t>
            </a:r>
            <a:r>
              <a:rPr lang="en-SG" sz="1200" dirty="0">
                <a:latin typeface="Franklin Gothic Demi Cond" pitchFamily="34" charset="0"/>
              </a:rPr>
              <a:t> agama, moral,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etika</a:t>
            </a:r>
            <a:r>
              <a:rPr lang="en-SG" sz="1200" dirty="0" smtClean="0">
                <a:latin typeface="Franklin Gothic Demi Cond" pitchFamily="34" charset="0"/>
              </a:rPr>
              <a:t>;</a:t>
            </a:r>
            <a:endParaRPr lang="en-US" sz="1200" dirty="0">
              <a:latin typeface="Franklin Gothic Demi Cond" pitchFamily="34" charset="0"/>
            </a:endParaRP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Berkontribusi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dalam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peningkatan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mutu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kehidupan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bermasyarakat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berbangsa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bernegara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kemajuan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peradaban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berdasarkan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Pancasila</a:t>
            </a:r>
            <a:r>
              <a:rPr lang="en-SG" sz="1200" dirty="0" smtClean="0">
                <a:latin typeface="Franklin Gothic Demi Cond" pitchFamily="34" charset="0"/>
              </a:rPr>
              <a:t>;</a:t>
            </a:r>
            <a:endParaRPr lang="en-US" sz="1200" dirty="0">
              <a:latin typeface="Franklin Gothic Demi Cond" pitchFamily="34" charset="0"/>
            </a:endParaRP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Berperan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sebagai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warga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negara</a:t>
            </a:r>
            <a:r>
              <a:rPr lang="en-SG" sz="1200" dirty="0">
                <a:latin typeface="Franklin Gothic Demi Cond" pitchFamily="34" charset="0"/>
              </a:rPr>
              <a:t> yang </a:t>
            </a:r>
            <a:r>
              <a:rPr lang="en-SG" sz="1200" dirty="0" err="1">
                <a:latin typeface="Franklin Gothic Demi Cond" pitchFamily="34" charset="0"/>
              </a:rPr>
              <a:t>bangga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cinta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tanah</a:t>
            </a:r>
            <a:r>
              <a:rPr lang="en-SG" sz="1200" dirty="0">
                <a:latin typeface="Franklin Gothic Demi Cond" pitchFamily="34" charset="0"/>
              </a:rPr>
              <a:t> air, </a:t>
            </a:r>
            <a:r>
              <a:rPr lang="en-SG" sz="1200" dirty="0" err="1">
                <a:latin typeface="Franklin Gothic Demi Cond" pitchFamily="34" charset="0"/>
              </a:rPr>
              <a:t>memiliki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nasionalisme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serta</a:t>
            </a:r>
            <a:r>
              <a:rPr lang="en-SG" sz="1200" dirty="0">
                <a:latin typeface="Franklin Gothic Demi Cond" pitchFamily="34" charset="0"/>
              </a:rPr>
              <a:t> rasa </a:t>
            </a:r>
            <a:r>
              <a:rPr lang="en-SG" sz="1200" dirty="0" err="1">
                <a:latin typeface="Franklin Gothic Demi Cond" pitchFamily="34" charset="0"/>
              </a:rPr>
              <a:t>tanggungjawab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pada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negara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bangsa</a:t>
            </a:r>
            <a:r>
              <a:rPr lang="en-SG" sz="1200" dirty="0" smtClean="0">
                <a:latin typeface="Franklin Gothic Demi Cond" pitchFamily="34" charset="0"/>
              </a:rPr>
              <a:t>;</a:t>
            </a:r>
            <a:endParaRPr lang="en-US" sz="1200" dirty="0">
              <a:latin typeface="Franklin Gothic Demi Cond" pitchFamily="34" charset="0"/>
            </a:endParaRP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Menghargai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keanekaragaman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budaya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pandangan</a:t>
            </a:r>
            <a:r>
              <a:rPr lang="en-SG" sz="1200" dirty="0">
                <a:latin typeface="Franklin Gothic Demi Cond" pitchFamily="34" charset="0"/>
              </a:rPr>
              <a:t>, agama,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kepercayaan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serta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pendapat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atau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temuan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orisinal</a:t>
            </a:r>
            <a:r>
              <a:rPr lang="en-SG" sz="1200" dirty="0">
                <a:latin typeface="Franklin Gothic Demi Cond" pitchFamily="34" charset="0"/>
              </a:rPr>
              <a:t> orang lain</a:t>
            </a:r>
            <a:r>
              <a:rPr lang="en-SG" sz="1200" dirty="0" smtClean="0">
                <a:latin typeface="Franklin Gothic Demi Cond" pitchFamily="34" charset="0"/>
              </a:rPr>
              <a:t>;</a:t>
            </a:r>
            <a:endParaRPr lang="en-US" sz="1200" dirty="0">
              <a:latin typeface="Franklin Gothic Demi Cond" pitchFamily="34" charset="0"/>
            </a:endParaRP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Bekerja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sama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memiliki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kepekaan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sosial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serta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kepedulian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terhadap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masyarakat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lingkungan</a:t>
            </a:r>
            <a:r>
              <a:rPr lang="en-SG" sz="1200" dirty="0">
                <a:latin typeface="Franklin Gothic Demi Cond" pitchFamily="34" charset="0"/>
              </a:rPr>
              <a:t>; </a:t>
            </a:r>
            <a:endParaRPr lang="en-US" sz="1200" dirty="0">
              <a:latin typeface="Franklin Gothic Demi Cond" pitchFamily="34" charset="0"/>
            </a:endParaRP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Taat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hukum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disiplin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dalam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kehidupan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bermasyarakat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bernegara</a:t>
            </a:r>
            <a:r>
              <a:rPr lang="en-SG" sz="1200" dirty="0">
                <a:latin typeface="Franklin Gothic Demi Cond" pitchFamily="34" charset="0"/>
              </a:rPr>
              <a:t>; </a:t>
            </a:r>
            <a:endParaRPr lang="en-US" sz="1200" dirty="0">
              <a:latin typeface="Franklin Gothic Demi Cond" pitchFamily="34" charset="0"/>
            </a:endParaRP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Menginternalisasi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nilai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norma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etika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akademik</a:t>
            </a:r>
            <a:r>
              <a:rPr lang="en-SG" sz="1200" dirty="0" smtClean="0">
                <a:latin typeface="Franklin Gothic Demi Cond" pitchFamily="34" charset="0"/>
              </a:rPr>
              <a:t>;</a:t>
            </a: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 smtClean="0">
                <a:latin typeface="Franklin Gothic Demi Cond" pitchFamily="34" charset="0"/>
              </a:rPr>
              <a:t>Menunjukan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sikap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bertanggung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jawab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atas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pekerjaan</a:t>
            </a:r>
            <a:r>
              <a:rPr lang="en-SG" sz="1200" dirty="0" smtClean="0">
                <a:latin typeface="Franklin Gothic Demi Cond" pitchFamily="34" charset="0"/>
              </a:rPr>
              <a:t> di </a:t>
            </a:r>
            <a:r>
              <a:rPr lang="en-SG" sz="1200" dirty="0" err="1" smtClean="0">
                <a:latin typeface="Franklin Gothic Demi Cond" pitchFamily="34" charset="0"/>
              </a:rPr>
              <a:t>bidang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keahliannya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secara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mandiri</a:t>
            </a:r>
            <a:r>
              <a:rPr lang="en-SG" sz="1200" dirty="0" smtClean="0">
                <a:latin typeface="Franklin Gothic Demi Cond" pitchFamily="34" charset="0"/>
              </a:rPr>
              <a:t>;</a:t>
            </a: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 smtClean="0">
                <a:latin typeface="Franklin Gothic Demi Cond" pitchFamily="34" charset="0"/>
              </a:rPr>
              <a:t>Menginternalisasi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semangat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kemandirian</a:t>
            </a:r>
            <a:r>
              <a:rPr lang="en-SG" sz="1200" dirty="0" smtClean="0">
                <a:latin typeface="Franklin Gothic Demi Cond" pitchFamily="34" charset="0"/>
              </a:rPr>
              <a:t>, </a:t>
            </a:r>
            <a:r>
              <a:rPr lang="en-SG" sz="1200" dirty="0" err="1" smtClean="0">
                <a:latin typeface="Franklin Gothic Demi Cond" pitchFamily="34" charset="0"/>
              </a:rPr>
              <a:t>kejuangan</a:t>
            </a:r>
            <a:r>
              <a:rPr lang="en-SG" sz="1200" dirty="0" smtClean="0">
                <a:latin typeface="Franklin Gothic Demi Cond" pitchFamily="34" charset="0"/>
              </a:rPr>
              <a:t>, </a:t>
            </a:r>
            <a:r>
              <a:rPr lang="en-SG" sz="1200" dirty="0" err="1" smtClean="0">
                <a:latin typeface="Franklin Gothic Demi Cond" pitchFamily="34" charset="0"/>
              </a:rPr>
              <a:t>dan</a:t>
            </a:r>
            <a:r>
              <a:rPr lang="en-SG" sz="1200" dirty="0" smtClean="0">
                <a:latin typeface="Franklin Gothic Demi Cond" pitchFamily="34" charset="0"/>
              </a:rPr>
              <a:t> </a:t>
            </a:r>
            <a:r>
              <a:rPr lang="en-SG" sz="1200" dirty="0" err="1" smtClean="0">
                <a:latin typeface="Franklin Gothic Demi Cond" pitchFamily="34" charset="0"/>
              </a:rPr>
              <a:t>kewirausahaan</a:t>
            </a:r>
            <a:r>
              <a:rPr lang="en-SG" sz="1200" dirty="0" smtClean="0">
                <a:latin typeface="Franklin Gothic Demi Cond" pitchFamily="34" charset="0"/>
              </a:rPr>
              <a:t>.</a:t>
            </a:r>
            <a:endParaRPr lang="en-US" sz="1200" dirty="0">
              <a:latin typeface="Franklin Gothic Demi Cond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2302" y="4500655"/>
            <a:ext cx="1305407" cy="553581"/>
          </a:xfrm>
          <a:prstGeom prst="roundRect">
            <a:avLst>
              <a:gd name="adj" fmla="val 10434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r>
              <a:rPr lang="en-US" sz="1400" dirty="0" smtClean="0">
                <a:solidFill>
                  <a:schemeClr val="bg2">
                    <a:lumMod val="90000"/>
                  </a:schemeClr>
                </a:solidFill>
                <a:latin typeface="Franklin Gothic Demi Cond" pitchFamily="34" charset="0"/>
              </a:rPr>
              <a:t>KETRAMPILAN UMUM</a:t>
            </a:r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27916" y="4469011"/>
            <a:ext cx="6546584" cy="665083"/>
          </a:xfrm>
          <a:prstGeom prst="roundRect">
            <a:avLst>
              <a:gd name="adj" fmla="val 6259"/>
            </a:avLst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SG" sz="1200" dirty="0" err="1">
                <a:latin typeface="Franklin Gothic Demi Cond" pitchFamily="34" charset="0"/>
              </a:rPr>
              <a:t>Mampu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menerapkan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pemikiran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logis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kritis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sistematis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inovatif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dalam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konteks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pengembangan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atau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implementasi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ilmu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pengetahuan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teknologi</a:t>
            </a:r>
            <a:r>
              <a:rPr lang="en-SG" sz="1200" dirty="0">
                <a:latin typeface="Franklin Gothic Demi Cond" pitchFamily="34" charset="0"/>
              </a:rPr>
              <a:t> yang </a:t>
            </a:r>
            <a:r>
              <a:rPr lang="en-SG" sz="1200" dirty="0" err="1">
                <a:latin typeface="Franklin Gothic Demi Cond" pitchFamily="34" charset="0"/>
              </a:rPr>
              <a:t>memperhatikan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menerapkan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nilai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humaniora</a:t>
            </a:r>
            <a:r>
              <a:rPr lang="en-SG" sz="1200" dirty="0">
                <a:latin typeface="Franklin Gothic Demi Cond" pitchFamily="34" charset="0"/>
              </a:rPr>
              <a:t> yang </a:t>
            </a:r>
            <a:r>
              <a:rPr lang="en-SG" sz="1200" dirty="0" err="1">
                <a:latin typeface="Franklin Gothic Demi Cond" pitchFamily="34" charset="0"/>
              </a:rPr>
              <a:t>sesuai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dengan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bidang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keahliannya</a:t>
            </a:r>
            <a:r>
              <a:rPr lang="en-SG" sz="1200" dirty="0">
                <a:latin typeface="Franklin Gothic Demi Cond" pitchFamily="34" charset="0"/>
              </a:rPr>
              <a:t>.</a:t>
            </a:r>
            <a:endParaRPr lang="en-US" sz="1200" dirty="0">
              <a:latin typeface="Franklin Gothic Demi Cond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7039" y="5344957"/>
            <a:ext cx="1305407" cy="553581"/>
          </a:xfrm>
          <a:prstGeom prst="roundRect">
            <a:avLst>
              <a:gd name="adj" fmla="val 10434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r>
              <a:rPr lang="en-US" sz="1400" dirty="0" smtClean="0">
                <a:solidFill>
                  <a:schemeClr val="bg2">
                    <a:lumMod val="90000"/>
                  </a:schemeClr>
                </a:solidFill>
                <a:latin typeface="Franklin Gothic Demi Cond" pitchFamily="34" charset="0"/>
              </a:rPr>
              <a:t>KETRAMPILAN KHUSUS</a:t>
            </a:r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027916" y="5190291"/>
            <a:ext cx="6546584" cy="871180"/>
          </a:xfrm>
          <a:prstGeom prst="roundRect">
            <a:avLst>
              <a:gd name="adj" fmla="val 8572"/>
            </a:avLst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Mengidentifikasi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akar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masalah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secara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komprehensif</a:t>
            </a:r>
            <a:r>
              <a:rPr lang="en-SG" sz="1200" dirty="0">
                <a:latin typeface="Franklin Gothic Demi Cond" pitchFamily="34" charset="0"/>
              </a:rPr>
              <a:t>, </a:t>
            </a:r>
            <a:r>
              <a:rPr lang="en-SG" sz="1200" dirty="0" err="1">
                <a:latin typeface="Franklin Gothic Demi Cond" pitchFamily="34" charset="0"/>
              </a:rPr>
              <a:t>serta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mengambil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keputusan</a:t>
            </a:r>
            <a:r>
              <a:rPr lang="en-SG" sz="1200" dirty="0">
                <a:latin typeface="Franklin Gothic Demi Cond" pitchFamily="34" charset="0"/>
              </a:rPr>
              <a:t> yang </a:t>
            </a:r>
            <a:r>
              <a:rPr lang="en-SG" sz="1200" dirty="0" err="1">
                <a:latin typeface="Franklin Gothic Demi Cond" pitchFamily="34" charset="0"/>
              </a:rPr>
              <a:t>tepat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berdasarkan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analisis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informasi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data</a:t>
            </a:r>
            <a:r>
              <a:rPr lang="en-SG" sz="1200" dirty="0" smtClean="0">
                <a:latin typeface="Franklin Gothic Demi Cond" pitchFamily="34" charset="0"/>
              </a:rPr>
              <a:t>;</a:t>
            </a:r>
            <a:endParaRPr lang="en-US" sz="1200" dirty="0">
              <a:latin typeface="Franklin Gothic Demi Cond" pitchFamily="34" charset="0"/>
            </a:endParaRPr>
          </a:p>
          <a:p>
            <a:pPr marL="171450" lvl="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Bekerja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sama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dengan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individu</a:t>
            </a:r>
            <a:r>
              <a:rPr lang="en-SG" sz="1200" dirty="0">
                <a:latin typeface="Franklin Gothic Demi Cond" pitchFamily="34" charset="0"/>
              </a:rPr>
              <a:t> yang </a:t>
            </a:r>
            <a:r>
              <a:rPr lang="en-SG" sz="1200" dirty="0" err="1">
                <a:latin typeface="Franklin Gothic Demi Cond" pitchFamily="34" charset="0"/>
              </a:rPr>
              <a:t>memiliki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latar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belakang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sosial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budaya</a:t>
            </a:r>
            <a:r>
              <a:rPr lang="en-SG" sz="1200" dirty="0">
                <a:latin typeface="Franklin Gothic Demi Cond" pitchFamily="34" charset="0"/>
              </a:rPr>
              <a:t> yang </a:t>
            </a:r>
            <a:r>
              <a:rPr lang="en-SG" sz="1200" dirty="0" err="1">
                <a:latin typeface="Franklin Gothic Demi Cond" pitchFamily="34" charset="0"/>
              </a:rPr>
              <a:t>beragam</a:t>
            </a:r>
            <a:r>
              <a:rPr lang="en-SG" sz="1200" dirty="0" smtClean="0">
                <a:latin typeface="Franklin Gothic Demi Cond" pitchFamily="34" charset="0"/>
              </a:rPr>
              <a:t>;</a:t>
            </a:r>
            <a:endParaRPr lang="en-US" sz="1200" dirty="0"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SG" sz="1200" dirty="0" err="1">
                <a:latin typeface="Franklin Gothic Demi Cond" pitchFamily="34" charset="0"/>
              </a:rPr>
              <a:t>Menyarikan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informasi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ilmiah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non-</a:t>
            </a:r>
            <a:r>
              <a:rPr lang="en-SG" sz="1200" dirty="0" err="1">
                <a:latin typeface="Franklin Gothic Demi Cond" pitchFamily="34" charset="0"/>
              </a:rPr>
              <a:t>imiah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secara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mandiri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dan</a:t>
            </a:r>
            <a:r>
              <a:rPr lang="en-SG" sz="1200" dirty="0">
                <a:latin typeface="Franklin Gothic Demi Cond" pitchFamily="34" charset="0"/>
              </a:rPr>
              <a:t> </a:t>
            </a:r>
            <a:r>
              <a:rPr lang="en-SG" sz="1200" dirty="0" err="1">
                <a:latin typeface="Franklin Gothic Demi Cond" pitchFamily="34" charset="0"/>
              </a:rPr>
              <a:t>kritis</a:t>
            </a:r>
            <a:r>
              <a:rPr lang="en-SG" sz="1200" dirty="0">
                <a:latin typeface="Franklin Gothic Demi Cond" pitchFamily="34" charset="0"/>
              </a:rPr>
              <a:t>. </a:t>
            </a:r>
            <a:endParaRPr lang="en-US" sz="1200" dirty="0">
              <a:latin typeface="Franklin Gothic Demi Cond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302" y="6209053"/>
            <a:ext cx="1305407" cy="364331"/>
          </a:xfrm>
          <a:prstGeom prst="roundRect">
            <a:avLst>
              <a:gd name="adj" fmla="val 26760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r>
              <a:rPr lang="en-US" sz="1400" dirty="0" smtClean="0">
                <a:solidFill>
                  <a:schemeClr val="bg2">
                    <a:lumMod val="90000"/>
                  </a:schemeClr>
                </a:solidFill>
                <a:latin typeface="Franklin Gothic Demi Cond" pitchFamily="34" charset="0"/>
              </a:rPr>
              <a:t>PENGETAHUAN</a:t>
            </a:r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27916" y="6118473"/>
            <a:ext cx="6546584" cy="510778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x-none" sz="1200">
                <a:latin typeface="Franklin Gothic Demi Cond" pitchFamily="34" charset="0"/>
              </a:rPr>
              <a:t>M</a:t>
            </a:r>
            <a:r>
              <a:rPr lang="en-US" sz="1200" dirty="0" err="1">
                <a:latin typeface="Franklin Gothic Demi Cond" pitchFamily="34" charset="0"/>
              </a:rPr>
              <a:t>enguasai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pengetahuan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en-US" sz="1200" dirty="0" err="1">
                <a:latin typeface="Franklin Gothic Demi Cond" pitchFamily="34" charset="0"/>
              </a:rPr>
              <a:t>tentang</a:t>
            </a:r>
            <a:r>
              <a:rPr lang="en-US" sz="1200" dirty="0">
                <a:latin typeface="Franklin Gothic Demi Cond" pitchFamily="34" charset="0"/>
              </a:rPr>
              <a:t> </a:t>
            </a:r>
            <a:r>
              <a:rPr lang="id-ID" sz="1200" dirty="0">
                <a:latin typeface="Franklin Gothic Demi Cond" pitchFamily="34" charset="0"/>
              </a:rPr>
              <a:t>aspek Pancasila dan Kewarganegaraan dalam kehidupan berbangsa dan bernegara</a:t>
            </a:r>
            <a:endParaRPr lang="en-US" sz="1200" dirty="0"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1929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8" grpId="0" animBg="1"/>
      <p:bldP spid="39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500034" y="688598"/>
            <a:ext cx="8143932" cy="5597922"/>
          </a:xfrm>
          <a:prstGeom prst="roundRect">
            <a:avLst>
              <a:gd name="adj" fmla="val 6014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411799" y="559451"/>
            <a:ext cx="5365134" cy="785818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capaian</a:t>
            </a:r>
            <a:r>
              <a:rPr lang="en-US" sz="4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pembelajaran</a:t>
            </a:r>
            <a:endParaRPr lang="en-US" sz="48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608" y="1442390"/>
            <a:ext cx="4889722" cy="426482"/>
          </a:xfrm>
          <a:prstGeom prst="roundRect">
            <a:avLst>
              <a:gd name="adj" fmla="val 24146"/>
            </a:avLst>
          </a:prstGeom>
          <a:solidFill>
            <a:srgbClr val="ED9513"/>
          </a:solidFill>
          <a:ln w="28575">
            <a:solidFill>
              <a:schemeClr val="bg2">
                <a:lumMod val="1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just"/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Capaian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Pembelajaran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Matakuliah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  (CPMK)</a:t>
            </a:r>
            <a:endParaRPr lang="id-ID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1560" y="1412776"/>
            <a:ext cx="360040" cy="423327"/>
          </a:xfrm>
          <a:prstGeom prst="roundRect">
            <a:avLst>
              <a:gd name="adj" fmla="val 10616"/>
            </a:avLst>
          </a:prstGeom>
          <a:solidFill>
            <a:srgbClr val="421C5E"/>
          </a:solidFill>
          <a:ln w="28575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d-ID" sz="2000" b="1" dirty="0" smtClean="0">
                <a:ln w="3175">
                  <a:solidFill>
                    <a:srgbClr val="FFFF00"/>
                  </a:solidFill>
                  <a:prstDash val="solid"/>
                </a:ln>
                <a:solidFill>
                  <a:schemeClr val="bg2">
                    <a:lumMod val="1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Cooper Black" pitchFamily="18" charset="0"/>
                <a:cs typeface="Arial" panose="020B0604020202020204" pitchFamily="34" charset="0"/>
              </a:rPr>
              <a:t> </a:t>
            </a:r>
            <a:endParaRPr lang="en-US" sz="2000" b="1" dirty="0">
              <a:ln w="3175">
                <a:solidFill>
                  <a:srgbClr val="FFFF00"/>
                </a:solidFill>
                <a:prstDash val="solid"/>
              </a:ln>
              <a:solidFill>
                <a:schemeClr val="bg2">
                  <a:lumMod val="1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Cooper Black" pitchFamily="18" charset="0"/>
              <a:cs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3528" y="548680"/>
            <a:ext cx="987619" cy="785818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3</a:t>
            </a: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79512" y="44624"/>
            <a:ext cx="2309337" cy="648073"/>
            <a:chOff x="179512" y="44624"/>
            <a:chExt cx="2309337" cy="648073"/>
          </a:xfrm>
        </p:grpSpPr>
        <p:grpSp>
          <p:nvGrpSpPr>
            <p:cNvPr id="13" name="Group 12"/>
            <p:cNvGrpSpPr/>
            <p:nvPr/>
          </p:nvGrpSpPr>
          <p:grpSpPr>
            <a:xfrm>
              <a:off x="179512" y="44624"/>
              <a:ext cx="2309337" cy="378052"/>
              <a:chOff x="1916086" y="4600080"/>
              <a:chExt cx="5842810" cy="1421208"/>
            </a:xfrm>
          </p:grpSpPr>
          <p:sp>
            <p:nvSpPr>
              <p:cNvPr id="19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16086" y="4797152"/>
                <a:ext cx="4464498" cy="9020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9050">
                      <a:solidFill>
                        <a:srgbClr val="FFFF00"/>
                      </a:solidFill>
                    </a:ln>
                    <a:solidFill>
                      <a:srgbClr val="421C5E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Stencil" pitchFamily="82" charset="0"/>
                  </a:rPr>
                  <a:t>PPKN</a:t>
                </a:r>
                <a:endParaRPr lang="en-US" sz="3600" b="1" kern="10" dirty="0">
                  <a:ln w="19050">
                    <a:solidFill>
                      <a:srgbClr val="FFFF00"/>
                    </a:solidFill>
                  </a:ln>
                  <a:solidFill>
                    <a:srgbClr val="421C5E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Stencil" pitchFamily="82" charset="0"/>
                </a:endParaRPr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1916086" y="5877272"/>
                <a:ext cx="461867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ounded Rectangle 20"/>
              <p:cNvSpPr/>
              <p:nvPr/>
            </p:nvSpPr>
            <p:spPr>
              <a:xfrm>
                <a:off x="6534760" y="4600080"/>
                <a:ext cx="1224136" cy="1421208"/>
              </a:xfrm>
              <a:prstGeom prst="roundRect">
                <a:avLst>
                  <a:gd name="adj" fmla="val 8621"/>
                </a:avLst>
              </a:prstGeom>
              <a:solidFill>
                <a:srgbClr val="421C5E"/>
              </a:solidFill>
              <a:ln w="1905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4797152"/>
                <a:ext cx="902000" cy="1629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P</a:t>
                </a:r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ERTEMUAN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Franklin Gothic Demi Cond" pitchFamily="34" charset="0"/>
                </a:endParaRPr>
              </a:p>
            </p:txBody>
          </p:sp>
          <p:sp>
            <p:nvSpPr>
              <p:cNvPr id="23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5013176"/>
                <a:ext cx="902000" cy="6860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Bernard MT Condensed" pitchFamily="18" charset="0"/>
                  </a:rPr>
                  <a:t>1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179513" y="476673"/>
              <a:ext cx="1825504" cy="216024"/>
              <a:chOff x="774291" y="5887641"/>
              <a:chExt cx="5822317" cy="637703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556048" y="5887641"/>
                <a:ext cx="5040560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8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ORIENTASI UMUM MATA KULIAH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774291" y="5887641"/>
                <a:ext cx="699589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9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A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</p:grpSp>
      <p:sp>
        <p:nvSpPr>
          <p:cNvPr id="2" name="Rounded Rectangle 1"/>
          <p:cNvSpPr/>
          <p:nvPr/>
        </p:nvSpPr>
        <p:spPr>
          <a:xfrm>
            <a:off x="1422946" y="1916832"/>
            <a:ext cx="7151554" cy="4055328"/>
          </a:xfrm>
          <a:prstGeom prst="roundRect">
            <a:avLst>
              <a:gd name="adj" fmla="val 2074"/>
            </a:avLst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</a:pPr>
            <a:r>
              <a:rPr lang="id-ID" sz="1400" dirty="0">
                <a:latin typeface="Franklin Gothic Demi Cond" pitchFamily="34" charset="0"/>
              </a:rPr>
              <a:t>Mampu menjelaskan dan mempresentasikan dinamika Pancasila secara historis, dan merefleksikan fungsi dan kedudukan penting Pancasila </a:t>
            </a:r>
            <a:endParaRPr lang="en-US" sz="1400" dirty="0" smtClean="0">
              <a:latin typeface="Franklin Gothic Demi Cond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1400" dirty="0" smtClean="0">
                <a:latin typeface="Franklin Gothic Demi Cond" pitchFamily="34" charset="0"/>
              </a:rPr>
              <a:t>Mampu </a:t>
            </a:r>
            <a:r>
              <a:rPr lang="id-ID" sz="1400" dirty="0">
                <a:latin typeface="Franklin Gothic Demi Cond" pitchFamily="34" charset="0"/>
              </a:rPr>
              <a:t>menjelaskan Pancasila sebagai dasar negara dan mengembangkan karakter Pancasilais dan mengaktualisasi nilai-nilai yang terkandung dalam sila-sila Pancasila </a:t>
            </a:r>
            <a:endParaRPr lang="en-US" sz="1400" dirty="0" smtClean="0">
              <a:latin typeface="Franklin Gothic Demi Cond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1400" dirty="0" smtClean="0">
                <a:latin typeface="Franklin Gothic Demi Cond" pitchFamily="34" charset="0"/>
              </a:rPr>
              <a:t>Mampu </a:t>
            </a:r>
            <a:r>
              <a:rPr lang="id-ID" sz="1400" dirty="0">
                <a:latin typeface="Franklin Gothic Demi Cond" pitchFamily="34" charset="0"/>
              </a:rPr>
              <a:t>menjelaskan urgensi, histori, dinamika, tantangan, serta peran Pancasila </a:t>
            </a:r>
            <a:r>
              <a:rPr lang="id-ID" sz="1400" dirty="0" smtClean="0">
                <a:latin typeface="Franklin Gothic Demi Cond" pitchFamily="34" charset="0"/>
              </a:rPr>
              <a:t>sbg </a:t>
            </a:r>
            <a:r>
              <a:rPr lang="id-ID" sz="1400" dirty="0">
                <a:latin typeface="Franklin Gothic Demi Cond" pitchFamily="34" charset="0"/>
              </a:rPr>
              <a:t>sistem ideologi </a:t>
            </a:r>
            <a:endParaRPr lang="en-US" sz="1400" dirty="0" smtClean="0">
              <a:latin typeface="Franklin Gothic Demi Cond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1400" dirty="0" smtClean="0">
                <a:latin typeface="Franklin Gothic Demi Cond" pitchFamily="34" charset="0"/>
              </a:rPr>
              <a:t>Mampu </a:t>
            </a:r>
            <a:r>
              <a:rPr lang="id-ID" sz="1400" dirty="0">
                <a:latin typeface="Franklin Gothic Demi Cond" pitchFamily="34" charset="0"/>
              </a:rPr>
              <a:t>membedakan nilai, moral, etika, dan norma, serta menerapkan teori etika, peran etika sebagai filsafat moral sebagai solusi problem moralitas bangsa </a:t>
            </a:r>
            <a:endParaRPr lang="en-US" sz="1400" dirty="0" smtClean="0">
              <a:latin typeface="Franklin Gothic Demi Cond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1400" dirty="0" smtClean="0">
                <a:latin typeface="Franklin Gothic Demi Cond" pitchFamily="34" charset="0"/>
              </a:rPr>
              <a:t>Mampu </a:t>
            </a:r>
            <a:r>
              <a:rPr lang="id-ID" sz="1400" dirty="0">
                <a:latin typeface="Franklin Gothic Demi Cond" pitchFamily="34" charset="0"/>
              </a:rPr>
              <a:t>menguraikan konsep kewarganegaraan dalam dinamika dan tantangan Pendidikan Kewarganegaraan </a:t>
            </a:r>
            <a:endParaRPr lang="en-US" sz="1400" dirty="0" smtClean="0">
              <a:latin typeface="Franklin Gothic Demi Cond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1400" dirty="0" smtClean="0">
                <a:latin typeface="Franklin Gothic Demi Cond" pitchFamily="34" charset="0"/>
              </a:rPr>
              <a:t>Mampu </a:t>
            </a:r>
            <a:r>
              <a:rPr lang="id-ID" sz="1400" dirty="0">
                <a:latin typeface="Franklin Gothic Demi Cond" pitchFamily="34" charset="0"/>
              </a:rPr>
              <a:t>menginternalisasikan esensi dan urgensi identitas nasional sebagai pembangunan bangsa dan karakter </a:t>
            </a:r>
            <a:endParaRPr lang="en-US" sz="1400" dirty="0" smtClean="0">
              <a:latin typeface="Franklin Gothic Demi Cond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1400" dirty="0" smtClean="0">
                <a:latin typeface="Franklin Gothic Demi Cond" pitchFamily="34" charset="0"/>
              </a:rPr>
              <a:t>Mampu </a:t>
            </a:r>
            <a:r>
              <a:rPr lang="id-ID" sz="1400" dirty="0">
                <a:latin typeface="Franklin Gothic Demi Cond" pitchFamily="34" charset="0"/>
              </a:rPr>
              <a:t>menerapkan </a:t>
            </a:r>
            <a:r>
              <a:rPr lang="en-US" sz="1400" dirty="0" err="1">
                <a:latin typeface="Franklin Gothic Demi Cond" pitchFamily="34" charset="0"/>
              </a:rPr>
              <a:t>integritas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nasional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sebagai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wujud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id-ID" sz="1400" dirty="0">
                <a:latin typeface="Franklin Gothic Demi Cond" pitchFamily="34" charset="0"/>
              </a:rPr>
              <a:t>persatuan dan </a:t>
            </a:r>
            <a:r>
              <a:rPr lang="en-US" sz="1400" dirty="0" err="1">
                <a:latin typeface="Franklin Gothic Demi Cond" pitchFamily="34" charset="0"/>
              </a:rPr>
              <a:t>kesatuan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bangsa</a:t>
            </a:r>
            <a:r>
              <a:rPr lang="en-US" sz="1400" dirty="0">
                <a:latin typeface="Franklin Gothic Demi Cond" pitchFamily="34" charset="0"/>
              </a:rPr>
              <a:t> </a:t>
            </a:r>
          </a:p>
          <a:p>
            <a:pPr lvl="0">
              <a:spcBef>
                <a:spcPts val="600"/>
              </a:spcBef>
            </a:pPr>
            <a:r>
              <a:rPr lang="en-US" sz="1400" dirty="0" err="1">
                <a:latin typeface="Franklin Gothic Demi Cond" pitchFamily="34" charset="0"/>
              </a:rPr>
              <a:t>Mahasiswa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 smtClean="0">
                <a:latin typeface="Franklin Gothic Demi Cond" pitchFamily="34" charset="0"/>
              </a:rPr>
              <a:t>dpt</a:t>
            </a:r>
            <a:r>
              <a:rPr lang="en-US" sz="1400" dirty="0" smtClean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memahami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konsep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dan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urgensi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konstitusi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dalam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kehidupan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berbangsa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dan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 smtClean="0">
                <a:latin typeface="Franklin Gothic Demi Cond" pitchFamily="34" charset="0"/>
              </a:rPr>
              <a:t>bernegara</a:t>
            </a:r>
            <a:endParaRPr lang="en-US" sz="1400" dirty="0" smtClean="0">
              <a:latin typeface="Franklin Gothic Demi Cond" pitchFamily="34" charset="0"/>
            </a:endParaRPr>
          </a:p>
          <a:p>
            <a:pPr lvl="0">
              <a:spcBef>
                <a:spcPts val="600"/>
              </a:spcBef>
            </a:pPr>
            <a:r>
              <a:rPr lang="en-US" sz="1400" dirty="0" err="1" smtClean="0">
                <a:latin typeface="Franklin Gothic Demi Cond" pitchFamily="34" charset="0"/>
              </a:rPr>
              <a:t>Mahasiswa</a:t>
            </a:r>
            <a:r>
              <a:rPr lang="en-US" sz="1400" dirty="0" smtClean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dapat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memahami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harmonisasi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kewajiban</a:t>
            </a:r>
            <a:r>
              <a:rPr lang="en-US" sz="1400" dirty="0">
                <a:latin typeface="Franklin Gothic Demi Cond" pitchFamily="34" charset="0"/>
              </a:rPr>
              <a:t>, </a:t>
            </a:r>
            <a:r>
              <a:rPr lang="en-US" sz="1400" dirty="0" err="1">
                <a:latin typeface="Franklin Gothic Demi Cond" pitchFamily="34" charset="0"/>
              </a:rPr>
              <a:t>hak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negara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dan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warga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negara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dan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bela</a:t>
            </a:r>
            <a:r>
              <a:rPr lang="en-US" sz="1400" dirty="0">
                <a:latin typeface="Franklin Gothic Demi Cond" pitchFamily="34" charset="0"/>
              </a:rPr>
              <a:t> </a:t>
            </a:r>
            <a:r>
              <a:rPr lang="en-US" sz="1400" dirty="0" err="1">
                <a:latin typeface="Franklin Gothic Demi Cond" pitchFamily="34" charset="0"/>
              </a:rPr>
              <a:t>negara</a:t>
            </a:r>
            <a:r>
              <a:rPr lang="en-US" sz="1400" dirty="0">
                <a:latin typeface="Franklin Gothic Demi Cond" pitchFamily="34" charset="0"/>
              </a:rPr>
              <a:t>.</a:t>
            </a:r>
            <a:r>
              <a:rPr lang="id-ID" sz="1400" dirty="0">
                <a:latin typeface="Franklin Gothic Demi Cond" pitchFamily="34" charset="0"/>
              </a:rPr>
              <a:t> </a:t>
            </a:r>
            <a:endParaRPr lang="en-US" sz="1400" dirty="0" smtClean="0">
              <a:latin typeface="Franklin Gothic Demi Cond" pitchFamily="34" charset="0"/>
            </a:endParaRPr>
          </a:p>
          <a:p>
            <a:pPr lvl="0">
              <a:spcBef>
                <a:spcPts val="600"/>
              </a:spcBef>
            </a:pPr>
            <a:r>
              <a:rPr lang="id-ID" sz="1400" dirty="0" smtClean="0">
                <a:latin typeface="Franklin Gothic Demi Cond" pitchFamily="34" charset="0"/>
              </a:rPr>
              <a:t>Mahasiswa </a:t>
            </a:r>
            <a:r>
              <a:rPr lang="id-ID" sz="1400" dirty="0">
                <a:latin typeface="Franklin Gothic Demi Cond" pitchFamily="34" charset="0"/>
              </a:rPr>
              <a:t>menerapkan demokrasi berdasarkan Pancasila dan UUD 1945 </a:t>
            </a:r>
            <a:endParaRPr lang="en-US" sz="1400" dirty="0">
              <a:latin typeface="Franklin Gothic Demi Cond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26304" y="2036010"/>
            <a:ext cx="249352" cy="355402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27733" y="2558909"/>
            <a:ext cx="249352" cy="355402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26304" y="2996952"/>
            <a:ext cx="252210" cy="177701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24875" y="4805999"/>
            <a:ext cx="252210" cy="177701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17100" y="5123507"/>
            <a:ext cx="252210" cy="177701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19958" y="5409116"/>
            <a:ext cx="252210" cy="177701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212183" y="5684092"/>
            <a:ext cx="252210" cy="177701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227733" y="3340364"/>
            <a:ext cx="249352" cy="355402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27733" y="3820939"/>
            <a:ext cx="249352" cy="355402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227733" y="4312147"/>
            <a:ext cx="249352" cy="355402"/>
          </a:xfrm>
          <a:prstGeom prst="roundRect">
            <a:avLst>
              <a:gd name="adj" fmla="val 24146"/>
            </a:avLst>
          </a:prstGeom>
          <a:solidFill>
            <a:schemeClr val="tx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txBody>
          <a:bodyPr wrap="square">
            <a:spAutoFit/>
          </a:bodyPr>
          <a:lstStyle/>
          <a:p>
            <a:pPr algn="r"/>
            <a:endParaRPr lang="id-ID" sz="1400" dirty="0">
              <a:solidFill>
                <a:schemeClr val="bg2">
                  <a:lumMod val="90000"/>
                </a:schemeClr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7410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8" grpId="0" animBg="1"/>
      <p:bldP spid="39" grpId="0" animBg="1"/>
      <p:bldP spid="24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251520" y="188639"/>
            <a:ext cx="8640960" cy="6389361"/>
          </a:xfrm>
          <a:prstGeom prst="roundRect">
            <a:avLst>
              <a:gd name="adj" fmla="val 4181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44518" y="836712"/>
            <a:ext cx="6062088" cy="713810"/>
          </a:xfrm>
          <a:prstGeom prst="roundRect">
            <a:avLst>
              <a:gd name="adj" fmla="val 14166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proyek</a:t>
            </a:r>
            <a:r>
              <a:rPr lang="en-US" sz="4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</a:t>
            </a: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akhir</a:t>
            </a:r>
            <a:r>
              <a:rPr lang="en-US" sz="44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 / </a:t>
            </a:r>
            <a:r>
              <a:rPr lang="en-US" sz="4400" b="1" spc="50" dirty="0" err="1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tugas</a:t>
            </a:r>
            <a:endParaRPr lang="en-US" sz="48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1520" y="836712"/>
            <a:ext cx="987619" cy="713810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6</a:t>
            </a: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9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79512" y="44624"/>
            <a:ext cx="2309337" cy="648073"/>
            <a:chOff x="179512" y="44624"/>
            <a:chExt cx="2309337" cy="648073"/>
          </a:xfrm>
        </p:grpSpPr>
        <p:grpSp>
          <p:nvGrpSpPr>
            <p:cNvPr id="12" name="Group 11"/>
            <p:cNvGrpSpPr/>
            <p:nvPr/>
          </p:nvGrpSpPr>
          <p:grpSpPr>
            <a:xfrm>
              <a:off x="179512" y="44624"/>
              <a:ext cx="2309337" cy="378052"/>
              <a:chOff x="1916086" y="4600080"/>
              <a:chExt cx="5842810" cy="1421208"/>
            </a:xfrm>
          </p:grpSpPr>
          <p:sp>
            <p:nvSpPr>
              <p:cNvPr id="22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16086" y="4797152"/>
                <a:ext cx="4464498" cy="90200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9050">
                      <a:solidFill>
                        <a:srgbClr val="FFFF00"/>
                      </a:solidFill>
                    </a:ln>
                    <a:solidFill>
                      <a:srgbClr val="421C5E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Stencil" pitchFamily="82" charset="0"/>
                  </a:rPr>
                  <a:t>PPKN</a:t>
                </a:r>
                <a:endParaRPr lang="en-US" sz="3600" b="1" kern="10" dirty="0">
                  <a:ln w="19050">
                    <a:solidFill>
                      <a:srgbClr val="FFFF00"/>
                    </a:solidFill>
                  </a:ln>
                  <a:solidFill>
                    <a:srgbClr val="421C5E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Stencil" pitchFamily="82" charset="0"/>
                </a:endParaRPr>
              </a:p>
            </p:txBody>
          </p:sp>
          <p:cxnSp>
            <p:nvCxnSpPr>
              <p:cNvPr id="23" name="Straight Connector 22"/>
              <p:cNvCxnSpPr/>
              <p:nvPr/>
            </p:nvCxnSpPr>
            <p:spPr>
              <a:xfrm>
                <a:off x="1916086" y="5877272"/>
                <a:ext cx="4618674" cy="0"/>
              </a:xfrm>
              <a:prstGeom prst="line">
                <a:avLst/>
              </a:prstGeom>
              <a:ln w="38100">
                <a:solidFill>
                  <a:srgbClr val="FFFF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Rounded Rectangle 23"/>
              <p:cNvSpPr/>
              <p:nvPr/>
            </p:nvSpPr>
            <p:spPr>
              <a:xfrm>
                <a:off x="6534760" y="4600080"/>
                <a:ext cx="1224136" cy="1421208"/>
              </a:xfrm>
              <a:prstGeom prst="roundRect">
                <a:avLst>
                  <a:gd name="adj" fmla="val 8621"/>
                </a:avLst>
              </a:prstGeom>
              <a:solidFill>
                <a:srgbClr val="421C5E"/>
              </a:solidFill>
              <a:ln w="19050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4797152"/>
                <a:ext cx="902000" cy="16296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id-ID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P</a:t>
                </a:r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Franklin Gothic Demi Cond" pitchFamily="34" charset="0"/>
                  </a:rPr>
                  <a:t>ERTEMUAN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Franklin Gothic Demi Cond" pitchFamily="34" charset="0"/>
                </a:endParaRPr>
              </a:p>
            </p:txBody>
          </p:sp>
          <p:sp>
            <p:nvSpPr>
              <p:cNvPr id="26" name="WordArt 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702720" y="5013176"/>
                <a:ext cx="902000" cy="68601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 rtl="0"/>
                <a:r>
                  <a:rPr lang="en-US" sz="3600" b="1" kern="10" dirty="0" smtClean="0">
                    <a:ln w="11430">
                      <a:solidFill>
                        <a:srgbClr val="FFFF00"/>
                      </a:solidFill>
                    </a:ln>
                    <a:solidFill>
                      <a:srgbClr val="FFFF00"/>
                    </a:solidFill>
                    <a:effectLst>
                      <a:outerShdw blurRad="50800" dist="39000" dir="5460000" algn="tl">
                        <a:srgbClr val="000000">
                          <a:alpha val="38000"/>
                        </a:srgbClr>
                      </a:outerShdw>
                    </a:effectLst>
                    <a:latin typeface="Bernard MT Condensed" pitchFamily="18" charset="0"/>
                  </a:rPr>
                  <a:t>1</a:t>
                </a:r>
                <a:endParaRPr lang="en-US" sz="3600" b="1" kern="10" dirty="0">
                  <a:ln w="11430">
                    <a:solidFill>
                      <a:srgbClr val="FFFF00"/>
                    </a:solidFill>
                  </a:ln>
                  <a:solidFill>
                    <a:srgbClr val="FFFF00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79513" y="476673"/>
              <a:ext cx="1825504" cy="216024"/>
              <a:chOff x="774291" y="5887641"/>
              <a:chExt cx="5822317" cy="637703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1556048" y="5887641"/>
                <a:ext cx="5040560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8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ORIENTASI UMUM MATA KULIAH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774291" y="5887641"/>
                <a:ext cx="699589" cy="637703"/>
              </a:xfrm>
              <a:prstGeom prst="roundRect">
                <a:avLst>
                  <a:gd name="adj" fmla="val 14166"/>
                </a:avLst>
              </a:prstGeom>
              <a:solidFill>
                <a:srgbClr val="421C5E"/>
              </a:solidFill>
              <a:ln w="3175">
                <a:solidFill>
                  <a:schemeClr val="tx1"/>
                </a:solidFill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900" b="1" spc="50" dirty="0" smtClean="0">
                    <a:ln w="11430"/>
                    <a:solidFill>
                      <a:srgbClr val="C0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Bernard MT Condensed" pitchFamily="18" charset="0"/>
                  </a:rPr>
                  <a:t>A</a:t>
                </a:r>
                <a:endParaRPr lang="en-US" sz="900" b="1" spc="50" dirty="0">
                  <a:ln w="11430"/>
                  <a:solidFill>
                    <a:srgbClr val="C0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Bernard MT Condensed" pitchFamily="18" charset="0"/>
                </a:endParaRPr>
              </a:p>
            </p:txBody>
          </p:sp>
        </p:grpSp>
      </p:grpSp>
      <p:sp>
        <p:nvSpPr>
          <p:cNvPr id="28" name="Rounded Rectangle 27"/>
          <p:cNvSpPr/>
          <p:nvPr/>
        </p:nvSpPr>
        <p:spPr>
          <a:xfrm>
            <a:off x="1462240" y="2708920"/>
            <a:ext cx="6062088" cy="1296144"/>
          </a:xfrm>
          <a:prstGeom prst="roundRect">
            <a:avLst/>
          </a:prstGeom>
          <a:solidFill>
            <a:srgbClr val="FF0000"/>
          </a:solidFill>
          <a:ln w="19050">
            <a:solidFill>
              <a:srgbClr val="0000FF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Medium" pitchFamily="34" charset="0"/>
              </a:rPr>
              <a:t>DIBAHAS LEBIH LANJUT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421C5E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Franklin Gothic Medium" pitchFamily="34" charset="0"/>
              </a:rPr>
              <a:t>DI PERTEMUAN YAD</a:t>
            </a:r>
            <a:endParaRPr lang="en-US" sz="3200" b="1" spc="50" dirty="0">
              <a:ln w="11430"/>
              <a:solidFill>
                <a:srgbClr val="421C5E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1229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323528" y="188640"/>
            <a:ext cx="8465284" cy="6532236"/>
          </a:xfrm>
          <a:prstGeom prst="roundRect">
            <a:avLst>
              <a:gd name="adj" fmla="val 3626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rgbClr val="FFFF00"/>
              </a:solidFill>
              <a:cs typeface="Arial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10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421554" y="1645709"/>
            <a:ext cx="2316829" cy="651593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BAB II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 DALAM ARUS SEJARAH BANGSA INDONESIA</a:t>
            </a:r>
            <a:endParaRPr lang="id-ID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421554" y="2387976"/>
            <a:ext cx="2316829" cy="651593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BAB </a:t>
            </a:r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III</a:t>
            </a:r>
            <a:endParaRPr lang="en-US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 SEBAGAI </a:t>
            </a:r>
            <a:endParaRPr lang="en-US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DASAR </a:t>
            </a:r>
            <a:r>
              <a:rPr lang="en-US" sz="1400" dirty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NEGARA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430356" y="3195597"/>
            <a:ext cx="2316829" cy="1307943"/>
          </a:xfrm>
          <a:prstGeom prst="roundRect">
            <a:avLst>
              <a:gd name="adj" fmla="val 8538"/>
            </a:avLst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BAB IV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PANCASILA SEBAGAI IDIOLOGI NEGARA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421554" y="4598873"/>
            <a:ext cx="2316829" cy="651593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</a:rPr>
              <a:t>BAB V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</a:rPr>
              <a:t>PANCASILA MERUPAKAN SISTEM FILSAFAT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98183" y="1645709"/>
            <a:ext cx="965036" cy="65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id-ID" sz="2400" dirty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2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98814" y="2375891"/>
            <a:ext cx="965036" cy="65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id-ID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8814" y="3172495"/>
            <a:ext cx="965036" cy="65159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id-ID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8814" y="3857823"/>
            <a:ext cx="965036" cy="6563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5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98814" y="4598874"/>
            <a:ext cx="965036" cy="65159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6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421554" y="6182213"/>
            <a:ext cx="2316829" cy="629862"/>
          </a:xfrm>
          <a:prstGeom prst="roundRect">
            <a:avLst/>
          </a:prstGeom>
          <a:solidFill>
            <a:srgbClr val="FFC000"/>
          </a:solidFill>
          <a:ln w="28575"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dirty="0" smtClean="0">
                <a:solidFill>
                  <a:srgbClr val="1F0E2C"/>
                </a:solidFill>
                <a:latin typeface="Franklin Gothic Demi Cond" pitchFamily="34" charset="0"/>
              </a:rPr>
              <a:t>UTS</a:t>
            </a:r>
            <a:endParaRPr lang="id-ID" sz="4000" dirty="0">
              <a:solidFill>
                <a:srgbClr val="1F0E2C"/>
              </a:solidFill>
              <a:latin typeface="Franklin Gothic Demi Cond" pitchFamily="3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398814" y="6183514"/>
            <a:ext cx="965036" cy="6298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id-ID" sz="2400" dirty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8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395536" y="937565"/>
            <a:ext cx="965036" cy="65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1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418276" y="5482722"/>
            <a:ext cx="2316829" cy="651593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</a:rPr>
              <a:t>BAB VI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</a:rPr>
              <a:t>PANCASILA MENJADI 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</a:rPr>
              <a:t>SISTEM ETIKA</a:t>
            </a:r>
            <a:endParaRPr lang="id-ID" sz="14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95536" y="5482723"/>
            <a:ext cx="965036" cy="65159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7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200502" y="168320"/>
            <a:ext cx="6839462" cy="648072"/>
          </a:xfrm>
          <a:prstGeom prst="roundRect">
            <a:avLst>
              <a:gd name="adj" fmla="val 14166"/>
            </a:avLst>
          </a:prstGeom>
          <a:solidFill>
            <a:srgbClr val="C00000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m  a  t  e  r  i</a:t>
            </a:r>
            <a:endParaRPr lang="en-US" sz="40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107504" y="168320"/>
            <a:ext cx="987619" cy="648072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7</a:t>
            </a: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413808" y="951252"/>
            <a:ext cx="2316829" cy="651593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BAB I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PENGANTAR PENDIDIKAN PANCASILA</a:t>
            </a:r>
            <a:endParaRPr lang="id-ID" sz="1400" dirty="0" smtClean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715974" y="812981"/>
            <a:ext cx="507283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buFont typeface="Courier New" pitchFamily="49" charset="0"/>
              <a:buChar char="o"/>
            </a:pPr>
            <a:r>
              <a:rPr lang="en-US" sz="11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PENJELASAN UMUM MATERI- ABSENSI</a:t>
            </a:r>
            <a:endParaRPr lang="id-ID" sz="1100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</a:endParaRPr>
          </a:p>
          <a:p>
            <a:pPr marL="285750" indent="-285750">
              <a:buFont typeface="Courier New" pitchFamily="49" charset="0"/>
              <a:buChar char="o"/>
            </a:pPr>
            <a:r>
              <a:rPr lang="en-US" sz="11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KONTRAK BELAJAR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11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TEKS PANCASILA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1100" dirty="0" smtClean="0">
                <a:solidFill>
                  <a:schemeClr val="bg1">
                    <a:lumMod val="95000"/>
                  </a:schemeClr>
                </a:solidFill>
                <a:latin typeface="Franklin Gothic Demi Cond" pitchFamily="34" charset="0"/>
              </a:rPr>
              <a:t>NILAI-NILAI PANCASILA</a:t>
            </a:r>
            <a:endParaRPr lang="id-ID" sz="1100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719000" y="1556792"/>
            <a:ext cx="50698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>
              <a:buFont typeface="Courier New" pitchFamily="49" charset="0"/>
              <a:buChar char="o"/>
            </a:pP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KONSEP PANCASILA</a:t>
            </a:r>
            <a:endParaRPr lang="id-ID" sz="1100" dirty="0">
              <a:solidFill>
                <a:srgbClr val="FFFF00"/>
              </a:solidFill>
              <a:latin typeface="Franklin Gothic Demi Cond" pitchFamily="34" charset="0"/>
              <a:cs typeface="Arial" pitchFamily="34" charset="0"/>
            </a:endParaRPr>
          </a:p>
          <a:p>
            <a:pPr marL="285750" indent="-285750">
              <a:buFont typeface="Courier New" pitchFamily="49" charset="0"/>
              <a:buChar char="o"/>
            </a:pP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PENTINGNYA PANCASILA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SUMBER HISTORIS, SOSIOLOGIS, POLITIS TENTANG PANCASILA;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  <a:cs typeface="Arial" pitchFamily="34" charset="0"/>
            </a:endParaRPr>
          </a:p>
          <a:p>
            <a:pPr marL="285750" indent="-2857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TANTANGAN PANCASILA DLM KAJIAN SEJ</a:t>
            </a: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.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  <a:cs typeface="Arial" pitchFamily="34" charset="0"/>
              </a:rPr>
              <a:t> BANGSA INDONESIA</a:t>
            </a:r>
            <a:endParaRPr lang="id-ID" sz="1100" dirty="0">
              <a:solidFill>
                <a:srgbClr val="FFFF00"/>
              </a:solidFill>
              <a:latin typeface="Franklin Gothic Demi Cond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47185" y="2309971"/>
            <a:ext cx="503803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KONSEP, TUJUAN DAN URGENSI NEGARA; </a:t>
            </a:r>
            <a:endParaRPr lang="en-US" sz="11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KAJIAN PANCASILA SEBAGAI DASAR NEGARA; </a:t>
            </a:r>
            <a:endParaRPr lang="en-US" sz="11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SUMBER YURIDIS, SOSIOLOGIS DAN POLITIS; </a:t>
            </a:r>
            <a:endParaRPr lang="en-US" sz="11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DINAMIKA DAN TANTANGAN; ESENSI DAN URGENSI</a:t>
            </a:r>
            <a:r>
              <a:rPr lang="en-US" sz="11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PANCASILA SBG DASAR NEGARA </a:t>
            </a:r>
            <a:endParaRPr lang="en-US" sz="11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52558" y="3267302"/>
            <a:ext cx="503265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KONSEP, DAN URGENSI</a:t>
            </a: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PANCASILA SEBAGAI IDEOLOGI NEGARA;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KAJIAN PANCASILA SEBAGAI IDEOLOGI NEGARA;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3756155" y="3818516"/>
            <a:ext cx="5032657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SUMBER YURIDIS, SOSIOLOGIS DAN POLITIS</a:t>
            </a: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PANCASILA SEBAGAI IDEOLOGI NEGARA;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DINAMIKA DAN TANTANGAN; ESENSI DAN URGENSI PANCASILA SEBAGAI IDEOLOGI NEGARA</a:t>
            </a:r>
            <a:endParaRPr lang="en-US" sz="11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76629" y="4543701"/>
            <a:ext cx="497183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KONSEP, DAN URGENSI</a:t>
            </a:r>
            <a:r>
              <a:rPr lang="en-US" sz="11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id-ID" sz="1100" dirty="0">
                <a:solidFill>
                  <a:schemeClr val="bg1"/>
                </a:solidFill>
                <a:latin typeface="Franklin Gothic Demi Cond" pitchFamily="34" charset="0"/>
              </a:rPr>
              <a:t>PANCASILA SEBAGAI SISTEM FILSAFAT</a:t>
            </a: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; </a:t>
            </a:r>
            <a:endParaRPr lang="en-US" sz="11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KAJIAN PANCASILA SEBAGAI SISTEM FILSAFAT; </a:t>
            </a:r>
            <a:endParaRPr lang="en-US" sz="11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 smtClean="0">
                <a:solidFill>
                  <a:schemeClr val="bg1"/>
                </a:solidFill>
                <a:latin typeface="Franklin Gothic Demi Cond" pitchFamily="34" charset="0"/>
              </a:rPr>
              <a:t>S</a:t>
            </a: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UMBER YURIDIS, SOSIOLOGIS DAN POLITIS</a:t>
            </a:r>
            <a:r>
              <a:rPr lang="en-US" sz="11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id-ID" sz="1100" dirty="0">
                <a:solidFill>
                  <a:schemeClr val="bg1"/>
                </a:solidFill>
                <a:latin typeface="Franklin Gothic Demi Cond" pitchFamily="34" charset="0"/>
              </a:rPr>
              <a:t>PANCASILA SEBAGAI SISTEM FILSAFAT</a:t>
            </a: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;</a:t>
            </a:r>
            <a:endParaRPr lang="en-US" sz="11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DINAMIKA DAN TANTANGAN; PANCASILA SEBAGAI SISTEM FILSAFAT</a:t>
            </a:r>
            <a:endParaRPr lang="en-US" sz="11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14751" y="5443549"/>
            <a:ext cx="532534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KONSEP</a:t>
            </a: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DAN URGENSI</a:t>
            </a: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id-ID" sz="1100" dirty="0">
                <a:solidFill>
                  <a:srgbClr val="FFFF00"/>
                </a:solidFill>
                <a:latin typeface="Franklin Gothic Demi Cond" pitchFamily="34" charset="0"/>
              </a:rPr>
              <a:t>PANCASILA SEBAGAI SISTEM ETIKA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KAJIAN PANCASILA SEBAGAI SISTEM ETIKA;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SUMBER YURIDIS, SOSIOLOGIS DAN POLITIS</a:t>
            </a: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id-ID" sz="1100" dirty="0">
                <a:solidFill>
                  <a:srgbClr val="FFFF00"/>
                </a:solidFill>
                <a:latin typeface="Franklin Gothic Demi Cond" pitchFamily="34" charset="0"/>
              </a:rPr>
              <a:t>PANCASILA 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SBG </a:t>
            </a:r>
            <a:r>
              <a:rPr lang="id-ID" sz="1100" dirty="0">
                <a:solidFill>
                  <a:srgbClr val="FFFF00"/>
                </a:solidFill>
                <a:latin typeface="Franklin Gothic Demi Cond" pitchFamily="34" charset="0"/>
              </a:rPr>
              <a:t>SISTEM ETIKA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DINAMIKA DAN TANTANGAN; ESENSI DAN URGENSI PANCASILA SEBAGAI SISTEM ETIKA</a:t>
            </a:r>
            <a:endParaRPr lang="en-US" sz="11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9188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9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3" grpId="0" animBg="1"/>
      <p:bldP spid="54" grpId="0" animBg="1"/>
      <p:bldP spid="56" grpId="0" animBg="1"/>
      <p:bldP spid="58" grpId="0" animBg="1"/>
      <p:bldP spid="49" grpId="0" animBg="1"/>
      <p:bldP spid="50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323528" y="188640"/>
            <a:ext cx="8465284" cy="6532236"/>
          </a:xfrm>
          <a:prstGeom prst="roundRect">
            <a:avLst>
              <a:gd name="adj" fmla="val 3626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00"/>
              </a:solidFill>
              <a:cs typeface="Arial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11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27743" y="1645709"/>
            <a:ext cx="965036" cy="65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10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28374" y="2355629"/>
            <a:ext cx="965036" cy="65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11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28374" y="3058959"/>
            <a:ext cx="965036" cy="65159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12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28374" y="3744287"/>
            <a:ext cx="965036" cy="65635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13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28374" y="4651800"/>
            <a:ext cx="965036" cy="65159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14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751115" y="6038197"/>
            <a:ext cx="1986737" cy="629862"/>
          </a:xfrm>
          <a:prstGeom prst="roundRect">
            <a:avLst/>
          </a:prstGeom>
          <a:solidFill>
            <a:srgbClr val="FFC000"/>
          </a:solidFill>
          <a:ln w="28575"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dirty="0" smtClean="0">
                <a:solidFill>
                  <a:srgbClr val="1F0E2C"/>
                </a:solidFill>
                <a:latin typeface="Franklin Gothic Demi Cond" pitchFamily="34" charset="0"/>
              </a:rPr>
              <a:t>U</a:t>
            </a:r>
            <a:r>
              <a:rPr lang="en-US" sz="4000" dirty="0">
                <a:solidFill>
                  <a:srgbClr val="1F0E2C"/>
                </a:solidFill>
                <a:latin typeface="Franklin Gothic Demi Cond" pitchFamily="34" charset="0"/>
              </a:rPr>
              <a:t> </a:t>
            </a:r>
            <a:r>
              <a:rPr lang="en-US" sz="4000" dirty="0" smtClean="0">
                <a:solidFill>
                  <a:srgbClr val="1F0E2C"/>
                </a:solidFill>
                <a:latin typeface="Franklin Gothic Demi Cond" pitchFamily="34" charset="0"/>
              </a:rPr>
              <a:t>A </a:t>
            </a:r>
            <a:r>
              <a:rPr lang="id-ID" sz="4000" dirty="0" smtClean="0">
                <a:solidFill>
                  <a:srgbClr val="1F0E2C"/>
                </a:solidFill>
                <a:latin typeface="Franklin Gothic Demi Cond" pitchFamily="34" charset="0"/>
              </a:rPr>
              <a:t>S</a:t>
            </a:r>
            <a:endParaRPr lang="id-ID" sz="4000" dirty="0">
              <a:solidFill>
                <a:srgbClr val="1F0E2C"/>
              </a:solidFill>
              <a:latin typeface="Franklin Gothic Demi Cond" pitchFamily="3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28374" y="6039498"/>
            <a:ext cx="965036" cy="6298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16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25096" y="937565"/>
            <a:ext cx="965036" cy="65159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9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25096" y="5338707"/>
            <a:ext cx="965036" cy="65159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1F0E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sz="1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MINGGU</a:t>
            </a:r>
          </a:p>
          <a:p>
            <a:pPr algn="ctr"/>
            <a:r>
              <a:rPr lang="en-US" sz="2400" dirty="0" smtClean="0">
                <a:solidFill>
                  <a:srgbClr val="1F0E2C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15</a:t>
            </a:r>
            <a:endParaRPr lang="id-ID" sz="2400" dirty="0" smtClean="0">
              <a:solidFill>
                <a:srgbClr val="1F0E2C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735038" y="168320"/>
            <a:ext cx="6839462" cy="648072"/>
          </a:xfrm>
          <a:prstGeom prst="roundRect">
            <a:avLst>
              <a:gd name="adj" fmla="val 14166"/>
            </a:avLst>
          </a:prstGeom>
          <a:solidFill>
            <a:srgbClr val="C00000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m  a  t  e  r  i</a:t>
            </a:r>
            <a:endParaRPr lang="en-US" sz="40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42040" y="168320"/>
            <a:ext cx="987619" cy="648072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7</a:t>
            </a: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724402" y="959570"/>
            <a:ext cx="1986737" cy="629588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rgbClr val="FFC000"/>
                </a:solidFill>
                <a:latin typeface="Franklin Gothic Demi Cond" pitchFamily="34" charset="0"/>
              </a:rPr>
              <a:t>BAB VII</a:t>
            </a:r>
          </a:p>
          <a:p>
            <a:pPr algn="ctr"/>
            <a:r>
              <a:rPr lang="en-US" sz="1000" dirty="0" smtClean="0">
                <a:solidFill>
                  <a:srgbClr val="FFC000"/>
                </a:solidFill>
                <a:latin typeface="Franklin Gothic Demi Cond" pitchFamily="34" charset="0"/>
              </a:rPr>
              <a:t>PKN </a:t>
            </a:r>
            <a:r>
              <a:rPr lang="en-US" sz="1000" dirty="0" smtClean="0">
                <a:latin typeface="Franklin Gothic Demi Cond" pitchFamily="34" charset="0"/>
              </a:rPr>
              <a:t>DALAM </a:t>
            </a:r>
            <a:r>
              <a:rPr lang="en-US" sz="1000" dirty="0">
                <a:latin typeface="Franklin Gothic Demi Cond" pitchFamily="34" charset="0"/>
              </a:rPr>
              <a:t>MENGEMBANGKAN KEMAMPUAN UTUH SARJANA ATAU PROFESIONAL </a:t>
            </a:r>
            <a:endParaRPr lang="id-ID" sz="10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724402" y="1647385"/>
            <a:ext cx="1986737" cy="649918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BAB VIII</a:t>
            </a:r>
          </a:p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IDENTITAS NASIONAL</a:t>
            </a:r>
            <a:endParaRPr lang="id-ID" sz="1200" dirty="0">
              <a:solidFill>
                <a:srgbClr val="FFC000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724402" y="2355630"/>
            <a:ext cx="1986737" cy="651592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BAB IX</a:t>
            </a:r>
          </a:p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INTEGRASI NASIONAL</a:t>
            </a:r>
            <a:endParaRPr lang="id-ID" sz="12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1724402" y="4651799"/>
            <a:ext cx="1986737" cy="1338499"/>
          </a:xfrm>
          <a:prstGeom prst="roundRect">
            <a:avLst>
              <a:gd name="adj" fmla="val 7929"/>
            </a:avLst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BAB XII</a:t>
            </a:r>
          </a:p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DEMOKRASI INDONESIA</a:t>
            </a:r>
            <a:endParaRPr lang="id-ID" sz="12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721124" y="3057126"/>
            <a:ext cx="1986737" cy="651592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BAB X</a:t>
            </a:r>
          </a:p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KONSTITUSI  UUD 1945</a:t>
            </a:r>
            <a:endParaRPr lang="en-US" sz="12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701840" y="3755040"/>
            <a:ext cx="1986737" cy="651592"/>
          </a:xfrm>
          <a:prstGeom prst="roundRect">
            <a:avLst/>
          </a:prstGeom>
          <a:solidFill>
            <a:srgbClr val="1F0E2C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BAB XI</a:t>
            </a:r>
          </a:p>
          <a:p>
            <a:pPr algn="ctr"/>
            <a:r>
              <a:rPr lang="en-US" sz="1200" dirty="0" smtClean="0">
                <a:solidFill>
                  <a:srgbClr val="FFC000"/>
                </a:solidFill>
                <a:latin typeface="Franklin Gothic Demi Cond" pitchFamily="34" charset="0"/>
              </a:rPr>
              <a:t>HARMONI KEWAJIBAN DAN HAK NEGARA SERTA WN</a:t>
            </a:r>
            <a:endParaRPr lang="id-ID" sz="1200" dirty="0">
              <a:solidFill>
                <a:srgbClr val="FFC000"/>
              </a:solidFill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35897" y="908720"/>
            <a:ext cx="49386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KONSEP 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DAN</a:t>
            </a: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 URGENSI 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PKN DLM PENCERDASAN KEHIDUPAN BANGSA</a:t>
            </a: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; 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SUMBER YURIDIS, SOSIOLOGIS DAN POLITIS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TTG PKN DI INDONESIA</a:t>
            </a: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; 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DINAMIKA DAN TANTANGAN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PKN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ESENSI DAN URGENSI PKN UNTUK MASA DEPAN</a:t>
            </a:r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4739" y="1607534"/>
            <a:ext cx="49197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KONSEP DAN URGENSI IDENTITAS NASIONAL; </a:t>
            </a:r>
            <a:endParaRPr lang="en-US" sz="10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457200" indent="-457200">
              <a:buFont typeface="Courier New" pitchFamily="49" charset="0"/>
              <a:buChar char="o"/>
            </a:pP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SUMBER 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SOSIOLOGIS DAN POLITIS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IDENTITAS NASIONAL INDONESIA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; </a:t>
            </a:r>
            <a:endParaRPr lang="en-US" sz="10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457200" indent="-457200">
              <a:buFont typeface="Courier New" pitchFamily="49" charset="0"/>
              <a:buChar char="o"/>
            </a:pP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DINAMIKA DAN TANTANGAN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IDENTITAS NASIONAL 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INDONESIA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; </a:t>
            </a:r>
            <a:endParaRPr lang="en-US" sz="10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457200" indent="-457200">
              <a:buFont typeface="Courier New" pitchFamily="49" charset="0"/>
              <a:buChar char="o"/>
            </a:pP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ESENSI DAN URGENSI IDENTITAS NASIONAL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 INDONESIA</a:t>
            </a:r>
            <a:endParaRPr lang="en-US" sz="1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35896" y="2298138"/>
            <a:ext cx="49386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KONSEP DAN URGENSI INTEGRASI NASIONAL; 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SUMBER </a:t>
            </a: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SOSIOLOGIS DAN POLITIS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</a:t>
            </a:r>
            <a:r>
              <a:rPr lang="id-ID" sz="1000" dirty="0">
                <a:solidFill>
                  <a:srgbClr val="FFFF00"/>
                </a:solidFill>
                <a:latin typeface="Franklin Gothic Demi Cond" pitchFamily="34" charset="0"/>
              </a:rPr>
              <a:t>INTEGRASI NASIONAL</a:t>
            </a: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; 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DINAMIKA DAN TANTANGAN</a:t>
            </a:r>
            <a:r>
              <a:rPr lang="en-US" sz="1000" dirty="0" smtClean="0">
                <a:solidFill>
                  <a:srgbClr val="FFFF00"/>
                </a:solidFill>
                <a:latin typeface="Franklin Gothic Demi Cond" pitchFamily="34" charset="0"/>
              </a:rPr>
              <a:t> INTEGRASI NASIONAL</a:t>
            </a: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; </a:t>
            </a:r>
            <a:endParaRPr lang="en-US" sz="10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000" dirty="0" smtClean="0">
                <a:solidFill>
                  <a:srgbClr val="FFFF00"/>
                </a:solidFill>
                <a:latin typeface="Franklin Gothic Demi Cond" pitchFamily="34" charset="0"/>
              </a:rPr>
              <a:t>ESENSI DAN URGENSI </a:t>
            </a:r>
            <a:r>
              <a:rPr lang="id-ID" sz="1000" dirty="0">
                <a:solidFill>
                  <a:srgbClr val="FFFF00"/>
                </a:solidFill>
                <a:latin typeface="Franklin Gothic Demi Cond" pitchFamily="34" charset="0"/>
              </a:rPr>
              <a:t>INTEGRASI NASIONAL</a:t>
            </a:r>
            <a:endParaRPr lang="en-US" sz="1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88576" y="2924944"/>
            <a:ext cx="54554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Courier New" pitchFamily="49" charset="0"/>
              <a:buChar char="o"/>
            </a:pP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KONSEP DAN URGENSI KONSTITUSI DALAM KEHIDUPAN BERBANGSA DAN BERNEGARA; </a:t>
            </a:r>
            <a:endParaRPr lang="en-US" sz="10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SUMBER 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SOSIOLOGIS DAN POLITIS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TTG </a:t>
            </a:r>
            <a:r>
              <a:rPr lang="id-ID" sz="1000" dirty="0">
                <a:solidFill>
                  <a:schemeClr val="bg1"/>
                </a:solidFill>
                <a:latin typeface="Franklin Gothic Demi Cond" pitchFamily="34" charset="0"/>
              </a:rPr>
              <a:t>KONSTITUSI 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DLM KEHID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.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id-ID" sz="1000" dirty="0">
                <a:solidFill>
                  <a:schemeClr val="bg1"/>
                </a:solidFill>
                <a:latin typeface="Franklin Gothic Demi Cond" pitchFamily="34" charset="0"/>
              </a:rPr>
              <a:t>BERBANGSA DAN 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BERNEGARA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INA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; </a:t>
            </a:r>
            <a:endParaRPr lang="en-US" sz="10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DINAMIKA DAN TANTANGAN</a:t>
            </a:r>
            <a:r>
              <a:rPr lang="en-US" sz="1000" dirty="0" smtClean="0">
                <a:solidFill>
                  <a:schemeClr val="bg1"/>
                </a:solidFill>
                <a:latin typeface="Franklin Gothic Demi Cond" pitchFamily="34" charset="0"/>
              </a:rPr>
              <a:t> </a:t>
            </a:r>
            <a:r>
              <a:rPr lang="id-ID" sz="1000" dirty="0">
                <a:solidFill>
                  <a:schemeClr val="bg1"/>
                </a:solidFill>
                <a:latin typeface="Franklin Gothic Demi Cond" pitchFamily="34" charset="0"/>
              </a:rPr>
              <a:t>KONSTITUSI DALAM KEHIDUPAN BERBANGSA DAN BERNEGARA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INDONESIA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; </a:t>
            </a:r>
            <a:endParaRPr lang="en-US" sz="10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ESENSI DAN URGENSI KONSTITUSI </a:t>
            </a:r>
            <a:r>
              <a:rPr lang="id-ID" sz="1000" dirty="0">
                <a:solidFill>
                  <a:schemeClr val="bg1"/>
                </a:solidFill>
                <a:latin typeface="Franklin Gothic Demi Cond" pitchFamily="34" charset="0"/>
              </a:rPr>
              <a:t>DALAM KEHIDUPAN BERBANGSA DAN BERNEGARA</a:t>
            </a:r>
            <a:r>
              <a:rPr lang="en-US" sz="1000" dirty="0">
                <a:solidFill>
                  <a:schemeClr val="bg1"/>
                </a:solidFill>
                <a:latin typeface="Franklin Gothic Demi Cond" pitchFamily="34" charset="0"/>
              </a:rPr>
              <a:t> INDONESIA </a:t>
            </a:r>
            <a:r>
              <a:rPr lang="id-ID" sz="1000" dirty="0" smtClean="0">
                <a:solidFill>
                  <a:schemeClr val="bg1"/>
                </a:solidFill>
                <a:latin typeface="Franklin Gothic Demi Cond" pitchFamily="34" charset="0"/>
              </a:rPr>
              <a:t>B</a:t>
            </a:r>
            <a:endParaRPr lang="en-US" sz="1000" dirty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35895" y="3717032"/>
            <a:ext cx="493860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KONSEP DAN URGENSI </a:t>
            </a: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</a:rPr>
              <a:t>HARMONI 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KEWAJIBAN DAN HAK NEGARA DAN WN;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</a:rPr>
              <a:t>SUMBER 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SOSIOLOGIS DAN POLITIS</a:t>
            </a:r>
            <a:r>
              <a:rPr lang="en-US" sz="1100" dirty="0">
                <a:solidFill>
                  <a:srgbClr val="FFFF00"/>
                </a:solidFill>
                <a:latin typeface="Franklin Gothic Demi Cond" pitchFamily="34" charset="0"/>
              </a:rPr>
              <a:t> HARMONI </a:t>
            </a:r>
            <a:r>
              <a:rPr lang="id-ID" sz="1100" dirty="0">
                <a:solidFill>
                  <a:srgbClr val="FFFF00"/>
                </a:solidFill>
                <a:latin typeface="Franklin Gothic Demi Cond" pitchFamily="34" charset="0"/>
              </a:rPr>
              <a:t>KEWAJIBAN DAN HAK NEGARA DAN WN;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DINAMIKA DAN TANTANGAN</a:t>
            </a:r>
            <a:r>
              <a:rPr lang="en-US" sz="1100" dirty="0">
                <a:solidFill>
                  <a:srgbClr val="FFFF00"/>
                </a:solidFill>
                <a:latin typeface="Franklin Gothic Demi Cond" pitchFamily="34" charset="0"/>
              </a:rPr>
              <a:t> HARMONI </a:t>
            </a:r>
            <a:r>
              <a:rPr lang="id-ID" sz="1100" dirty="0">
                <a:solidFill>
                  <a:srgbClr val="FFFF00"/>
                </a:solidFill>
                <a:latin typeface="Franklin Gothic Demi Cond" pitchFamily="34" charset="0"/>
              </a:rPr>
              <a:t>KEWAJIBAN DAN HAK NEGARA DAN WN; </a:t>
            </a:r>
            <a:endParaRPr lang="en-US" sz="1100" dirty="0" smtClean="0">
              <a:solidFill>
                <a:srgbClr val="FFFF00"/>
              </a:solidFill>
              <a:latin typeface="Franklin Gothic Demi Cond" pitchFamily="34" charset="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ESENSI DAN URGENSI </a:t>
            </a:r>
            <a:r>
              <a:rPr lang="en-US" sz="1100" dirty="0" smtClean="0">
                <a:solidFill>
                  <a:srgbClr val="FFFF00"/>
                </a:solidFill>
                <a:latin typeface="Franklin Gothic Demi Cond" pitchFamily="34" charset="0"/>
              </a:rPr>
              <a:t>HARMONI </a:t>
            </a:r>
            <a:r>
              <a:rPr lang="id-ID" sz="1100" dirty="0" smtClean="0">
                <a:solidFill>
                  <a:srgbClr val="FFFF00"/>
                </a:solidFill>
                <a:latin typeface="Franklin Gothic Demi Cond" pitchFamily="34" charset="0"/>
              </a:rPr>
              <a:t>KEWAJIBAN DAN HAK NEGARA DAN WN</a:t>
            </a:r>
            <a:endParaRPr lang="en-US" sz="11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11138" y="4725144"/>
            <a:ext cx="486336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KONSEP DAN URGENSI DEMOKRASI YANG BERSUMBER DARI PANCASILA; </a:t>
            </a:r>
            <a:endParaRPr lang="en-US" sz="11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en-US" sz="1100" dirty="0" smtClean="0">
                <a:solidFill>
                  <a:schemeClr val="bg1"/>
                </a:solidFill>
                <a:latin typeface="Franklin Gothic Demi Cond" pitchFamily="34" charset="0"/>
              </a:rPr>
              <a:t>SUMBER </a:t>
            </a: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SOSIOLOGIS DAN POLITIS</a:t>
            </a:r>
            <a:r>
              <a:rPr lang="en-US" sz="1100" dirty="0" smtClean="0">
                <a:solidFill>
                  <a:schemeClr val="bg1"/>
                </a:solidFill>
                <a:latin typeface="Franklin Gothic Demi Cond" pitchFamily="34" charset="0"/>
              </a:rPr>
              <a:t> TTG PENEGAKAN HUKUM YG BERKEADILAN DI INDONESIA</a:t>
            </a: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; </a:t>
            </a:r>
            <a:endParaRPr lang="en-US" sz="1100" dirty="0" smtClean="0">
              <a:solidFill>
                <a:schemeClr val="bg1"/>
              </a:solidFill>
              <a:latin typeface="Franklin Gothic Demi Cond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716114" y="5471646"/>
            <a:ext cx="50726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DINAMIKA DAN TANTANGAN</a:t>
            </a:r>
            <a:r>
              <a:rPr lang="en-US" sz="1100" dirty="0">
                <a:solidFill>
                  <a:schemeClr val="bg1"/>
                </a:solidFill>
                <a:latin typeface="Franklin Gothic Demi Cond" pitchFamily="34" charset="0"/>
              </a:rPr>
              <a:t> PENEGAKAN HUKUM YG BERKEADILAN DI INDONESIA</a:t>
            </a: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; </a:t>
            </a:r>
            <a:endParaRPr lang="en-US" sz="1100" dirty="0" smtClean="0">
              <a:solidFill>
                <a:schemeClr val="bg1"/>
              </a:solidFill>
              <a:latin typeface="Franklin Gothic Demi Cond" pitchFamily="34" charset="0"/>
            </a:endParaRPr>
          </a:p>
          <a:p>
            <a:pPr marL="171450" indent="-171450">
              <a:buFont typeface="Courier New" pitchFamily="49" charset="0"/>
              <a:buChar char="o"/>
            </a:pPr>
            <a:r>
              <a:rPr lang="id-ID" sz="1100" dirty="0" smtClean="0">
                <a:solidFill>
                  <a:schemeClr val="bg1"/>
                </a:solidFill>
                <a:latin typeface="Franklin Gothic Demi Cond" pitchFamily="34" charset="0"/>
              </a:rPr>
              <a:t>ESENSI DAN URGENSI </a:t>
            </a:r>
            <a:r>
              <a:rPr lang="en-US" sz="1100" dirty="0">
                <a:solidFill>
                  <a:schemeClr val="bg1"/>
                </a:solidFill>
                <a:latin typeface="Franklin Gothic Demi Cond" pitchFamily="34" charset="0"/>
              </a:rPr>
              <a:t>PENEGAKAN HUKUM YG BERKEADILAN DI INDONESIA</a:t>
            </a:r>
          </a:p>
        </p:txBody>
      </p:sp>
    </p:spTree>
    <p:extLst>
      <p:ext uri="{BB962C8B-B14F-4D97-AF65-F5344CB8AC3E}">
        <p14:creationId xmlns:p14="http://schemas.microsoft.com/office/powerpoint/2010/main" val="5438939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3" grpId="0" animBg="1"/>
      <p:bldP spid="56" grpId="0" animBg="1"/>
      <p:bldP spid="58" grpId="0" animBg="1"/>
      <p:bldP spid="30" grpId="0" animBg="1"/>
      <p:bldP spid="48" grpId="0" animBg="1"/>
      <p:bldP spid="49" grpId="0" animBg="1"/>
      <p:bldP spid="50" grpId="0" animBg="1"/>
      <p:bldP spid="64" grpId="0" animBg="1"/>
      <p:bldP spid="6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1020404" y="1538668"/>
            <a:ext cx="7554096" cy="4770652"/>
          </a:xfrm>
          <a:prstGeom prst="roundRect">
            <a:avLst>
              <a:gd name="adj" fmla="val 6014"/>
            </a:avLst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12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3649" y="2056974"/>
            <a:ext cx="7056783" cy="4036322"/>
          </a:xfrm>
          <a:prstGeom prst="roundRect">
            <a:avLst>
              <a:gd name="adj" fmla="val 4448"/>
            </a:avLst>
          </a:prstGeom>
          <a:solidFill>
            <a:schemeClr val="bg2">
              <a:lumMod val="1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marL="4763">
              <a:spcBef>
                <a:spcPts val="1200"/>
              </a:spcBef>
            </a:pPr>
            <a:endParaRPr lang="id-ID" sz="2000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 flipH="1">
            <a:off x="1156092" y="2204864"/>
            <a:ext cx="1763698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27 </a:t>
            </a:r>
            <a:r>
              <a:rPr lang="en-US" altLang="en-US" sz="2000" b="1" dirty="0" err="1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sep</a:t>
            </a:r>
            <a:endParaRPr lang="en-US" altLang="en-US" sz="2000" b="1" dirty="0" smtClean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 13 </a:t>
            </a:r>
            <a:r>
              <a:rPr lang="en-US" altLang="en-US" sz="2000" b="1" dirty="0" err="1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nop</a:t>
            </a: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 </a:t>
            </a:r>
            <a:r>
              <a:rPr lang="en-US" altLang="en-US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2021</a:t>
            </a:r>
            <a:endParaRPr lang="id-ID" altLang="en-US" sz="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 flipH="1">
            <a:off x="1152118" y="3181555"/>
            <a:ext cx="1763698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15-27 </a:t>
            </a:r>
          </a:p>
          <a:p>
            <a:pPr algn="r" eaLnBrk="1" hangingPunct="1">
              <a:defRPr/>
            </a:pPr>
            <a:r>
              <a:rPr lang="en-US" altLang="en-US" sz="2000" b="1" dirty="0" err="1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Nop</a:t>
            </a: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 2021</a:t>
            </a:r>
            <a:endParaRPr lang="id-ID" altLang="en-US" sz="20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 flipH="1">
            <a:off x="1152118" y="4133425"/>
            <a:ext cx="1763698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29 </a:t>
            </a:r>
            <a:r>
              <a:rPr lang="en-US" altLang="en-US" sz="2000" b="1" dirty="0" err="1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nop</a:t>
            </a: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 2021</a:t>
            </a:r>
          </a:p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 15 </a:t>
            </a:r>
            <a:r>
              <a:rPr lang="en-US" altLang="en-US" sz="2000" b="1" dirty="0" err="1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jan</a:t>
            </a: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 2022</a:t>
            </a:r>
            <a:endParaRPr lang="id-ID" altLang="en-US" sz="20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 flipH="1">
            <a:off x="1152118" y="5118949"/>
            <a:ext cx="1763698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17-29</a:t>
            </a:r>
          </a:p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Jan 2022</a:t>
            </a:r>
            <a:endParaRPr lang="id-ID" altLang="en-US" sz="20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547664" y="980728"/>
            <a:ext cx="6480720" cy="785818"/>
          </a:xfrm>
          <a:prstGeom prst="roundRect">
            <a:avLst>
              <a:gd name="adj" fmla="val 15102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dirty="0" err="1" smtClean="0">
                <a:ln w="9525">
                  <a:solidFill>
                    <a:schemeClr val="tx1"/>
                  </a:solidFill>
                </a:ln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kalender</a:t>
            </a:r>
            <a:r>
              <a:rPr lang="en-US" sz="4000" dirty="0" smtClean="0">
                <a:ln w="9525">
                  <a:solidFill>
                    <a:schemeClr val="tx1"/>
                  </a:solidFill>
                </a:ln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 </a:t>
            </a:r>
            <a:r>
              <a:rPr lang="en-US" sz="4000" dirty="0" err="1" smtClean="0">
                <a:ln w="9525">
                  <a:solidFill>
                    <a:schemeClr val="tx1"/>
                  </a:solidFill>
                </a:ln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akademis</a:t>
            </a:r>
            <a:endParaRPr lang="id-ID" sz="4000" dirty="0">
              <a:ln w="9525">
                <a:solidFill>
                  <a:schemeClr val="tx1"/>
                </a:solidFill>
              </a:ln>
              <a:solidFill>
                <a:srgbClr val="421C5E"/>
              </a:solidFill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88037" y="980728"/>
            <a:ext cx="987619" cy="785818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8</a:t>
            </a: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78087" y="5301208"/>
            <a:ext cx="49400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3">
              <a:spcBef>
                <a:spcPts val="1200"/>
              </a:spcBef>
            </a:pPr>
            <a:r>
              <a:rPr lang="id-ID" sz="2000" dirty="0" smtClean="0">
                <a:solidFill>
                  <a:srgbClr val="FFFF00"/>
                </a:solidFill>
                <a:latin typeface="Franklin Gothic Demi Cond" pitchFamily="34" charset="0"/>
              </a:rPr>
              <a:t>UAS SEMESTER GASAL</a:t>
            </a:r>
            <a:endParaRPr lang="nb-NO" sz="2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78087" y="4293096"/>
            <a:ext cx="49400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3">
              <a:spcBef>
                <a:spcPts val="1200"/>
              </a:spcBef>
            </a:pPr>
            <a:r>
              <a:rPr lang="id-ID" sz="2000" dirty="0" smtClean="0">
                <a:solidFill>
                  <a:srgbClr val="FFFF00"/>
                </a:solidFill>
                <a:latin typeface="Franklin Gothic Demi Cond" pitchFamily="34" charset="0"/>
              </a:rPr>
              <a:t>PROSES PERKULIAHAN SETELAH UTS</a:t>
            </a:r>
            <a:endParaRPr lang="en-US" sz="2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78088" y="3335726"/>
            <a:ext cx="49502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3">
              <a:spcBef>
                <a:spcPts val="1200"/>
              </a:spcBef>
            </a:pPr>
            <a:r>
              <a:rPr lang="id-ID" sz="2000" dirty="0" smtClean="0">
                <a:solidFill>
                  <a:srgbClr val="FFFF00"/>
                </a:solidFill>
                <a:latin typeface="Franklin Gothic Demi Cond" pitchFamily="34" charset="0"/>
              </a:rPr>
              <a:t>UJIAN TENGAH SEMESTER / UTS GASAL</a:t>
            </a:r>
            <a:endParaRPr lang="nb-NO" sz="2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68660" y="2380818"/>
            <a:ext cx="49502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763">
              <a:spcBef>
                <a:spcPts val="1200"/>
              </a:spcBef>
            </a:pPr>
            <a:r>
              <a:rPr lang="nb-NO" sz="2000" dirty="0" smtClean="0">
                <a:solidFill>
                  <a:srgbClr val="FFFF00"/>
                </a:solidFill>
                <a:latin typeface="Franklin Gothic Demi Cond" pitchFamily="34" charset="0"/>
              </a:rPr>
              <a:t>PROSES BELAJAR MENGAJAR SEMESTER GASAL</a:t>
            </a:r>
            <a:endParaRPr lang="nb-NO" sz="2000" dirty="0">
              <a:solidFill>
                <a:srgbClr val="FFFF00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2550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1" grpId="0" animBg="1"/>
      <p:bldP spid="32" grpId="0" animBg="1"/>
      <p:bldP spid="33" grpId="0" animBg="1"/>
      <p:bldP spid="34" grpId="0" animBg="1"/>
      <p:bldP spid="2" grpId="0"/>
      <p:bldP spid="3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642040" y="1196752"/>
            <a:ext cx="8322448" cy="5309241"/>
          </a:xfrm>
          <a:prstGeom prst="roundRect">
            <a:avLst>
              <a:gd name="adj" fmla="val 6014"/>
            </a:avLst>
          </a:prstGeom>
          <a:solidFill>
            <a:schemeClr val="bg2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FF0000"/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13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220719" y="1340768"/>
            <a:ext cx="7485686" cy="4896544"/>
          </a:xfrm>
          <a:prstGeom prst="roundRect">
            <a:avLst>
              <a:gd name="adj" fmla="val 4448"/>
            </a:avLst>
          </a:prstGeom>
          <a:solidFill>
            <a:schemeClr val="bg2">
              <a:lumMod val="2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marL="441325">
              <a:spcBef>
                <a:spcPts val="1200"/>
              </a:spcBef>
            </a:pPr>
            <a:endParaRPr lang="id-ID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 flipH="1">
            <a:off x="2134361" y="2483841"/>
            <a:ext cx="1326093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IF 21S </a:t>
            </a:r>
          </a:p>
          <a:p>
            <a:pPr algn="r" eaLnBrk="1" hangingPunct="1">
              <a:defRPr/>
            </a:pPr>
            <a:r>
              <a:rPr lang="en-US" altLang="en-US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PPKN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763688" y="332656"/>
            <a:ext cx="6264696" cy="785818"/>
          </a:xfrm>
          <a:prstGeom prst="roundRect">
            <a:avLst>
              <a:gd name="adj" fmla="val 15102"/>
            </a:avLst>
          </a:prstGeom>
          <a:solidFill>
            <a:schemeClr val="bg2">
              <a:lumMod val="25000"/>
            </a:schemeClr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dirty="0" smtClean="0">
                <a:ln w="9525">
                  <a:solidFill>
                    <a:schemeClr val="tx1"/>
                  </a:solidFill>
                </a:ln>
                <a:solidFill>
                  <a:srgbClr val="421C5E"/>
                </a:solidFill>
                <a:latin typeface="Bernard MT Condensed" pitchFamily="18" charset="0"/>
                <a:cs typeface="Arial" pitchFamily="34" charset="0"/>
              </a:rPr>
              <a:t>j a d w a l</a:t>
            </a:r>
            <a:endParaRPr lang="id-ID" sz="4000" dirty="0">
              <a:ln w="9525">
                <a:solidFill>
                  <a:schemeClr val="tx1"/>
                </a:solidFill>
              </a:ln>
              <a:solidFill>
                <a:srgbClr val="421C5E"/>
              </a:solidFill>
              <a:latin typeface="Bernard MT Condensed" pitchFamily="18" charset="0"/>
              <a:cs typeface="Arial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2040" y="404664"/>
            <a:ext cx="987619" cy="648072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50" dirty="0" smtClean="0">
                <a:ln w="11430"/>
                <a:solidFill>
                  <a:schemeClr val="bg2">
                    <a:lumMod val="10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9</a:t>
            </a:r>
            <a:endParaRPr lang="en-US" sz="4400" b="1" spc="50" dirty="0">
              <a:ln w="11430"/>
              <a:solidFill>
                <a:schemeClr val="bg2">
                  <a:lumMod val="10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 flipH="1">
            <a:off x="1649621" y="2483841"/>
            <a:ext cx="459606" cy="711025"/>
          </a:xfrm>
          <a:prstGeom prst="roundRect">
            <a:avLst/>
          </a:prstGeom>
          <a:solidFill>
            <a:srgbClr val="421C5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 flipH="1">
            <a:off x="3500562" y="2483841"/>
            <a:ext cx="1381835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SENIN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 flipH="1">
            <a:off x="4915762" y="2483841"/>
            <a:ext cx="2143141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16.15 – 17.55</a:t>
            </a:r>
          </a:p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18.00 – 18.55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 flipH="1">
            <a:off x="7080168" y="2483841"/>
            <a:ext cx="956899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R3.5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 flipH="1">
            <a:off x="2123728" y="1700808"/>
            <a:ext cx="1326093" cy="711025"/>
          </a:xfrm>
          <a:prstGeom prst="roundRect">
            <a:avLst/>
          </a:prstGeom>
          <a:solidFill>
            <a:srgbClr val="421C5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IF 21E </a:t>
            </a:r>
          </a:p>
          <a:p>
            <a:pPr algn="r" eaLnBrk="1" hangingPunct="1">
              <a:defRPr/>
            </a:pPr>
            <a:r>
              <a:rPr lang="en-US" altLang="en-US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PPKN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 flipH="1">
            <a:off x="1638988" y="1700808"/>
            <a:ext cx="459606" cy="711025"/>
          </a:xfrm>
          <a:prstGeom prst="roundRect">
            <a:avLst/>
          </a:prstGeom>
          <a:solidFill>
            <a:srgbClr val="421C5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 flipH="1">
            <a:off x="3489929" y="1700808"/>
            <a:ext cx="1381835" cy="711025"/>
          </a:xfrm>
          <a:prstGeom prst="roundRect">
            <a:avLst/>
          </a:prstGeom>
          <a:solidFill>
            <a:srgbClr val="421C5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SENIN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 flipH="1">
            <a:off x="4905129" y="1700808"/>
            <a:ext cx="2143141" cy="711025"/>
          </a:xfrm>
          <a:prstGeom prst="roundRect">
            <a:avLst/>
          </a:prstGeom>
          <a:solidFill>
            <a:srgbClr val="421C5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12.30 – 14.10</a:t>
            </a:r>
          </a:p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14.20 – 16.00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 flipH="1">
            <a:off x="7080168" y="1700808"/>
            <a:ext cx="956899" cy="711025"/>
          </a:xfrm>
          <a:prstGeom prst="roundRect">
            <a:avLst/>
          </a:prstGeom>
          <a:solidFill>
            <a:srgbClr val="421C5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R4.1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 flipH="1">
            <a:off x="2123728" y="3256241"/>
            <a:ext cx="1326093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IF 21F </a:t>
            </a:r>
          </a:p>
          <a:p>
            <a:pPr algn="r" eaLnBrk="1" hangingPunct="1">
              <a:defRPr/>
            </a:pPr>
            <a:r>
              <a:rPr lang="en-US" altLang="en-US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PPKN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 flipH="1">
            <a:off x="1638988" y="3256241"/>
            <a:ext cx="459606" cy="711025"/>
          </a:xfrm>
          <a:prstGeom prst="roundRect">
            <a:avLst/>
          </a:prstGeom>
          <a:solidFill>
            <a:srgbClr val="421C5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 flipH="1">
            <a:off x="3489929" y="3256241"/>
            <a:ext cx="1381835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SELASA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 flipH="1">
            <a:off x="4905129" y="3256241"/>
            <a:ext cx="2143141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12.30 – 14.10</a:t>
            </a:r>
          </a:p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14.20 – 16.00</a:t>
            </a:r>
            <a:endParaRPr lang="id-ID" altLang="en-US" sz="20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 flipH="1">
            <a:off x="7069535" y="3256241"/>
            <a:ext cx="956899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R4.2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 flipH="1">
            <a:off x="2123728" y="4797152"/>
            <a:ext cx="1326093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r>
              <a:rPr lang="en-US" altLang="en-US" sz="2000" b="1" dirty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S</a:t>
            </a: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I 20A </a:t>
            </a:r>
          </a:p>
          <a:p>
            <a:pPr algn="r" eaLnBrk="1" hangingPunct="1">
              <a:defRPr/>
            </a:pPr>
            <a:r>
              <a:rPr lang="en-US" altLang="en-US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PPKN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 flipH="1">
            <a:off x="1638988" y="4797152"/>
            <a:ext cx="459606" cy="711025"/>
          </a:xfrm>
          <a:prstGeom prst="roundRect">
            <a:avLst/>
          </a:prstGeom>
          <a:solidFill>
            <a:srgbClr val="421C5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 flipH="1">
            <a:off x="3489929" y="4797152"/>
            <a:ext cx="1381835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JUMAT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 flipH="1">
            <a:off x="4905129" y="4797152"/>
            <a:ext cx="2143141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08.50 – 10.30</a:t>
            </a:r>
          </a:p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10.40 – 12.20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41" name="Rounded Rectangle 40"/>
          <p:cNvSpPr/>
          <p:nvPr/>
        </p:nvSpPr>
        <p:spPr>
          <a:xfrm flipH="1">
            <a:off x="7069535" y="4797152"/>
            <a:ext cx="956899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R3.4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 flipH="1">
            <a:off x="2133889" y="4024752"/>
            <a:ext cx="1326093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IF 21D </a:t>
            </a:r>
          </a:p>
          <a:p>
            <a:pPr algn="r" eaLnBrk="1" hangingPunct="1">
              <a:defRPr/>
            </a:pPr>
            <a:r>
              <a:rPr lang="en-US" altLang="en-US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PPKN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 flipH="1">
            <a:off x="1649149" y="4024752"/>
            <a:ext cx="459606" cy="711025"/>
          </a:xfrm>
          <a:prstGeom prst="roundRect">
            <a:avLst/>
          </a:prstGeom>
          <a:solidFill>
            <a:srgbClr val="421C5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 flipH="1">
            <a:off x="3500090" y="4024752"/>
            <a:ext cx="1381835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KAMIS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 flipH="1">
            <a:off x="4915290" y="4024752"/>
            <a:ext cx="2143141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14.20 – 16.00</a:t>
            </a:r>
          </a:p>
          <a:p>
            <a:pPr marL="169863" indent="-169863" eaLnBrk="1" hangingPunct="1">
              <a:buFont typeface="Wingdings" pitchFamily="2" charset="2"/>
              <a:buChar char="§"/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16.15 – 17.55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 flipH="1">
            <a:off x="7079696" y="4024752"/>
            <a:ext cx="956899" cy="711025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altLang="en-US" sz="20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R3.5</a:t>
            </a:r>
            <a:endParaRPr lang="id-ID" altLang="en-US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5256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4" grpId="0" animBg="1"/>
      <p:bldP spid="13" grpId="0" animBg="1"/>
      <p:bldP spid="14" grpId="0" animBg="1"/>
      <p:bldP spid="15" grpId="0" animBg="1"/>
      <p:bldP spid="16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33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35164" y="980728"/>
            <a:ext cx="6943248" cy="5740148"/>
          </a:xfrm>
          <a:prstGeom prst="roundRect">
            <a:avLst>
              <a:gd name="adj" fmla="val 4448"/>
            </a:avLst>
          </a:prstGeom>
          <a:solidFill>
            <a:schemeClr val="bg2">
              <a:lumMod val="1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marL="441325">
              <a:spcBef>
                <a:spcPts val="1200"/>
              </a:spcBef>
            </a:pPr>
            <a:endParaRPr lang="id-ID" sz="1400" dirty="0">
              <a:solidFill>
                <a:schemeClr val="bg1">
                  <a:lumMod val="95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834651" y="3151337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B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627784" y="3131474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KONTRAK </a:t>
            </a:r>
            <a:r>
              <a:rPr lang="en-US" sz="3200" b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PERKULIAHAN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236868" y="1155287"/>
            <a:ext cx="5445338" cy="987497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1" spc="50" dirty="0" smtClean="0">
                <a:ln w="19050">
                  <a:solidFill>
                    <a:srgbClr val="C00000"/>
                  </a:solidFill>
                </a:ln>
                <a:solidFill>
                  <a:srgbClr val="0000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SELANJUTNYA</a:t>
            </a:r>
            <a:endParaRPr lang="en-US" sz="5400" b="1" i="1" spc="50" dirty="0">
              <a:ln w="19050">
                <a:solidFill>
                  <a:srgbClr val="C00000"/>
                </a:solidFill>
              </a:ln>
              <a:solidFill>
                <a:srgbClr val="0000FF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7" name="Rounded Rectangle 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14</a:t>
            </a:r>
            <a:endParaRPr lang="en-US" altLang="en-US" sz="1600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3707904" y="2276872"/>
            <a:ext cx="2448272" cy="489204"/>
          </a:xfrm>
          <a:prstGeom prst="down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984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8521</TotalTime>
  <Words>1315</Words>
  <Application>Microsoft Office PowerPoint</Application>
  <PresentationFormat>On-screen Show (4:3)</PresentationFormat>
  <Paragraphs>319</Paragraphs>
  <Slides>14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tantular</cp:lastModifiedBy>
  <cp:revision>781</cp:revision>
  <cp:lastPrinted>2021-09-15T14:36:00Z</cp:lastPrinted>
  <dcterms:created xsi:type="dcterms:W3CDTF">2017-12-16T16:52:32Z</dcterms:created>
  <dcterms:modified xsi:type="dcterms:W3CDTF">2021-09-26T16:07:52Z</dcterms:modified>
</cp:coreProperties>
</file>